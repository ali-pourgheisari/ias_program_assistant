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90" r:id="rId34"/>
    <p:sldId id="291" r:id="rId35"/>
    <p:sldId id="292" r:id="rId36"/>
    <p:sldId id="293" r:id="rId37"/>
    <p:sldId id="294" r:id="rId38"/>
    <p:sldId id="295" r:id="rId39"/>
    <p:sldId id="296" r:id="rId40"/>
  </p:sldIdLst>
  <p:sldSz cx="9144000" cy="5143500" type="screen16x9"/>
  <p:notesSz cx="6858000" cy="9144000"/>
  <p:embeddedFontLst>
    <p:embeddedFont>
      <p:font typeface="ADLaM Display" panose="02010000000000000000" pitchFamily="2" charset="0"/>
      <p:regular r:id="rId42"/>
    </p:embeddedFont>
    <p:embeddedFont>
      <p:font typeface="Bauhaus 93" panose="04030905020B02020C02" pitchFamily="82" charset="0"/>
      <p:regular r:id="rId43"/>
    </p:embeddedFont>
    <p:embeddedFont>
      <p:font typeface="Cambria Math" panose="02040503050406030204" pitchFamily="18" charset="0"/>
      <p:regular r:id="rId44"/>
    </p:embeddedFont>
    <p:embeddedFont>
      <p:font typeface="Chiller" panose="04020404031007020602" pitchFamily="82" charset="0"/>
      <p:regular r:id="rId45"/>
    </p:embeddedFont>
    <p:embeddedFont>
      <p:font typeface="PT Serif" panose="020A0603040505020204" pitchFamily="18" charset="0"/>
      <p:regular r:id="rId46"/>
      <p:boldItalic r:id="rId47"/>
    </p:embeddedFont>
  </p:embeddedFontLst>
  <p:defaultTextStyle>
    <a:defPPr>
      <a:defRPr lang="de-DE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13">
          <p15:clr>
            <a:srgbClr val="A4A3A4"/>
          </p15:clr>
        </p15:guide>
        <p15:guide id="2" pos="5602">
          <p15:clr>
            <a:srgbClr val="A4A3A4"/>
          </p15:clr>
        </p15:guide>
        <p15:guide id="3" orient="horz" pos="35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No Style, Table Grid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solidFill>
                <a:schemeClr val="tx1"/>
              </a:solidFill>
            </a:ln>
          </a:left>
          <a:right>
            <a:ln w="12700">
              <a:solidFill>
                <a:schemeClr val="tx1"/>
              </a:solidFill>
            </a:ln>
          </a:right>
          <a:top>
            <a:ln w="12700">
              <a:solidFill>
                <a:schemeClr val="tx1"/>
              </a:solidFill>
            </a:ln>
          </a:top>
          <a:bottom>
            <a:ln w="12700">
              <a:solidFill>
                <a:schemeClr val="tx1"/>
              </a:solidFill>
            </a:ln>
          </a:bottom>
          <a:insideH>
            <a:ln w="12700">
              <a:solidFill>
                <a:schemeClr val="tx1"/>
              </a:solidFill>
            </a:ln>
          </a:insideH>
          <a:insideV>
            <a:ln w="12700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>
      <p:cViewPr varScale="1">
        <p:scale>
          <a:sx n="88" d="100"/>
          <a:sy n="88" d="100"/>
        </p:scale>
        <p:origin x="588" y="64"/>
      </p:cViewPr>
      <p:guideLst>
        <p:guide pos="113"/>
        <p:guide pos="5602"/>
        <p:guide orient="horz" pos="35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heSans UHH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heSans UHH"/>
              </a:defRPr>
            </a:lvl1pPr>
          </a:lstStyle>
          <a:p>
            <a:pPr>
              <a:defRPr/>
            </a:pPr>
            <a:fld id="{B2E59258-C19A-D949-846D-8B6CB38182F3}" type="datetimeFigureOut">
              <a:rPr lang="de-DE"/>
              <a:t>05.10.2026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heSans UHH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heSans UHH"/>
              </a:defRPr>
            </a:lvl1pPr>
          </a:lstStyle>
          <a:p>
            <a:pPr>
              <a:defRPr/>
            </a:pPr>
            <a:fld id="{3C606240-9D1C-3843-B28E-77756B6151FD}" type="slidenum">
              <a:rPr lang="de-DE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>
      <a:defRPr sz="1200">
        <a:solidFill>
          <a:schemeClr val="tx1"/>
        </a:solidFill>
        <a:latin typeface="TheSans UHH"/>
        <a:ea typeface="+mn-ea"/>
        <a:cs typeface="+mn-cs"/>
      </a:defRPr>
    </a:lvl1pPr>
    <a:lvl2pPr marL="457200" algn="l" defTabSz="457200">
      <a:defRPr sz="1200">
        <a:solidFill>
          <a:schemeClr val="tx1"/>
        </a:solidFill>
        <a:latin typeface="TheSans UHH"/>
        <a:ea typeface="+mn-ea"/>
        <a:cs typeface="+mn-cs"/>
      </a:defRPr>
    </a:lvl2pPr>
    <a:lvl3pPr marL="914400" algn="l" defTabSz="457200">
      <a:defRPr sz="1200">
        <a:solidFill>
          <a:schemeClr val="tx1"/>
        </a:solidFill>
        <a:latin typeface="TheSans UHH"/>
        <a:ea typeface="+mn-ea"/>
        <a:cs typeface="+mn-cs"/>
      </a:defRPr>
    </a:lvl3pPr>
    <a:lvl4pPr marL="1371600" algn="l" defTabSz="457200">
      <a:defRPr sz="1200">
        <a:solidFill>
          <a:schemeClr val="tx1"/>
        </a:solidFill>
        <a:latin typeface="TheSans UHH"/>
        <a:ea typeface="+mn-ea"/>
        <a:cs typeface="+mn-cs"/>
      </a:defRPr>
    </a:lvl4pPr>
    <a:lvl5pPr marL="1828800" algn="l" defTabSz="457200">
      <a:defRPr sz="1200">
        <a:solidFill>
          <a:schemeClr val="tx1"/>
        </a:solidFill>
        <a:latin typeface="TheSans UHH"/>
        <a:ea typeface="+mn-ea"/>
        <a:cs typeface="+mn-cs"/>
      </a:defRPr>
    </a:lvl5pPr>
    <a:lvl6pPr marL="2286000" algn="l" defTabSz="4572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37797F-7077-9AC8-DF8D-2E1238BE6D4E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4E3763-A18F-8179-1456-869E901CD796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4E3763-A18F-8179-1456-869E901CD796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4E3763-A18F-8179-1456-869E901CD796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4E3763-A18F-8179-1456-869E901CD796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4E3763-A18F-8179-1456-869E901CD796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4E3763-A18F-8179-1456-869E901CD796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4E3763-A18F-8179-1456-869E901CD796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4E3763-A18F-8179-1456-869E901CD796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4E3763-A18F-8179-1456-869E901CD796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04E3763-A18F-8179-1456-869E901CD796}" type="slidenum">
              <a:rPr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heSans UHH"/>
                <a:cs typeface="Arial"/>
              </a:rPr>
              <a:t>11</a:t>
            </a:fld>
            <a:endParaRPr sz="1200" b="0" i="0" u="none" strike="noStrike" cap="none" spc="0">
              <a:ln>
                <a:noFill/>
              </a:ln>
              <a:solidFill>
                <a:prstClr val="black"/>
              </a:solidFill>
              <a:latin typeface="TheSans UHH"/>
              <a:cs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04E3763-A18F-8179-1456-869E901CD796}" type="slidenum">
              <a:rPr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heSans UHH"/>
                <a:cs typeface="Arial"/>
              </a:rPr>
              <a:t>12</a:t>
            </a:fld>
            <a:endParaRPr sz="1200" b="0" i="0" u="none" strike="noStrike" cap="none" spc="0">
              <a:ln>
                <a:noFill/>
              </a:ln>
              <a:solidFill>
                <a:prstClr val="black"/>
              </a:solidFill>
              <a:latin typeface="TheSans UHH"/>
              <a:cs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04E3763-A18F-8179-1456-869E901CD796}" type="slidenum">
              <a:rPr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heSans UHH"/>
                <a:cs typeface="Arial"/>
              </a:rPr>
              <a:t>13</a:t>
            </a:fld>
            <a:endParaRPr sz="1200" b="0" i="0" u="none" strike="noStrike" cap="none" spc="0">
              <a:ln>
                <a:noFill/>
              </a:ln>
              <a:solidFill>
                <a:prstClr val="black"/>
              </a:solidFill>
              <a:latin typeface="TheSans UHH"/>
              <a:cs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04E3763-A18F-8179-1456-869E901CD796}" type="slidenum">
              <a:rPr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heSans UHH"/>
                <a:cs typeface="Arial"/>
              </a:rPr>
              <a:t>14</a:t>
            </a:fld>
            <a:endParaRPr sz="1200" b="0" i="0" u="none" strike="noStrike" cap="none" spc="0">
              <a:ln>
                <a:noFill/>
              </a:ln>
              <a:solidFill>
                <a:prstClr val="black"/>
              </a:solidFill>
              <a:latin typeface="TheSans UHH"/>
              <a:cs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4E3763-A18F-8179-1456-869E901CD796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04E3763-A18F-8179-1456-869E901CD796}" type="slidenum">
              <a:rPr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heSans UHH"/>
                <a:cs typeface="Arial"/>
              </a:rPr>
              <a:t>16</a:t>
            </a:fld>
            <a:endParaRPr sz="1200" b="0" i="0" u="none" strike="noStrike" cap="none" spc="0">
              <a:ln>
                <a:noFill/>
              </a:ln>
              <a:solidFill>
                <a:prstClr val="black"/>
              </a:solidFill>
              <a:latin typeface="TheSans UHH"/>
              <a:cs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04E3763-A18F-8179-1456-869E901CD796}" type="slidenum">
              <a:rPr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heSans UHH"/>
                <a:cs typeface="Arial"/>
              </a:rPr>
              <a:t>17</a:t>
            </a:fld>
            <a:endParaRPr sz="1200" b="0" i="0" u="none" strike="noStrike" cap="none" spc="0">
              <a:ln>
                <a:noFill/>
              </a:ln>
              <a:solidFill>
                <a:prstClr val="black"/>
              </a:solidFill>
              <a:latin typeface="TheSans UHH"/>
              <a:cs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4E3763-A18F-8179-1456-869E901CD796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4E3763-A18F-8179-1456-869E901CD796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4E3763-A18F-8179-1456-869E901CD796}" type="slidenum">
              <a:rPr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4E3763-A18F-8179-1456-869E901CD796}" type="slidenum">
              <a:rPr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4E3763-A18F-8179-1456-869E901CD796}" type="slidenum">
              <a:rPr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4E3763-A18F-8179-1456-869E901CD796}" type="slidenum">
              <a:rPr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4E3763-A18F-8179-1456-869E901CD796}" type="slidenum">
              <a:rPr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4E3763-A18F-8179-1456-869E901CD796}" type="slidenum">
              <a:rPr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4E3763-A18F-8179-1456-869E901CD796}" type="slidenum">
              <a:rPr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4E3763-A18F-8179-1456-869E901CD796}" type="slidenum">
              <a:rPr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4E3763-A18F-8179-1456-869E901CD796}" type="slidenum">
              <a:rPr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4E3763-A18F-8179-1456-869E901CD796}" type="slidenum">
              <a:rPr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4E3763-A18F-8179-1456-869E901CD796}" type="slidenum">
              <a:rPr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4E3763-A18F-8179-1456-869E901CD796}" type="slidenum">
              <a:rPr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04E3763-A18F-8179-1456-869E901CD796}" type="slidenum">
              <a:rPr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heSans UHH"/>
                <a:cs typeface="Arial"/>
              </a:rPr>
              <a:t>32</a:t>
            </a:fld>
            <a:endParaRPr sz="1200" b="0" i="0" u="none" strike="noStrike" cap="none" spc="0">
              <a:ln>
                <a:noFill/>
              </a:ln>
              <a:solidFill>
                <a:prstClr val="black"/>
              </a:solidFill>
              <a:latin typeface="TheSans UHH"/>
              <a:cs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https://www.uni-hamburg.de/allgemeinsprachen/ueber-uns/flyer-semester-winter-2025-26.pdf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04E3763-A18F-8179-1456-869E901CD796}" type="slidenum">
              <a:rPr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heSans UHH"/>
                <a:cs typeface="Arial"/>
              </a:rPr>
              <a:t>33</a:t>
            </a:fld>
            <a:endParaRPr sz="1200" b="0" i="0" u="none" strike="noStrike" cap="none" spc="0">
              <a:ln>
                <a:noFill/>
              </a:ln>
              <a:solidFill>
                <a:prstClr val="black"/>
              </a:solidFill>
              <a:latin typeface="TheSans UHH"/>
              <a:cs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04E3763-A18F-8179-1456-869E901CD796}" type="slidenum">
              <a:rPr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heSans UHH"/>
                <a:cs typeface="Arial"/>
              </a:rPr>
              <a:t>34</a:t>
            </a:fld>
            <a:endParaRPr sz="1200" b="0" i="0" u="none" strike="noStrike" cap="none" spc="0">
              <a:ln>
                <a:noFill/>
              </a:ln>
              <a:solidFill>
                <a:prstClr val="black"/>
              </a:solidFill>
              <a:latin typeface="TheSans UHH"/>
              <a:cs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 dirty="0"/>
              <a:t>https://www.uni-hamburg.de/allgemeinsprachen/ueber-uns/flyer-semester-winter-2025-26.pdf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04E3763-A18F-8179-1456-869E901CD796}" type="slidenum">
              <a:rPr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heSans UHH"/>
                <a:cs typeface="Arial"/>
              </a:rPr>
              <a:t>35</a:t>
            </a:fld>
            <a:endParaRPr sz="1200" b="0" i="0" u="none" strike="noStrike" cap="none" spc="0">
              <a:ln>
                <a:noFill/>
              </a:ln>
              <a:solidFill>
                <a:prstClr val="black"/>
              </a:solidFill>
              <a:latin typeface="TheSans UHH"/>
              <a:cs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04E3763-A18F-8179-1456-869E901CD796}" type="slidenum">
              <a:rPr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heSans UHH"/>
                <a:cs typeface="Arial"/>
              </a:rPr>
              <a:t>36</a:t>
            </a:fld>
            <a:endParaRPr sz="1200" b="0" i="0" u="none" strike="noStrike" cap="none" spc="0">
              <a:ln>
                <a:noFill/>
              </a:ln>
              <a:solidFill>
                <a:prstClr val="black"/>
              </a:solidFill>
              <a:latin typeface="TheSans UHH"/>
              <a:cs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04E3763-A18F-8179-1456-869E901CD796}" type="slidenum">
              <a:rPr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heSans UHH"/>
                <a:cs typeface="Arial"/>
              </a:rPr>
              <a:t>37</a:t>
            </a:fld>
            <a:endParaRPr sz="1200" b="0" i="0" u="none" strike="noStrike" cap="none" spc="0">
              <a:ln>
                <a:noFill/>
              </a:ln>
              <a:solidFill>
                <a:prstClr val="black"/>
              </a:solidFill>
              <a:latin typeface="TheSans UHH"/>
              <a:cs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 dirty="0"/>
              <a:t>https://www.uni-hamburg.de/allgemeinsprachen/ueber-uns/flyer-semester-winter-2025-26.pdf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04E3763-A18F-8179-1456-869E901CD796}" type="slidenum">
              <a:rPr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heSans UHH"/>
                <a:cs typeface="Arial"/>
              </a:rPr>
              <a:t>38</a:t>
            </a:fld>
            <a:endParaRPr sz="1200" b="0" i="0" u="none" strike="noStrike" cap="none" spc="0">
              <a:ln>
                <a:noFill/>
              </a:ln>
              <a:solidFill>
                <a:prstClr val="black"/>
              </a:solidFill>
              <a:latin typeface="TheSans UHH"/>
              <a:cs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4E3763-A18F-8179-1456-869E901CD796}" type="slidenum">
              <a:rPr/>
              <a:t>39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elfolie_Bild_vollflächig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platzhalter 1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250824" y="3579862"/>
            <a:ext cx="4681215" cy="370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TheSans UHH"/>
                <a:cs typeface="TheSans UHH"/>
              </a:defRPr>
            </a:lvl1pPr>
            <a:lvl2pPr marL="457200" indent="0">
              <a:buNone/>
              <a:defRPr sz="2000">
                <a:solidFill>
                  <a:srgbClr val="FFFFFF"/>
                </a:solidFill>
                <a:latin typeface="TheSans Uhh Bold Caps"/>
                <a:cs typeface="TheSans Uhh Bold Caps"/>
              </a:defRPr>
            </a:lvl2pPr>
            <a:lvl3pPr marL="914400" indent="0">
              <a:buNone/>
              <a:defRPr sz="2000">
                <a:solidFill>
                  <a:srgbClr val="FFFFFF"/>
                </a:solidFill>
                <a:latin typeface="TheSans Uhh Bold Caps"/>
                <a:cs typeface="TheSans Uhh Bold Caps"/>
              </a:defRPr>
            </a:lvl3pPr>
            <a:lvl4pPr marL="1371600" indent="0">
              <a:buNone/>
              <a:defRPr sz="2000">
                <a:solidFill>
                  <a:srgbClr val="FFFFFF"/>
                </a:solidFill>
                <a:latin typeface="TheSans Uhh Bold Caps"/>
                <a:cs typeface="TheSans Uhh Bold Caps"/>
              </a:defRPr>
            </a:lvl4pPr>
            <a:lvl5pPr marL="1828800" indent="0">
              <a:buNone/>
              <a:defRPr sz="2000">
                <a:solidFill>
                  <a:srgbClr val="FFFFFF"/>
                </a:solidFill>
                <a:latin typeface="TheSans Uhh Bold Caps"/>
                <a:cs typeface="TheSans Uhh Bold Caps"/>
              </a:defRPr>
            </a:lvl5pPr>
          </a:lstStyle>
          <a:p>
            <a:pPr lvl="0">
              <a:defRPr/>
            </a:pPr>
            <a:r>
              <a:rPr lang="de-DE"/>
              <a:t>Name des Referenten/der Referentin</a:t>
            </a:r>
            <a:endParaRPr/>
          </a:p>
        </p:txBody>
      </p:sp>
      <p:sp>
        <p:nvSpPr>
          <p:cNvPr id="9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251520" y="3994928"/>
            <a:ext cx="8096400" cy="1015200"/>
          </a:xfrm>
          <a:prstGeom prst="rect">
            <a:avLst/>
          </a:prstGeom>
        </p:spPr>
        <p:txBody>
          <a:bodyPr/>
          <a:lstStyle>
            <a:lvl1pPr algn="l">
              <a:defRPr sz="3000" b="1" i="0">
                <a:solidFill>
                  <a:schemeClr val="tx1"/>
                </a:solidFill>
                <a:latin typeface="TheSans UHH"/>
                <a:cs typeface="TheSans UHH"/>
              </a:defRPr>
            </a:lvl1pPr>
          </a:lstStyle>
          <a:p>
            <a:pPr>
              <a:defRPr/>
            </a:pPr>
            <a:r>
              <a:rPr lang="de-DE"/>
              <a:t>Dies ist ein Blindtext. Hier steht die Headline oder der Name der Veranstaltung</a:t>
            </a:r>
            <a:endParaRPr/>
          </a:p>
        </p:txBody>
      </p:sp>
      <p:pic>
        <p:nvPicPr>
          <p:cNvPr id="7" name="background-84678_1920.jpg"/>
          <p:cNvPicPr>
            <a:picLocks noChangeAspect="1"/>
          </p:cNvPicPr>
          <p:nvPr userDrawn="1"/>
        </p:nvPicPr>
        <p:blipFill>
          <a:blip r:embed="rId2"/>
          <a:srcRect t="17224" r="188" b="42567"/>
          <a:stretch/>
        </p:blipFill>
        <p:spPr bwMode="auto">
          <a:xfrm>
            <a:off x="0" y="1052006"/>
            <a:ext cx="9144000" cy="2455846"/>
          </a:xfrm>
          <a:prstGeom prst="rect">
            <a:avLst/>
          </a:prstGeom>
        </p:spPr>
      </p:pic>
      <p:sp>
        <p:nvSpPr>
          <p:cNvPr id="8" name="Bildplatzhalter 6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0" y="1052007"/>
            <a:ext cx="9144000" cy="24558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FFFFFF"/>
                </a:solidFill>
                <a:latin typeface="TheSans UHH"/>
              </a:defRPr>
            </a:lvl1pPr>
          </a:lstStyle>
          <a:p>
            <a:pPr>
              <a:defRPr/>
            </a:pPr>
            <a:r>
              <a:rPr lang="de-DE"/>
              <a:t>Bild einfügen und mit Alternativtext versehen</a:t>
            </a:r>
            <a:endParaRPr/>
          </a:p>
        </p:txBody>
      </p:sp>
      <p:cxnSp>
        <p:nvCxnSpPr>
          <p:cNvPr id="11" name="Gerade Verbindung 10"/>
          <p:cNvCxnSpPr>
            <a:cxnSpLocks/>
          </p:cNvCxnSpPr>
          <p:nvPr userDrawn="1"/>
        </p:nvCxnSpPr>
        <p:spPr bwMode="auto">
          <a:xfrm>
            <a:off x="0" y="3988132"/>
            <a:ext cx="8172400" cy="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</a:ln>
          <a:effectLst/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elfolie_zwei_Bil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Textplatzhalter 1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250825" y="3579862"/>
            <a:ext cx="4395258" cy="370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TheSans UHH"/>
                <a:cs typeface="TheSans UHH"/>
              </a:defRPr>
            </a:lvl1pPr>
            <a:lvl2pPr marL="457200" indent="0">
              <a:buNone/>
              <a:defRPr sz="2000">
                <a:solidFill>
                  <a:srgbClr val="FFFFFF"/>
                </a:solidFill>
                <a:latin typeface="TheSans Uhh Bold Caps"/>
                <a:cs typeface="TheSans Uhh Bold Caps"/>
              </a:defRPr>
            </a:lvl2pPr>
            <a:lvl3pPr marL="914400" indent="0">
              <a:buNone/>
              <a:defRPr sz="2000">
                <a:solidFill>
                  <a:srgbClr val="FFFFFF"/>
                </a:solidFill>
                <a:latin typeface="TheSans Uhh Bold Caps"/>
                <a:cs typeface="TheSans Uhh Bold Caps"/>
              </a:defRPr>
            </a:lvl3pPr>
            <a:lvl4pPr marL="1371600" indent="0">
              <a:buNone/>
              <a:defRPr sz="2000">
                <a:solidFill>
                  <a:srgbClr val="FFFFFF"/>
                </a:solidFill>
                <a:latin typeface="TheSans Uhh Bold Caps"/>
                <a:cs typeface="TheSans Uhh Bold Caps"/>
              </a:defRPr>
            </a:lvl4pPr>
            <a:lvl5pPr marL="1828800" indent="0">
              <a:buNone/>
              <a:defRPr sz="2000">
                <a:solidFill>
                  <a:srgbClr val="FFFFFF"/>
                </a:solidFill>
                <a:latin typeface="TheSans Uhh Bold Caps"/>
                <a:cs typeface="TheSans Uhh Bold Caps"/>
              </a:defRPr>
            </a:lvl5pPr>
          </a:lstStyle>
          <a:p>
            <a:pPr lvl="0">
              <a:defRPr/>
            </a:pPr>
            <a:r>
              <a:rPr lang="de-DE"/>
              <a:t>Name des Referenten/der Referentin</a:t>
            </a:r>
            <a:endParaRPr/>
          </a:p>
        </p:txBody>
      </p:sp>
      <p:sp>
        <p:nvSpPr>
          <p:cNvPr id="20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251520" y="3994928"/>
            <a:ext cx="8096400" cy="1015200"/>
          </a:xfrm>
          <a:prstGeom prst="rect">
            <a:avLst/>
          </a:prstGeom>
        </p:spPr>
        <p:txBody>
          <a:bodyPr/>
          <a:lstStyle>
            <a:lvl1pPr algn="l">
              <a:defRPr sz="3000" b="1" i="0">
                <a:solidFill>
                  <a:schemeClr val="tx1"/>
                </a:solidFill>
                <a:latin typeface="TheSans UHH"/>
                <a:cs typeface="TheSans UHH"/>
              </a:defRPr>
            </a:lvl1pPr>
          </a:lstStyle>
          <a:p>
            <a:pPr>
              <a:defRPr/>
            </a:pPr>
            <a:r>
              <a:rPr lang="de-DE"/>
              <a:t>Dies ist ein Blindtext. Hier steht die Headline oder der Name der Veranstaltung</a:t>
            </a:r>
            <a:endParaRPr/>
          </a:p>
        </p:txBody>
      </p:sp>
      <p:pic>
        <p:nvPicPr>
          <p:cNvPr id="9" name="background-84678_1920.jpg"/>
          <p:cNvPicPr>
            <a:picLocks noChangeAspect="1"/>
          </p:cNvPicPr>
          <p:nvPr userDrawn="1"/>
        </p:nvPicPr>
        <p:blipFill>
          <a:blip r:embed="rId2"/>
          <a:srcRect l="11847" r="-1" b="35837"/>
          <a:stretch/>
        </p:blipFill>
        <p:spPr bwMode="auto">
          <a:xfrm>
            <a:off x="-1" y="1052007"/>
            <a:ext cx="4497917" cy="2455340"/>
          </a:xfrm>
          <a:prstGeom prst="rect">
            <a:avLst/>
          </a:prstGeom>
        </p:spPr>
      </p:pic>
      <p:pic>
        <p:nvPicPr>
          <p:cNvPr id="10" name="background-84678_1920.jpg"/>
          <p:cNvPicPr>
            <a:picLocks noChangeAspect="1"/>
          </p:cNvPicPr>
          <p:nvPr userDrawn="1"/>
        </p:nvPicPr>
        <p:blipFill>
          <a:blip r:embed="rId3"/>
          <a:srcRect r="21458" b="35496"/>
          <a:stretch/>
        </p:blipFill>
        <p:spPr bwMode="auto">
          <a:xfrm>
            <a:off x="4646083" y="1052007"/>
            <a:ext cx="4497917" cy="2462639"/>
          </a:xfrm>
          <a:prstGeom prst="rect">
            <a:avLst/>
          </a:prstGeom>
        </p:spPr>
      </p:pic>
      <p:sp>
        <p:nvSpPr>
          <p:cNvPr id="12" name="Bildplatzhalter 15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-1" y="1052514"/>
            <a:ext cx="4497388" cy="24553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FFFFFF"/>
                </a:solidFill>
                <a:latin typeface="TheSans UHH"/>
              </a:defRPr>
            </a:lvl1pPr>
          </a:lstStyle>
          <a:p>
            <a:pPr>
              <a:defRPr/>
            </a:pPr>
            <a:r>
              <a:rPr lang="de-DE"/>
              <a:t>Bild einfügen und mit Alternativtext versehen</a:t>
            </a:r>
            <a:endParaRPr/>
          </a:p>
        </p:txBody>
      </p:sp>
      <p:sp>
        <p:nvSpPr>
          <p:cNvPr id="13" name="Bildplatzhalter 17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4646083" y="1052513"/>
            <a:ext cx="4497917" cy="2454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FFFFFF"/>
                </a:solidFill>
                <a:latin typeface="TheSans UHH"/>
              </a:defRPr>
            </a:lvl1pPr>
          </a:lstStyle>
          <a:p>
            <a:pPr>
              <a:defRPr/>
            </a:pPr>
            <a:r>
              <a:rPr lang="de-DE"/>
              <a:t>Bild einfügen und mit Alternativtext versehen</a:t>
            </a:r>
            <a:endParaRPr/>
          </a:p>
        </p:txBody>
      </p:sp>
      <p:cxnSp>
        <p:nvCxnSpPr>
          <p:cNvPr id="19" name="Gerade Verbindung 18"/>
          <p:cNvCxnSpPr>
            <a:cxnSpLocks/>
          </p:cNvCxnSpPr>
          <p:nvPr userDrawn="1"/>
        </p:nvCxnSpPr>
        <p:spPr bwMode="auto">
          <a:xfrm>
            <a:off x="0" y="3988132"/>
            <a:ext cx="8172400" cy="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</a:ln>
          <a:effectLst/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elfolie_einfarbiger_HG_Steingra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 userDrawn="1"/>
        </p:nvSpPr>
        <p:spPr bwMode="auto">
          <a:xfrm>
            <a:off x="0" y="1052006"/>
            <a:ext cx="9144000" cy="4091494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0">
                <a:srgbClr val="3B515B"/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endParaRPr lang="de-DE">
              <a:latin typeface="TheSans UHH"/>
            </a:endParaRPr>
          </a:p>
        </p:txBody>
      </p:sp>
      <p:sp>
        <p:nvSpPr>
          <p:cNvPr id="10" name="Textplatzhalter 1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250824" y="3579862"/>
            <a:ext cx="4825231" cy="370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TheSans UHH"/>
                <a:cs typeface="TheSans UHH"/>
              </a:defRPr>
            </a:lvl1pPr>
            <a:lvl2pPr marL="457200" indent="0">
              <a:buNone/>
              <a:defRPr sz="2000">
                <a:solidFill>
                  <a:srgbClr val="FFFFFF"/>
                </a:solidFill>
                <a:latin typeface="TheSans Uhh Bold Caps"/>
                <a:cs typeface="TheSans Uhh Bold Caps"/>
              </a:defRPr>
            </a:lvl2pPr>
            <a:lvl3pPr marL="914400" indent="0">
              <a:buNone/>
              <a:defRPr sz="2000">
                <a:solidFill>
                  <a:srgbClr val="FFFFFF"/>
                </a:solidFill>
                <a:latin typeface="TheSans Uhh Bold Caps"/>
                <a:cs typeface="TheSans Uhh Bold Caps"/>
              </a:defRPr>
            </a:lvl3pPr>
            <a:lvl4pPr marL="1371600" indent="0">
              <a:buNone/>
              <a:defRPr sz="2000">
                <a:solidFill>
                  <a:srgbClr val="FFFFFF"/>
                </a:solidFill>
                <a:latin typeface="TheSans Uhh Bold Caps"/>
                <a:cs typeface="TheSans Uhh Bold Caps"/>
              </a:defRPr>
            </a:lvl4pPr>
            <a:lvl5pPr marL="1828800" indent="0">
              <a:buNone/>
              <a:defRPr sz="2000">
                <a:solidFill>
                  <a:srgbClr val="FFFFFF"/>
                </a:solidFill>
                <a:latin typeface="TheSans Uhh Bold Caps"/>
                <a:cs typeface="TheSans Uhh Bold Caps"/>
              </a:defRPr>
            </a:lvl5pPr>
          </a:lstStyle>
          <a:p>
            <a:pPr lvl="0">
              <a:defRPr/>
            </a:pPr>
            <a:r>
              <a:rPr lang="de-DE"/>
              <a:t>Name des Referenten/der Referentin</a:t>
            </a:r>
            <a:endParaRPr/>
          </a:p>
        </p:txBody>
      </p:sp>
      <p:sp>
        <p:nvSpPr>
          <p:cNvPr id="9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251520" y="3994928"/>
            <a:ext cx="8096400" cy="1015200"/>
          </a:xfrm>
          <a:prstGeom prst="rect">
            <a:avLst/>
          </a:prstGeom>
        </p:spPr>
        <p:txBody>
          <a:bodyPr/>
          <a:lstStyle>
            <a:lvl1pPr algn="l">
              <a:defRPr sz="3000" b="1" i="0">
                <a:solidFill>
                  <a:schemeClr val="bg1"/>
                </a:solidFill>
                <a:latin typeface="TheSans UHH"/>
                <a:cs typeface="TheSans UHH"/>
              </a:defRPr>
            </a:lvl1pPr>
          </a:lstStyle>
          <a:p>
            <a:pPr>
              <a:defRPr/>
            </a:pPr>
            <a:r>
              <a:rPr lang="de-DE"/>
              <a:t>Dies ist ein Blindtext. Hier steht die Headline oder der Name der Veranstaltung</a:t>
            </a:r>
            <a:endParaRPr/>
          </a:p>
        </p:txBody>
      </p:sp>
      <p:cxnSp>
        <p:nvCxnSpPr>
          <p:cNvPr id="8" name="Gerade Verbindung 7"/>
          <p:cNvCxnSpPr>
            <a:cxnSpLocks/>
          </p:cNvCxnSpPr>
          <p:nvPr userDrawn="1"/>
        </p:nvCxnSpPr>
        <p:spPr bwMode="auto">
          <a:xfrm>
            <a:off x="0" y="3988132"/>
            <a:ext cx="8172400" cy="0"/>
          </a:xfrm>
          <a:prstGeom prst="line">
            <a:avLst/>
          </a:prstGeom>
          <a:noFill/>
          <a:ln w="38100" cap="flat" cmpd="sng" algn="ctr">
            <a:solidFill>
              <a:schemeClr val="bg1"/>
            </a:solidFill>
            <a:prstDash val="solid"/>
          </a:ln>
          <a:effectLst/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elfolie_einfarbiger_HG_Hellbla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 userDrawn="1"/>
        </p:nvSpPr>
        <p:spPr bwMode="auto">
          <a:xfrm>
            <a:off x="0" y="1052006"/>
            <a:ext cx="9144000" cy="409149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endParaRPr lang="de-DE">
              <a:latin typeface="TheSans UHH"/>
            </a:endParaRPr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250824" y="3579862"/>
            <a:ext cx="4609207" cy="370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TheSans UHH"/>
                <a:cs typeface="TheSans UHH"/>
              </a:defRPr>
            </a:lvl1pPr>
            <a:lvl2pPr marL="457200" indent="0">
              <a:buNone/>
              <a:defRPr sz="2000">
                <a:solidFill>
                  <a:srgbClr val="FFFFFF"/>
                </a:solidFill>
                <a:latin typeface="TheSans Uhh Bold Caps"/>
                <a:cs typeface="TheSans Uhh Bold Caps"/>
              </a:defRPr>
            </a:lvl2pPr>
            <a:lvl3pPr marL="914400" indent="0">
              <a:buNone/>
              <a:defRPr sz="2000">
                <a:solidFill>
                  <a:srgbClr val="FFFFFF"/>
                </a:solidFill>
                <a:latin typeface="TheSans Uhh Bold Caps"/>
                <a:cs typeface="TheSans Uhh Bold Caps"/>
              </a:defRPr>
            </a:lvl3pPr>
            <a:lvl4pPr marL="1371600" indent="0">
              <a:buNone/>
              <a:defRPr sz="2000">
                <a:solidFill>
                  <a:srgbClr val="FFFFFF"/>
                </a:solidFill>
                <a:latin typeface="TheSans Uhh Bold Caps"/>
                <a:cs typeface="TheSans Uhh Bold Caps"/>
              </a:defRPr>
            </a:lvl4pPr>
            <a:lvl5pPr marL="1828800" indent="0">
              <a:buNone/>
              <a:defRPr sz="2000">
                <a:solidFill>
                  <a:srgbClr val="FFFFFF"/>
                </a:solidFill>
                <a:latin typeface="TheSans Uhh Bold Caps"/>
                <a:cs typeface="TheSans Uhh Bold Caps"/>
              </a:defRPr>
            </a:lvl5pPr>
          </a:lstStyle>
          <a:p>
            <a:pPr lvl="0">
              <a:defRPr/>
            </a:pPr>
            <a:r>
              <a:rPr lang="de-DE"/>
              <a:t>Name des Referenten/der Referentin</a:t>
            </a:r>
            <a:endParaRPr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251520" y="3994928"/>
            <a:ext cx="8096400" cy="1015200"/>
          </a:xfrm>
          <a:prstGeom prst="rect">
            <a:avLst/>
          </a:prstGeom>
        </p:spPr>
        <p:txBody>
          <a:bodyPr/>
          <a:lstStyle>
            <a:lvl1pPr algn="l">
              <a:defRPr sz="3000" b="1" i="0">
                <a:solidFill>
                  <a:schemeClr val="bg1"/>
                </a:solidFill>
                <a:latin typeface="TheSans UHH"/>
                <a:cs typeface="TheSans UHH"/>
              </a:defRPr>
            </a:lvl1pPr>
          </a:lstStyle>
          <a:p>
            <a:pPr>
              <a:defRPr/>
            </a:pPr>
            <a:r>
              <a:rPr lang="de-DE"/>
              <a:t>Dies ist ein Blindtext. Hier steht die Headline oder der Name der Veranstaltung</a:t>
            </a:r>
            <a:endParaRPr/>
          </a:p>
        </p:txBody>
      </p:sp>
      <p:cxnSp>
        <p:nvCxnSpPr>
          <p:cNvPr id="6" name="Gerade Verbindung 5"/>
          <p:cNvCxnSpPr>
            <a:cxnSpLocks/>
          </p:cNvCxnSpPr>
          <p:nvPr userDrawn="1"/>
        </p:nvCxnSpPr>
        <p:spPr bwMode="auto">
          <a:xfrm>
            <a:off x="0" y="3988132"/>
            <a:ext cx="8172400" cy="0"/>
          </a:xfrm>
          <a:prstGeom prst="line">
            <a:avLst/>
          </a:prstGeom>
          <a:noFill/>
          <a:ln w="38100" cap="flat" cmpd="sng" algn="ctr">
            <a:solidFill>
              <a:schemeClr val="bg1"/>
            </a:solidFill>
            <a:prstDash val="solid"/>
          </a:ln>
          <a:effectLst/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6" name="Gerade Verbindung 5"/>
          <p:cNvCxnSpPr>
            <a:cxnSpLocks/>
          </p:cNvCxnSpPr>
          <p:nvPr userDrawn="1"/>
        </p:nvCxnSpPr>
        <p:spPr bwMode="auto">
          <a:xfrm>
            <a:off x="0" y="1059582"/>
            <a:ext cx="9144000" cy="0"/>
          </a:xfrm>
          <a:prstGeom prst="line">
            <a:avLst/>
          </a:prstGeom>
          <a:ln w="254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214768" y="1203598"/>
            <a:ext cx="8533695" cy="503882"/>
          </a:xfrm>
          <a:prstGeom prst="rect">
            <a:avLst/>
          </a:prstGeom>
        </p:spPr>
        <p:txBody>
          <a:bodyPr/>
          <a:lstStyle>
            <a:lvl1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600" b="1" i="0">
                <a:solidFill>
                  <a:schemeClr val="tx1"/>
                </a:solidFill>
                <a:latin typeface="TheSans UHH"/>
                <a:cs typeface="TheSans UHH"/>
              </a:defRPr>
            </a:lvl1pPr>
          </a:lstStyle>
          <a:p>
            <a:pPr>
              <a:defRPr/>
            </a:pPr>
            <a:r>
              <a:rPr lang="de-DE"/>
              <a:t>Hier steht die Folien-Überschrift</a:t>
            </a:r>
            <a:endParaRPr/>
          </a:p>
        </p:txBody>
      </p:sp>
      <p:sp>
        <p:nvSpPr>
          <p:cNvPr id="8" name="Textplatzhalter 9"/>
          <p:cNvSpPr>
            <a:spLocks noGrp="1"/>
          </p:cNvSpPr>
          <p:nvPr>
            <p:ph type="body" sz="quarter" idx="14"/>
          </p:nvPr>
        </p:nvSpPr>
        <p:spPr bwMode="auto">
          <a:xfrm>
            <a:off x="214769" y="1779662"/>
            <a:ext cx="8533695" cy="28803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atin typeface="TheSans UHH"/>
              </a:defRPr>
            </a:lvl1pPr>
            <a:lvl2pPr>
              <a:defRPr sz="2600">
                <a:latin typeface="TheSans UHH Bold Caps"/>
              </a:defRPr>
            </a:lvl2pPr>
            <a:lvl3pPr>
              <a:defRPr sz="2600">
                <a:latin typeface="TheSans UHH Bold Caps"/>
              </a:defRPr>
            </a:lvl3pPr>
            <a:lvl4pPr>
              <a:defRPr sz="2600">
                <a:latin typeface="TheSans UHH Bold Caps"/>
              </a:defRPr>
            </a:lvl4pPr>
            <a:lvl5pPr>
              <a:defRPr sz="2600">
                <a:latin typeface="TheSans UHH Bold Caps"/>
              </a:defRPr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  <a:prstGeom prst="rect">
            <a:avLst/>
          </a:prstGeom>
        </p:spPr>
        <p:txBody>
          <a:bodyPr vert="horz" lIns="0" tIns="45720" rIns="90000" bIns="45720" rtlCol="0" anchor="ctr"/>
          <a:lstStyle>
            <a:lvl1pPr algn="l">
              <a:defRPr sz="1200">
                <a:solidFill>
                  <a:schemeClr val="tx1"/>
                </a:solidFill>
                <a:latin typeface="TheSans UHH"/>
              </a:defRPr>
            </a:lvl1pPr>
          </a:lstStyle>
          <a:p>
            <a:pPr>
              <a:defRPr/>
            </a:pPr>
            <a:r>
              <a:rPr lang="de-DE" dirty="0"/>
              <a:t>`05.10.2026</a:t>
            </a:r>
            <a:endParaRPr dirty="0"/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TheSans UHH"/>
              </a:defRPr>
            </a:lvl1pPr>
          </a:lstStyle>
          <a:p>
            <a:pPr>
              <a:defRPr/>
            </a:pPr>
            <a:r>
              <a:rPr lang="de-DE"/>
              <a:t>IAS Course Guidance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stichpunktlis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6" name="Gerade Verbindung 5"/>
          <p:cNvCxnSpPr>
            <a:cxnSpLocks/>
          </p:cNvCxnSpPr>
          <p:nvPr userDrawn="1"/>
        </p:nvCxnSpPr>
        <p:spPr bwMode="auto">
          <a:xfrm>
            <a:off x="0" y="1059582"/>
            <a:ext cx="9144000" cy="0"/>
          </a:xfrm>
          <a:prstGeom prst="line">
            <a:avLst/>
          </a:prstGeom>
          <a:ln w="254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214768" y="1203598"/>
            <a:ext cx="8533695" cy="503882"/>
          </a:xfrm>
          <a:prstGeom prst="rect">
            <a:avLst/>
          </a:prstGeom>
        </p:spPr>
        <p:txBody>
          <a:bodyPr/>
          <a:lstStyle>
            <a:lvl1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600" b="1" i="0">
                <a:solidFill>
                  <a:schemeClr val="tx1"/>
                </a:solidFill>
                <a:latin typeface="TheSans UHH"/>
                <a:cs typeface="TheSans UHH"/>
              </a:defRPr>
            </a:lvl1pPr>
          </a:lstStyle>
          <a:p>
            <a:pPr>
              <a:defRPr/>
            </a:pPr>
            <a:r>
              <a:rPr lang="de-DE"/>
              <a:t>Hier steht die Folien-Überschrift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6"/>
          </p:nvPr>
        </p:nvSpPr>
        <p:spPr bwMode="auto">
          <a:xfrm>
            <a:off x="214311" y="1779662"/>
            <a:ext cx="8534151" cy="2879651"/>
          </a:xfrm>
          <a:prstGeom prst="rect">
            <a:avLst/>
          </a:prstGeom>
        </p:spPr>
        <p:txBody>
          <a:bodyPr vert="horz"/>
          <a:lstStyle>
            <a:lvl1pPr marL="180000" indent="-180000">
              <a:spcBef>
                <a:spcPts val="1450"/>
              </a:spcBef>
              <a:buClr>
                <a:schemeClr val="tx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cs typeface="TheSans UHH"/>
              </a:defRPr>
            </a:lvl1pPr>
            <a:lvl2pPr marL="360000" indent="-180000">
              <a:buClr>
                <a:schemeClr val="bg2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cs typeface="TheSans UHH"/>
              </a:defRPr>
            </a:lvl2pPr>
            <a:lvl3pPr marL="540000" indent="-180000">
              <a:buClr>
                <a:schemeClr val="bg2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cs typeface="TheSans UHH"/>
              </a:defRPr>
            </a:lvl3pPr>
            <a:lvl4pPr marL="180000" indent="-180000"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cs typeface="TheSans UHH Regular"/>
              </a:defRPr>
            </a:lvl4pPr>
            <a:lvl5pPr marL="180000" indent="-180000"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cs typeface="TheSans UHH Regular"/>
              </a:defRPr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9"/>
          </p:nvPr>
        </p:nvSpPr>
        <p:spPr bwMode="auto">
          <a:xfrm>
            <a:off x="6457950" y="4767264"/>
            <a:ext cx="2290512" cy="273844"/>
          </a:xfrm>
        </p:spPr>
        <p:txBody>
          <a:bodyPr/>
          <a:lstStyle>
            <a:lvl1pPr>
              <a:defRPr>
                <a:solidFill>
                  <a:srgbClr val="3B515B"/>
                </a:solidFill>
                <a:latin typeface="TheSans UHH"/>
              </a:defRPr>
            </a:lvl1pPr>
          </a:lstStyle>
          <a:p>
            <a:pPr>
              <a:defRPr/>
            </a:pPr>
            <a:fld id="{59ECAD2F-F568-4BA2-B08A-3905237F9B58}" type="slidenum">
              <a:rPr lang="de-DE"/>
              <a:t>‹#›</a:t>
            </a:fld>
            <a:endParaRPr lang="de-DE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  <a:prstGeom prst="rect">
            <a:avLst/>
          </a:prstGeom>
        </p:spPr>
        <p:txBody>
          <a:bodyPr vert="horz" lIns="0" tIns="45720" rIns="90000" bIns="45720" rtlCol="0" anchor="ctr"/>
          <a:lstStyle>
            <a:lvl1pPr algn="l">
              <a:defRPr sz="1200">
                <a:solidFill>
                  <a:schemeClr val="tx1"/>
                </a:solidFill>
                <a:latin typeface="TheSans UHH"/>
              </a:defRPr>
            </a:lvl1pPr>
          </a:lstStyle>
          <a:p>
            <a:pPr>
              <a:defRPr/>
            </a:pPr>
            <a:r>
              <a:rPr lang="de-DE" dirty="0"/>
              <a:t>`05.10.2026</a:t>
            </a:r>
            <a:endParaRPr dirty="0"/>
          </a:p>
        </p:txBody>
      </p:sp>
      <p:sp>
        <p:nvSpPr>
          <p:cNvPr id="9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TheSans UHH"/>
              </a:defRPr>
            </a:lvl1pPr>
          </a:lstStyle>
          <a:p>
            <a:pPr>
              <a:defRPr/>
            </a:pPr>
            <a:r>
              <a:rPr lang="de-DE"/>
              <a:t>IAS Course Guidance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zweispaltiger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6" name="Gerade Verbindung 5"/>
          <p:cNvCxnSpPr>
            <a:cxnSpLocks/>
          </p:cNvCxnSpPr>
          <p:nvPr userDrawn="1"/>
        </p:nvCxnSpPr>
        <p:spPr bwMode="auto">
          <a:xfrm>
            <a:off x="0" y="1059582"/>
            <a:ext cx="9144000" cy="0"/>
          </a:xfrm>
          <a:prstGeom prst="line">
            <a:avLst/>
          </a:prstGeom>
          <a:ln w="254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214768" y="1203598"/>
            <a:ext cx="8533695" cy="503882"/>
          </a:xfrm>
          <a:prstGeom prst="rect">
            <a:avLst/>
          </a:prstGeom>
        </p:spPr>
        <p:txBody>
          <a:bodyPr/>
          <a:lstStyle>
            <a:lvl1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600" b="1" i="0">
                <a:solidFill>
                  <a:schemeClr val="tx1"/>
                </a:solidFill>
                <a:latin typeface="TheSans UHH"/>
                <a:cs typeface="TheSans UHH"/>
              </a:defRPr>
            </a:lvl1pPr>
          </a:lstStyle>
          <a:p>
            <a:pPr>
              <a:defRPr/>
            </a:pPr>
            <a:r>
              <a:rPr lang="de-DE"/>
              <a:t>Hier steht die Folien-Überschrift</a:t>
            </a:r>
            <a:endParaRPr/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14"/>
          </p:nvPr>
        </p:nvSpPr>
        <p:spPr bwMode="auto">
          <a:xfrm>
            <a:off x="214770" y="1779662"/>
            <a:ext cx="4171028" cy="28803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/>
              <a:buNone/>
              <a:defRPr sz="2000">
                <a:solidFill>
                  <a:schemeClr val="tx1"/>
                </a:solidFill>
                <a:latin typeface="TheSans UHH"/>
                <a:cs typeface="TheSans UHH"/>
              </a:defRPr>
            </a:lvl1pPr>
            <a:lvl2pPr>
              <a:defRPr sz="2000">
                <a:solidFill>
                  <a:schemeClr val="tx1"/>
                </a:solidFill>
                <a:latin typeface="TheSans UHH Regular"/>
                <a:cs typeface="TheSans UHH Regular"/>
              </a:defRPr>
            </a:lvl2pPr>
            <a:lvl3pPr>
              <a:defRPr sz="2600">
                <a:latin typeface="TheSans UHH Bold Caps"/>
              </a:defRPr>
            </a:lvl3pPr>
            <a:lvl4pPr>
              <a:defRPr sz="2600">
                <a:latin typeface="TheSans UHH Bold Caps"/>
              </a:defRPr>
            </a:lvl4pPr>
            <a:lvl5pPr>
              <a:defRPr sz="2600">
                <a:latin typeface="TheSans UHH Bold Caps"/>
              </a:defRPr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2" name="Textplatzhalter 9"/>
          <p:cNvSpPr>
            <a:spLocks noGrp="1"/>
          </p:cNvSpPr>
          <p:nvPr>
            <p:ph type="body" sz="quarter" idx="15"/>
          </p:nvPr>
        </p:nvSpPr>
        <p:spPr bwMode="auto">
          <a:xfrm>
            <a:off x="4572000" y="1779662"/>
            <a:ext cx="4171028" cy="28803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atin typeface="TheSans UHH"/>
              </a:defRPr>
            </a:lvl1pPr>
            <a:lvl2pPr>
              <a:defRPr sz="2600">
                <a:latin typeface="TheSans UHH Bold Caps"/>
              </a:defRPr>
            </a:lvl2pPr>
            <a:lvl3pPr>
              <a:defRPr sz="2600">
                <a:latin typeface="TheSans UHH Bold Caps"/>
              </a:defRPr>
            </a:lvl3pPr>
            <a:lvl4pPr>
              <a:defRPr sz="2600">
                <a:latin typeface="TheSans UHH Bold Caps"/>
              </a:defRPr>
            </a:lvl4pPr>
            <a:lvl5pPr>
              <a:defRPr sz="2600">
                <a:latin typeface="TheSans UHH Bold Caps"/>
              </a:defRPr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8"/>
          </p:nvPr>
        </p:nvSpPr>
        <p:spPr bwMode="auto">
          <a:xfrm>
            <a:off x="6457949" y="4767264"/>
            <a:ext cx="2290513" cy="273844"/>
          </a:xfrm>
        </p:spPr>
        <p:txBody>
          <a:bodyPr/>
          <a:lstStyle/>
          <a:p>
            <a:pPr>
              <a:defRPr/>
            </a:pPr>
            <a:fld id="{59ECAD2F-F568-4BA2-B08A-3905237F9B58}" type="slidenum">
              <a:rPr lang="de-DE"/>
              <a:t>‹#›</a:t>
            </a:fld>
            <a:endParaRPr lang="de-DE"/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  <a:prstGeom prst="rect">
            <a:avLst/>
          </a:prstGeom>
        </p:spPr>
        <p:txBody>
          <a:bodyPr vert="horz" lIns="0" tIns="45720" rIns="90000" bIns="45720" rtlCol="0" anchor="ctr"/>
          <a:lstStyle>
            <a:lvl1pPr algn="l">
              <a:defRPr sz="1200">
                <a:solidFill>
                  <a:schemeClr val="tx1"/>
                </a:solidFill>
                <a:latin typeface="TheSans UHH"/>
              </a:defRPr>
            </a:lvl1pPr>
          </a:lstStyle>
          <a:p>
            <a:pPr>
              <a:defRPr/>
            </a:pPr>
            <a:r>
              <a:rPr lang="de-DE" dirty="0"/>
              <a:t>`05.10.2026</a:t>
            </a:r>
            <a:endParaRPr dirty="0"/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TheSans UHH"/>
              </a:defRPr>
            </a:lvl1pPr>
          </a:lstStyle>
          <a:p>
            <a:pPr>
              <a:defRPr/>
            </a:pPr>
            <a:r>
              <a:rPr lang="de-DE"/>
              <a:t>IAS Course Guidance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zweispaltige_stichpunktliste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6" name="Gerade Verbindung 5"/>
          <p:cNvCxnSpPr>
            <a:cxnSpLocks/>
          </p:cNvCxnSpPr>
          <p:nvPr userDrawn="1"/>
        </p:nvCxnSpPr>
        <p:spPr bwMode="auto">
          <a:xfrm>
            <a:off x="0" y="1059582"/>
            <a:ext cx="9144000" cy="0"/>
          </a:xfrm>
          <a:prstGeom prst="line">
            <a:avLst/>
          </a:prstGeom>
          <a:ln w="254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214768" y="1203598"/>
            <a:ext cx="8533695" cy="503882"/>
          </a:xfrm>
          <a:prstGeom prst="rect">
            <a:avLst/>
          </a:prstGeom>
        </p:spPr>
        <p:txBody>
          <a:bodyPr/>
          <a:lstStyle>
            <a:lvl1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600" b="1" i="0">
                <a:solidFill>
                  <a:schemeClr val="tx1"/>
                </a:solidFill>
                <a:latin typeface="TheSans UHH"/>
                <a:cs typeface="TheSans UHH"/>
              </a:defRPr>
            </a:lvl1pPr>
          </a:lstStyle>
          <a:p>
            <a:pPr>
              <a:defRPr/>
            </a:pPr>
            <a:r>
              <a:rPr lang="de-DE"/>
              <a:t>Hier steht die Folien-Überschrift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6"/>
          </p:nvPr>
        </p:nvSpPr>
        <p:spPr bwMode="auto">
          <a:xfrm>
            <a:off x="214312" y="1779662"/>
            <a:ext cx="4172400" cy="2879651"/>
          </a:xfrm>
          <a:prstGeom prst="rect">
            <a:avLst/>
          </a:prstGeom>
        </p:spPr>
        <p:txBody>
          <a:bodyPr vert="horz"/>
          <a:lstStyle>
            <a:lvl1pPr marL="180000" indent="-180000">
              <a:spcBef>
                <a:spcPts val="1450"/>
              </a:spcBef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cs typeface="TheSans UHH"/>
              </a:defRPr>
            </a:lvl1pPr>
            <a:lvl2pPr marL="360000" indent="-180000">
              <a:buClr>
                <a:schemeClr val="tx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cs typeface="TheSans UHH"/>
              </a:defRPr>
            </a:lvl2pPr>
            <a:lvl3pPr marL="540000" indent="-180000">
              <a:buClr>
                <a:schemeClr val="bg2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cs typeface="TheSans UHH"/>
              </a:defRPr>
            </a:lvl3pPr>
            <a:lvl4pPr marL="180000" indent="-180000"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cs typeface="TheSans UHH Regular"/>
              </a:defRPr>
            </a:lvl4pPr>
            <a:lvl5pPr marL="180000" indent="-180000"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cs typeface="TheSans UHH Regular"/>
              </a:defRPr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7"/>
          </p:nvPr>
        </p:nvSpPr>
        <p:spPr bwMode="auto">
          <a:xfrm>
            <a:off x="4576063" y="1779662"/>
            <a:ext cx="4172400" cy="2879651"/>
          </a:xfrm>
          <a:prstGeom prst="rect">
            <a:avLst/>
          </a:prstGeom>
        </p:spPr>
        <p:txBody>
          <a:bodyPr vert="horz"/>
          <a:lstStyle>
            <a:lvl1pPr marL="180000" indent="-180000">
              <a:spcBef>
                <a:spcPts val="1450"/>
              </a:spcBef>
              <a:buClr>
                <a:schemeClr val="accent2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cs typeface="TheSans UHH"/>
              </a:defRPr>
            </a:lvl1pPr>
            <a:lvl2pPr marL="360000" indent="-180000">
              <a:buClr>
                <a:schemeClr val="tx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cs typeface="TheSans UHH"/>
              </a:defRPr>
            </a:lvl2pPr>
            <a:lvl3pPr marL="540000" indent="-180000">
              <a:buClr>
                <a:schemeClr val="bg2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cs typeface="TheSans UHH"/>
              </a:defRPr>
            </a:lvl3pPr>
            <a:lvl4pPr marL="180000" indent="-180000"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cs typeface="TheSans UHH Regular"/>
              </a:defRPr>
            </a:lvl4pPr>
            <a:lvl5pPr marL="180000" indent="-180000"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cs typeface="TheSans UHH Regular"/>
              </a:defRPr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0"/>
          </p:nvPr>
        </p:nvSpPr>
        <p:spPr bwMode="auto">
          <a:xfrm>
            <a:off x="6457949" y="4767264"/>
            <a:ext cx="2290513" cy="273844"/>
          </a:xfrm>
        </p:spPr>
        <p:txBody>
          <a:bodyPr/>
          <a:lstStyle/>
          <a:p>
            <a:pPr>
              <a:defRPr/>
            </a:pPr>
            <a:fld id="{59ECAD2F-F568-4BA2-B08A-3905237F9B58}" type="slidenum">
              <a:rPr lang="de-DE"/>
              <a:t>‹#›</a:t>
            </a:fld>
            <a:endParaRPr lang="de-DE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  <a:prstGeom prst="rect">
            <a:avLst/>
          </a:prstGeom>
        </p:spPr>
        <p:txBody>
          <a:bodyPr vert="horz" lIns="0" tIns="45720" rIns="90000" bIns="45720" rtlCol="0" anchor="ctr"/>
          <a:lstStyle>
            <a:lvl1pPr algn="l">
              <a:defRPr sz="1200">
                <a:solidFill>
                  <a:schemeClr val="tx1"/>
                </a:solidFill>
                <a:latin typeface="TheSans UHH"/>
              </a:defRPr>
            </a:lvl1pPr>
          </a:lstStyle>
          <a:p>
            <a:pPr>
              <a:defRPr/>
            </a:pPr>
            <a:r>
              <a:rPr lang="de-DE" dirty="0"/>
              <a:t>`05.10.2026</a:t>
            </a:r>
            <a:endParaRPr dirty="0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TheSans UHH"/>
              </a:defRPr>
            </a:lvl1pPr>
          </a:lstStyle>
          <a:p>
            <a:pPr>
              <a:defRPr/>
            </a:pPr>
            <a:r>
              <a:rPr lang="de-DE"/>
              <a:t>IAS Course Guidance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zweispaltig_Text_und_stichpunktlis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6" name="Gerade Verbindung 5"/>
          <p:cNvCxnSpPr>
            <a:cxnSpLocks/>
          </p:cNvCxnSpPr>
          <p:nvPr userDrawn="1"/>
        </p:nvCxnSpPr>
        <p:spPr bwMode="auto">
          <a:xfrm>
            <a:off x="0" y="1059582"/>
            <a:ext cx="9144000" cy="0"/>
          </a:xfrm>
          <a:prstGeom prst="line">
            <a:avLst/>
          </a:prstGeom>
          <a:ln w="254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214768" y="1203598"/>
            <a:ext cx="8533695" cy="503882"/>
          </a:xfrm>
          <a:prstGeom prst="rect">
            <a:avLst/>
          </a:prstGeom>
        </p:spPr>
        <p:txBody>
          <a:bodyPr/>
          <a:lstStyle>
            <a:lvl1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600" b="1" i="0">
                <a:solidFill>
                  <a:schemeClr val="tx1"/>
                </a:solidFill>
                <a:latin typeface="TheSans UHH"/>
                <a:cs typeface="TheSans UHH"/>
              </a:defRPr>
            </a:lvl1pPr>
          </a:lstStyle>
          <a:p>
            <a:pPr>
              <a:defRPr/>
            </a:pPr>
            <a:r>
              <a:rPr lang="de-DE"/>
              <a:t>Hier steht die Folien-Überschrift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6"/>
          </p:nvPr>
        </p:nvSpPr>
        <p:spPr bwMode="auto">
          <a:xfrm>
            <a:off x="214312" y="1779662"/>
            <a:ext cx="4172400" cy="2879651"/>
          </a:xfrm>
          <a:prstGeom prst="rect">
            <a:avLst/>
          </a:prstGeom>
        </p:spPr>
        <p:txBody>
          <a:bodyPr vert="horz"/>
          <a:lstStyle>
            <a:lvl1pPr marL="0" indent="0">
              <a:spcBef>
                <a:spcPts val="1450"/>
              </a:spcBef>
              <a:buClr>
                <a:schemeClr val="accent1"/>
              </a:buClr>
              <a:buFont typeface="Wingdings"/>
              <a:buNone/>
              <a:defRPr sz="2000">
                <a:solidFill>
                  <a:srgbClr val="3B515B"/>
                </a:solidFill>
                <a:latin typeface="TheSans UHH"/>
                <a:cs typeface="TheSans UHH"/>
              </a:defRPr>
            </a:lvl1pPr>
            <a:lvl2pPr marL="180000" indent="0">
              <a:buClr>
                <a:schemeClr val="tx1"/>
              </a:buClr>
              <a:buFont typeface="Wingdings"/>
              <a:buNone/>
              <a:defRPr sz="2000">
                <a:solidFill>
                  <a:srgbClr val="3B515B"/>
                </a:solidFill>
                <a:latin typeface="TheSans UHH Regular"/>
                <a:cs typeface="TheSans UHH Regular"/>
              </a:defRPr>
            </a:lvl2pPr>
            <a:lvl3pPr marL="360000" indent="0">
              <a:buClr>
                <a:schemeClr val="bg2"/>
              </a:buClr>
              <a:buFont typeface="Wingdings"/>
              <a:buNone/>
              <a:defRPr sz="2000">
                <a:solidFill>
                  <a:srgbClr val="3B515B"/>
                </a:solidFill>
                <a:latin typeface="TheSans UHH Regular"/>
                <a:cs typeface="TheSans UHH Regular"/>
              </a:defRPr>
            </a:lvl3pPr>
            <a:lvl4pPr marL="180000" indent="-180000"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cs typeface="TheSans UHH Regular"/>
              </a:defRPr>
            </a:lvl4pPr>
            <a:lvl5pPr marL="180000" indent="-180000"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cs typeface="TheSans UHH Regular"/>
              </a:defRPr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7"/>
          </p:nvPr>
        </p:nvSpPr>
        <p:spPr bwMode="auto">
          <a:xfrm>
            <a:off x="4576063" y="1779662"/>
            <a:ext cx="4172400" cy="2879651"/>
          </a:xfrm>
          <a:prstGeom prst="rect">
            <a:avLst/>
          </a:prstGeom>
        </p:spPr>
        <p:txBody>
          <a:bodyPr vert="horz"/>
          <a:lstStyle>
            <a:lvl1pPr marL="180000" indent="-180000">
              <a:spcBef>
                <a:spcPts val="1450"/>
              </a:spcBef>
              <a:buClr>
                <a:schemeClr val="accent2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cs typeface="TheSans UHH"/>
              </a:defRPr>
            </a:lvl1pPr>
            <a:lvl2pPr marL="360000" indent="-180000">
              <a:buClr>
                <a:schemeClr val="tx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cs typeface="TheSans UHH"/>
              </a:defRPr>
            </a:lvl2pPr>
            <a:lvl3pPr marL="540000" indent="-180000">
              <a:buClr>
                <a:schemeClr val="bg2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cs typeface="TheSans UHH"/>
              </a:defRPr>
            </a:lvl3pPr>
            <a:lvl4pPr marL="180000" indent="-180000"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cs typeface="TheSans UHH Regular"/>
              </a:defRPr>
            </a:lvl4pPr>
            <a:lvl5pPr marL="180000" indent="-180000"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cs typeface="TheSans UHH Regular"/>
              </a:defRPr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0"/>
          </p:nvPr>
        </p:nvSpPr>
        <p:spPr bwMode="auto">
          <a:xfrm>
            <a:off x="6457949" y="4767264"/>
            <a:ext cx="2290513" cy="273844"/>
          </a:xfrm>
        </p:spPr>
        <p:txBody>
          <a:bodyPr/>
          <a:lstStyle/>
          <a:p>
            <a:pPr>
              <a:defRPr/>
            </a:pPr>
            <a:fld id="{59ECAD2F-F568-4BA2-B08A-3905237F9B58}" type="slidenum">
              <a:rPr lang="de-DE"/>
              <a:t>‹#›</a:t>
            </a:fld>
            <a:endParaRPr lang="de-DE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  <a:prstGeom prst="rect">
            <a:avLst/>
          </a:prstGeom>
        </p:spPr>
        <p:txBody>
          <a:bodyPr vert="horz" lIns="0" tIns="45720" rIns="90000" bIns="45720" rtlCol="0" anchor="ctr"/>
          <a:lstStyle>
            <a:lvl1pPr algn="l">
              <a:defRPr sz="1200">
                <a:solidFill>
                  <a:schemeClr val="tx1"/>
                </a:solidFill>
                <a:latin typeface="TheSans UHH"/>
              </a:defRPr>
            </a:lvl1pPr>
          </a:lstStyle>
          <a:p>
            <a:pPr>
              <a:defRPr/>
            </a:pPr>
            <a:r>
              <a:rPr lang="de-DE" dirty="0"/>
              <a:t>`05.10.2026</a:t>
            </a:r>
            <a:endParaRPr dirty="0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TheSans UHH"/>
              </a:defRPr>
            </a:lvl1pPr>
          </a:lstStyle>
          <a:p>
            <a:pPr>
              <a:defRPr/>
            </a:pPr>
            <a:r>
              <a:rPr lang="de-DE"/>
              <a:t>IAS Course Guidance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ext_und_Bil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214768" y="1203598"/>
            <a:ext cx="8533695" cy="503882"/>
          </a:xfrm>
          <a:prstGeom prst="rect">
            <a:avLst/>
          </a:prstGeom>
        </p:spPr>
        <p:txBody>
          <a:bodyPr/>
          <a:lstStyle>
            <a:lvl1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600" b="1" i="0">
                <a:solidFill>
                  <a:schemeClr val="tx1"/>
                </a:solidFill>
                <a:latin typeface="TheSans UHH"/>
                <a:cs typeface="TheSans UHH"/>
              </a:defRPr>
            </a:lvl1pPr>
          </a:lstStyle>
          <a:p>
            <a:pPr>
              <a:defRPr/>
            </a:pPr>
            <a:r>
              <a:rPr lang="de-DE"/>
              <a:t>Hier steht die Folien-Überschrift</a:t>
            </a:r>
            <a:endParaRPr/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14"/>
          </p:nvPr>
        </p:nvSpPr>
        <p:spPr bwMode="auto">
          <a:xfrm>
            <a:off x="214770" y="1779662"/>
            <a:ext cx="4171028" cy="28803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atin typeface="TheSans UHH"/>
              </a:defRPr>
            </a:lvl1pPr>
            <a:lvl2pPr>
              <a:defRPr sz="2600">
                <a:latin typeface="TheSans UHH Bold Caps"/>
              </a:defRPr>
            </a:lvl2pPr>
            <a:lvl3pPr>
              <a:defRPr sz="2600">
                <a:latin typeface="TheSans UHH Bold Caps"/>
              </a:defRPr>
            </a:lvl3pPr>
            <a:lvl4pPr>
              <a:defRPr sz="2600">
                <a:latin typeface="TheSans UHH Bold Caps"/>
              </a:defRPr>
            </a:lvl4pPr>
            <a:lvl5pPr>
              <a:defRPr sz="2600">
                <a:latin typeface="TheSans UHH Bold Caps"/>
              </a:defRPr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4" name="Bildplatzhalter 6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4572000" y="1779662"/>
            <a:ext cx="4572000" cy="28796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TheSans UHH"/>
              </a:defRPr>
            </a:lvl1pPr>
          </a:lstStyle>
          <a:p>
            <a:pPr>
              <a:defRPr/>
            </a:pPr>
            <a:r>
              <a:rPr lang="de-DE"/>
              <a:t>Bild einfügen und mit Alternativtext versehen</a:t>
            </a:r>
            <a:endParaRPr/>
          </a:p>
        </p:txBody>
      </p:sp>
      <p:cxnSp>
        <p:nvCxnSpPr>
          <p:cNvPr id="6" name="Gerade Verbindung 5"/>
          <p:cNvCxnSpPr>
            <a:cxnSpLocks/>
          </p:cNvCxnSpPr>
          <p:nvPr userDrawn="1"/>
        </p:nvCxnSpPr>
        <p:spPr bwMode="auto">
          <a:xfrm>
            <a:off x="0" y="1059582"/>
            <a:ext cx="9144000" cy="0"/>
          </a:xfrm>
          <a:prstGeom prst="line">
            <a:avLst/>
          </a:prstGeom>
          <a:ln w="254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 bwMode="auto">
          <a:xfrm>
            <a:off x="6457949" y="4767263"/>
            <a:ext cx="2290513" cy="274637"/>
          </a:xfrm>
        </p:spPr>
        <p:txBody>
          <a:bodyPr/>
          <a:lstStyle/>
          <a:p>
            <a:pPr>
              <a:defRPr/>
            </a:pPr>
            <a:fld id="{59ECAD2F-F568-4BA2-B08A-3905237F9B58}" type="slidenum">
              <a:rPr lang="de-DE"/>
              <a:t>‹#›</a:t>
            </a:fld>
            <a:endParaRPr lang="de-DE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  <a:prstGeom prst="rect">
            <a:avLst/>
          </a:prstGeom>
        </p:spPr>
        <p:txBody>
          <a:bodyPr vert="horz" lIns="0" tIns="45720" rIns="90000" bIns="45720" rtlCol="0" anchor="ctr"/>
          <a:lstStyle>
            <a:lvl1pPr algn="l">
              <a:defRPr sz="1200">
                <a:solidFill>
                  <a:schemeClr val="tx1"/>
                </a:solidFill>
                <a:latin typeface="TheSans UHH"/>
              </a:defRPr>
            </a:lvl1pPr>
          </a:lstStyle>
          <a:p>
            <a:pPr>
              <a:defRPr/>
            </a:pPr>
            <a:r>
              <a:rPr lang="de-DE" dirty="0"/>
              <a:t>`05.10.2026</a:t>
            </a:r>
            <a:endParaRPr dirty="0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TheSans UHH"/>
              </a:defRPr>
            </a:lvl1pPr>
          </a:lstStyle>
          <a:p>
            <a:pPr>
              <a:defRPr/>
            </a:pPr>
            <a:r>
              <a:rPr lang="de-DE"/>
              <a:t>IAS Course Guidance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Bild_und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214768" y="1203598"/>
            <a:ext cx="8533695" cy="503882"/>
          </a:xfrm>
          <a:prstGeom prst="rect">
            <a:avLst/>
          </a:prstGeom>
        </p:spPr>
        <p:txBody>
          <a:bodyPr/>
          <a:lstStyle>
            <a:lvl1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600" b="1" i="0">
                <a:solidFill>
                  <a:schemeClr val="tx1"/>
                </a:solidFill>
                <a:latin typeface="TheSans UHH"/>
                <a:cs typeface="TheSans UHH"/>
              </a:defRPr>
            </a:lvl1pPr>
          </a:lstStyle>
          <a:p>
            <a:pPr>
              <a:defRPr/>
            </a:pPr>
            <a:r>
              <a:rPr lang="de-DE"/>
              <a:t>Hier steht die Folien-Überschrift</a:t>
            </a:r>
            <a:endParaRPr/>
          </a:p>
        </p:txBody>
      </p:sp>
      <p:sp>
        <p:nvSpPr>
          <p:cNvPr id="14" name="Bildplatzhalter 6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214768" y="1779662"/>
            <a:ext cx="4171028" cy="28796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TheSans UHH"/>
              </a:defRPr>
            </a:lvl1pPr>
          </a:lstStyle>
          <a:p>
            <a:pPr>
              <a:defRPr/>
            </a:pPr>
            <a:r>
              <a:rPr lang="de-DE"/>
              <a:t>Bild einfügen und mit Alternativtext versehen</a:t>
            </a:r>
            <a:endParaRPr/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14"/>
          </p:nvPr>
        </p:nvSpPr>
        <p:spPr bwMode="auto">
          <a:xfrm>
            <a:off x="4577435" y="1779662"/>
            <a:ext cx="4171028" cy="28803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atin typeface="TheSans UHH"/>
              </a:defRPr>
            </a:lvl1pPr>
            <a:lvl2pPr>
              <a:defRPr sz="2600">
                <a:latin typeface="TheSans UHH Bold Caps"/>
              </a:defRPr>
            </a:lvl2pPr>
            <a:lvl3pPr>
              <a:defRPr sz="2600">
                <a:latin typeface="TheSans UHH Bold Caps"/>
              </a:defRPr>
            </a:lvl3pPr>
            <a:lvl4pPr>
              <a:defRPr sz="2600">
                <a:latin typeface="TheSans UHH Bold Caps"/>
              </a:defRPr>
            </a:lvl4pPr>
            <a:lvl5pPr>
              <a:defRPr sz="2600">
                <a:latin typeface="TheSans UHH Bold Caps"/>
              </a:defRPr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cxnSp>
        <p:nvCxnSpPr>
          <p:cNvPr id="6" name="Gerade Verbindung 5"/>
          <p:cNvCxnSpPr>
            <a:cxnSpLocks/>
          </p:cNvCxnSpPr>
          <p:nvPr userDrawn="1"/>
        </p:nvCxnSpPr>
        <p:spPr bwMode="auto">
          <a:xfrm>
            <a:off x="0" y="1059582"/>
            <a:ext cx="9144000" cy="0"/>
          </a:xfrm>
          <a:prstGeom prst="line">
            <a:avLst/>
          </a:prstGeom>
          <a:ln w="254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 bwMode="auto">
          <a:xfrm>
            <a:off x="6457949" y="4767264"/>
            <a:ext cx="2290513" cy="273844"/>
          </a:xfrm>
        </p:spPr>
        <p:txBody>
          <a:bodyPr/>
          <a:lstStyle/>
          <a:p>
            <a:pPr>
              <a:defRPr/>
            </a:pPr>
            <a:fld id="{59ECAD2F-F568-4BA2-B08A-3905237F9B58}" type="slidenum">
              <a:rPr lang="de-DE"/>
              <a:t>‹#›</a:t>
            </a:fld>
            <a:endParaRPr lang="de-DE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  <a:prstGeom prst="rect">
            <a:avLst/>
          </a:prstGeom>
        </p:spPr>
        <p:txBody>
          <a:bodyPr vert="horz" lIns="0" tIns="45720" rIns="90000" bIns="45720" rtlCol="0" anchor="ctr"/>
          <a:lstStyle>
            <a:lvl1pPr algn="l">
              <a:defRPr sz="1200">
                <a:solidFill>
                  <a:schemeClr val="tx1"/>
                </a:solidFill>
                <a:latin typeface="TheSans UHH"/>
              </a:defRPr>
            </a:lvl1pPr>
          </a:lstStyle>
          <a:p>
            <a:pPr>
              <a:defRPr/>
            </a:pPr>
            <a:r>
              <a:rPr lang="de-DE" dirty="0"/>
              <a:t>`05.10.2026</a:t>
            </a:r>
            <a:endParaRPr dirty="0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TheSans UHH"/>
              </a:defRPr>
            </a:lvl1pPr>
          </a:lstStyle>
          <a:p>
            <a:pPr>
              <a:defRPr/>
            </a:pPr>
            <a:r>
              <a:rPr lang="de-DE"/>
              <a:t>IAS Course Guidance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ext_und_Tabel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214768" y="1203598"/>
            <a:ext cx="8533695" cy="503882"/>
          </a:xfrm>
          <a:prstGeom prst="rect">
            <a:avLst/>
          </a:prstGeom>
        </p:spPr>
        <p:txBody>
          <a:bodyPr/>
          <a:lstStyle>
            <a:lvl1pPr algn="l">
              <a:defRPr sz="2600" b="1" i="0">
                <a:solidFill>
                  <a:schemeClr val="tx1"/>
                </a:solidFill>
                <a:latin typeface="TheSans UHH"/>
                <a:cs typeface="TheSans UHH"/>
              </a:defRPr>
            </a:lvl1pPr>
          </a:lstStyle>
          <a:p>
            <a:pPr>
              <a:defRPr/>
            </a:pPr>
            <a:r>
              <a:rPr lang="de-DE"/>
              <a:t>Hier steht die Folien-Überschrift</a:t>
            </a:r>
            <a:endParaRPr/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14"/>
          </p:nvPr>
        </p:nvSpPr>
        <p:spPr bwMode="auto">
          <a:xfrm>
            <a:off x="214770" y="1779662"/>
            <a:ext cx="4171028" cy="28803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atin typeface="TheSans UHH"/>
              </a:defRPr>
            </a:lvl1pPr>
            <a:lvl2pPr>
              <a:defRPr sz="2600">
                <a:latin typeface="TheSans UHH Bold Caps"/>
              </a:defRPr>
            </a:lvl2pPr>
            <a:lvl3pPr>
              <a:defRPr sz="2600">
                <a:latin typeface="TheSans UHH Bold Caps"/>
              </a:defRPr>
            </a:lvl3pPr>
            <a:lvl4pPr>
              <a:defRPr sz="2600">
                <a:latin typeface="TheSans UHH Bold Caps"/>
              </a:defRPr>
            </a:lvl4pPr>
            <a:lvl5pPr>
              <a:defRPr sz="2600">
                <a:latin typeface="TheSans UHH Bold Caps"/>
              </a:defRPr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2" name="Tabellenplatzhalter 11"/>
          <p:cNvSpPr>
            <a:spLocks noGrp="1"/>
          </p:cNvSpPr>
          <p:nvPr>
            <p:ph type="tbl" sz="quarter" idx="16" hasCustomPrompt="1"/>
          </p:nvPr>
        </p:nvSpPr>
        <p:spPr bwMode="auto">
          <a:xfrm>
            <a:off x="4572000" y="1779662"/>
            <a:ext cx="4176713" cy="28796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TheSans UHH"/>
              </a:defRPr>
            </a:lvl1pPr>
          </a:lstStyle>
          <a:p>
            <a:pPr>
              <a:defRPr/>
            </a:pPr>
            <a:r>
              <a:rPr lang="de-DE"/>
              <a:t>Tabelle mit Alternativtext</a:t>
            </a:r>
            <a:endParaRPr/>
          </a:p>
        </p:txBody>
      </p:sp>
      <p:cxnSp>
        <p:nvCxnSpPr>
          <p:cNvPr id="6" name="Gerade Verbindung 5"/>
          <p:cNvCxnSpPr>
            <a:cxnSpLocks/>
          </p:cNvCxnSpPr>
          <p:nvPr userDrawn="1"/>
        </p:nvCxnSpPr>
        <p:spPr bwMode="auto">
          <a:xfrm>
            <a:off x="0" y="1059582"/>
            <a:ext cx="9144000" cy="0"/>
          </a:xfrm>
          <a:prstGeom prst="line">
            <a:avLst/>
          </a:prstGeom>
          <a:ln w="254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liennummernplatzhalter 4"/>
          <p:cNvSpPr>
            <a:spLocks noGrp="1"/>
          </p:cNvSpPr>
          <p:nvPr>
            <p:ph type="sldNum" sz="quarter" idx="19"/>
          </p:nvPr>
        </p:nvSpPr>
        <p:spPr bwMode="auto">
          <a:xfrm>
            <a:off x="6457949" y="4767263"/>
            <a:ext cx="2290513" cy="274637"/>
          </a:xfrm>
        </p:spPr>
        <p:txBody>
          <a:bodyPr/>
          <a:lstStyle/>
          <a:p>
            <a:pPr>
              <a:defRPr/>
            </a:pPr>
            <a:fld id="{59ECAD2F-F568-4BA2-B08A-3905237F9B58}" type="slidenum">
              <a:rPr lang="de-DE"/>
              <a:t>‹#›</a:t>
            </a:fld>
            <a:endParaRPr lang="de-DE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  <a:prstGeom prst="rect">
            <a:avLst/>
          </a:prstGeom>
        </p:spPr>
        <p:txBody>
          <a:bodyPr vert="horz" lIns="0" tIns="45720" rIns="90000" bIns="45720" rtlCol="0" anchor="ctr"/>
          <a:lstStyle>
            <a:lvl1pPr algn="l">
              <a:defRPr sz="1200">
                <a:solidFill>
                  <a:schemeClr val="tx1"/>
                </a:solidFill>
                <a:latin typeface="TheSans UHH"/>
              </a:defRPr>
            </a:lvl1pPr>
          </a:lstStyle>
          <a:p>
            <a:pPr>
              <a:defRPr/>
            </a:pPr>
            <a:r>
              <a:rPr lang="de-DE" dirty="0"/>
              <a:t>`05.10.2026</a:t>
            </a:r>
            <a:endParaRPr dirty="0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TheSans UHH"/>
              </a:defRPr>
            </a:lvl1pPr>
          </a:lstStyle>
          <a:p>
            <a:pPr>
              <a:defRPr/>
            </a:pPr>
            <a:r>
              <a:rPr lang="de-DE"/>
              <a:t>IAS Course Guidance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Grafiken_Tabellen_Bilder_unischtbare_Headlin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Inhaltsplatzhalter 21"/>
          <p:cNvSpPr>
            <a:spLocks noGrp="1"/>
          </p:cNvSpPr>
          <p:nvPr>
            <p:ph sz="quarter" idx="13" hasCustomPrompt="1"/>
          </p:nvPr>
        </p:nvSpPr>
        <p:spPr bwMode="auto">
          <a:xfrm>
            <a:off x="323528" y="1347614"/>
            <a:ext cx="8425185" cy="331236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>
                <a:latin typeface="TheSans UHH"/>
              </a:defRPr>
            </a:lvl1pPr>
            <a:lvl2pPr>
              <a:defRPr sz="2600">
                <a:latin typeface="TheSans UHH"/>
              </a:defRPr>
            </a:lvl2pPr>
            <a:lvl3pPr>
              <a:defRPr sz="2600">
                <a:latin typeface="TheSans UHH"/>
              </a:defRPr>
            </a:lvl3pPr>
            <a:lvl4pPr>
              <a:defRPr sz="2600">
                <a:latin typeface="TheSans UHH"/>
              </a:defRPr>
            </a:lvl4pPr>
            <a:lvl5pPr>
              <a:defRPr sz="2600">
                <a:latin typeface="TheSans UHH"/>
              </a:defRPr>
            </a:lvl5pPr>
          </a:lstStyle>
          <a:p>
            <a:pPr lvl="0">
              <a:defRPr/>
            </a:pPr>
            <a:r>
              <a:rPr lang="de-DE"/>
              <a:t>Grafiken, Tabellen, Bilder, etc. Bitte mit Alternativtext versehen.</a:t>
            </a:r>
            <a:endParaRPr/>
          </a:p>
        </p:txBody>
      </p:sp>
      <p:cxnSp>
        <p:nvCxnSpPr>
          <p:cNvPr id="6" name="Gerade Verbindung 5"/>
          <p:cNvCxnSpPr>
            <a:cxnSpLocks/>
          </p:cNvCxnSpPr>
          <p:nvPr userDrawn="1"/>
        </p:nvCxnSpPr>
        <p:spPr bwMode="auto">
          <a:xfrm>
            <a:off x="0" y="1059582"/>
            <a:ext cx="9144000" cy="0"/>
          </a:xfrm>
          <a:prstGeom prst="line">
            <a:avLst/>
          </a:prstGeom>
          <a:ln w="254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oliennummernplatzhalter 3"/>
          <p:cNvSpPr>
            <a:spLocks noGrp="1"/>
          </p:cNvSpPr>
          <p:nvPr>
            <p:ph type="sldNum" sz="quarter" idx="16"/>
          </p:nvPr>
        </p:nvSpPr>
        <p:spPr bwMode="auto">
          <a:xfrm>
            <a:off x="6457949" y="4767263"/>
            <a:ext cx="2290763" cy="274637"/>
          </a:xfrm>
        </p:spPr>
        <p:txBody>
          <a:bodyPr/>
          <a:lstStyle/>
          <a:p>
            <a:pPr>
              <a:defRPr/>
            </a:pPr>
            <a:fld id="{59ECAD2F-F568-4BA2-B08A-3905237F9B58}" type="slidenum">
              <a:rPr lang="de-DE"/>
              <a:t>‹#›</a:t>
            </a:fld>
            <a:endParaRPr lang="de-DE"/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  <a:prstGeom prst="rect">
            <a:avLst/>
          </a:prstGeom>
        </p:spPr>
        <p:txBody>
          <a:bodyPr vert="horz" lIns="0" tIns="45720" rIns="90000" bIns="45720" rtlCol="0" anchor="ctr"/>
          <a:lstStyle>
            <a:lvl1pPr algn="l">
              <a:defRPr sz="1200">
                <a:solidFill>
                  <a:schemeClr val="tx1"/>
                </a:solidFill>
                <a:latin typeface="TheSans UHH"/>
              </a:defRPr>
            </a:lvl1pPr>
          </a:lstStyle>
          <a:p>
            <a:pPr>
              <a:defRPr/>
            </a:pPr>
            <a:r>
              <a:rPr lang="de-DE" dirty="0"/>
              <a:t>`05.10.2026</a:t>
            </a:r>
            <a:endParaRPr dirty="0"/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TheSans UHH"/>
              </a:defRPr>
            </a:lvl1pPr>
          </a:lstStyle>
          <a:p>
            <a:pPr>
              <a:defRPr/>
            </a:pPr>
            <a:r>
              <a:rPr lang="de-DE"/>
              <a:t>IAS Course Guidance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Kapitelfolie_einfarbiger_HG_Hellbla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 userDrawn="1"/>
        </p:nvSpPr>
        <p:spPr bwMode="auto">
          <a:xfrm>
            <a:off x="0" y="1052006"/>
            <a:ext cx="9144000" cy="409149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endParaRPr lang="de-DE">
              <a:latin typeface="TheSans UHH"/>
            </a:endParaRPr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251520" y="3994928"/>
            <a:ext cx="8096400" cy="1015200"/>
          </a:xfrm>
          <a:prstGeom prst="rect">
            <a:avLst/>
          </a:prstGeom>
        </p:spPr>
        <p:txBody>
          <a:bodyPr/>
          <a:lstStyle>
            <a:lvl1pPr algn="l">
              <a:defRPr sz="3000" b="1" i="0">
                <a:solidFill>
                  <a:schemeClr val="bg1"/>
                </a:solidFill>
                <a:latin typeface="TheSans UHH"/>
                <a:cs typeface="TheSans UHH"/>
              </a:defRPr>
            </a:lvl1pPr>
          </a:lstStyle>
          <a:p>
            <a:pPr>
              <a:defRPr/>
            </a:pPr>
            <a:r>
              <a:rPr lang="de-DE"/>
              <a:t>Hier steht die Headline des nachfolgenden Kapitels</a:t>
            </a:r>
            <a:endParaRPr/>
          </a:p>
        </p:txBody>
      </p:sp>
      <p:cxnSp>
        <p:nvCxnSpPr>
          <p:cNvPr id="5" name="Gerade Verbindung 4"/>
          <p:cNvCxnSpPr>
            <a:cxnSpLocks/>
          </p:cNvCxnSpPr>
          <p:nvPr userDrawn="1"/>
        </p:nvCxnSpPr>
        <p:spPr bwMode="auto">
          <a:xfrm>
            <a:off x="0" y="3988132"/>
            <a:ext cx="8172400" cy="0"/>
          </a:xfrm>
          <a:prstGeom prst="line">
            <a:avLst/>
          </a:prstGeom>
          <a:noFill/>
          <a:ln w="38100" cap="flat" cmpd="sng" algn="ctr">
            <a:solidFill>
              <a:schemeClr val="bg1"/>
            </a:solidFill>
            <a:prstDash val="solid"/>
          </a:ln>
          <a:effectLst/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Kapitelfolie_einfarbiger_HG_weiß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251520" y="3994928"/>
            <a:ext cx="8096400" cy="1015200"/>
          </a:xfrm>
          <a:prstGeom prst="rect">
            <a:avLst/>
          </a:prstGeom>
        </p:spPr>
        <p:txBody>
          <a:bodyPr/>
          <a:lstStyle>
            <a:lvl1pPr algn="l">
              <a:defRPr sz="3000" b="1" i="0">
                <a:solidFill>
                  <a:schemeClr val="tx1"/>
                </a:solidFill>
                <a:latin typeface="TheSans UHH"/>
                <a:cs typeface="TheSans UHH"/>
              </a:defRPr>
            </a:lvl1pPr>
          </a:lstStyle>
          <a:p>
            <a:pPr>
              <a:defRPr/>
            </a:pPr>
            <a:r>
              <a:rPr lang="de-DE"/>
              <a:t>Hier steht die Headline des nachfolgenden Kapitels</a:t>
            </a:r>
            <a:endParaRPr/>
          </a:p>
        </p:txBody>
      </p:sp>
      <p:cxnSp>
        <p:nvCxnSpPr>
          <p:cNvPr id="4" name="Gerade Verbindung 3"/>
          <p:cNvCxnSpPr>
            <a:cxnSpLocks/>
          </p:cNvCxnSpPr>
          <p:nvPr userDrawn="1"/>
        </p:nvCxnSpPr>
        <p:spPr bwMode="auto">
          <a:xfrm>
            <a:off x="0" y="3988132"/>
            <a:ext cx="8172400" cy="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</a:ln>
          <a:effectLst/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Leerseite_unsichtbare_Headlin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6" name="Gerade Verbindung 5"/>
          <p:cNvCxnSpPr>
            <a:cxnSpLocks/>
          </p:cNvCxnSpPr>
          <p:nvPr userDrawn="1"/>
        </p:nvCxnSpPr>
        <p:spPr bwMode="auto">
          <a:xfrm>
            <a:off x="0" y="1059582"/>
            <a:ext cx="9144000" cy="0"/>
          </a:xfrm>
          <a:prstGeom prst="line">
            <a:avLst/>
          </a:prstGeom>
          <a:ln w="254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 bwMode="auto">
          <a:xfrm>
            <a:off x="6614863" y="4767263"/>
            <a:ext cx="21336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E01A2B2-10AD-754B-9B4C-E5B6FED423D0}" type="slidenum">
              <a:rPr lang="de-DE"/>
              <a:t>‹#›</a:t>
            </a:fld>
            <a:endParaRPr lang="de-DE"/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  <a:prstGeom prst="rect">
            <a:avLst/>
          </a:prstGeom>
        </p:spPr>
        <p:txBody>
          <a:bodyPr vert="horz" lIns="0" tIns="45720" rIns="90000" bIns="45720" rtlCol="0" anchor="ctr"/>
          <a:lstStyle>
            <a:lvl1pPr algn="l">
              <a:defRPr sz="1200">
                <a:solidFill>
                  <a:schemeClr val="tx1"/>
                </a:solidFill>
                <a:latin typeface="TheSans UHH"/>
              </a:defRPr>
            </a:lvl1pPr>
          </a:lstStyle>
          <a:p>
            <a:pPr>
              <a:defRPr/>
            </a:pPr>
            <a:r>
              <a:rPr lang="de-DE" dirty="0"/>
              <a:t>`05.10.2026</a:t>
            </a:r>
            <a:endParaRPr dirty="0"/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TheSans UHH"/>
              </a:defRPr>
            </a:lvl1pPr>
          </a:lstStyle>
          <a:p>
            <a:pPr>
              <a:defRPr/>
            </a:pPr>
            <a:r>
              <a:rPr lang="de-DE"/>
              <a:t>IAS Course Guidance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a_Titelfolie_einfarbiger_HG_Steingra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 userDrawn="1"/>
        </p:nvSpPr>
        <p:spPr bwMode="auto">
          <a:xfrm>
            <a:off x="0" y="1052006"/>
            <a:ext cx="9144000" cy="4091494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0">
                <a:srgbClr val="3B515B"/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endParaRPr lang="de-DE">
              <a:latin typeface="TheSans UHH"/>
            </a:endParaRPr>
          </a:p>
        </p:txBody>
      </p:sp>
      <p:sp>
        <p:nvSpPr>
          <p:cNvPr id="10" name="Textplatzhalter 1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250824" y="3579862"/>
            <a:ext cx="4825231" cy="370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TheSans UHH"/>
                <a:cs typeface="TheSans UHH"/>
              </a:defRPr>
            </a:lvl1pPr>
            <a:lvl2pPr marL="457200" indent="0">
              <a:buNone/>
              <a:defRPr sz="2000">
                <a:solidFill>
                  <a:srgbClr val="FFFFFF"/>
                </a:solidFill>
                <a:latin typeface="TheSans Uhh Bold Caps"/>
                <a:cs typeface="TheSans Uhh Bold Caps"/>
              </a:defRPr>
            </a:lvl2pPr>
            <a:lvl3pPr marL="914400" indent="0">
              <a:buNone/>
              <a:defRPr sz="2000">
                <a:solidFill>
                  <a:srgbClr val="FFFFFF"/>
                </a:solidFill>
                <a:latin typeface="TheSans Uhh Bold Caps"/>
                <a:cs typeface="TheSans Uhh Bold Caps"/>
              </a:defRPr>
            </a:lvl3pPr>
            <a:lvl4pPr marL="1371600" indent="0">
              <a:buNone/>
              <a:defRPr sz="2000">
                <a:solidFill>
                  <a:srgbClr val="FFFFFF"/>
                </a:solidFill>
                <a:latin typeface="TheSans Uhh Bold Caps"/>
                <a:cs typeface="TheSans Uhh Bold Caps"/>
              </a:defRPr>
            </a:lvl4pPr>
            <a:lvl5pPr marL="1828800" indent="0">
              <a:buNone/>
              <a:defRPr sz="2000">
                <a:solidFill>
                  <a:srgbClr val="FFFFFF"/>
                </a:solidFill>
                <a:latin typeface="TheSans Uhh Bold Caps"/>
                <a:cs typeface="TheSans Uhh Bold Caps"/>
              </a:defRPr>
            </a:lvl5pPr>
          </a:lstStyle>
          <a:p>
            <a:pPr lvl="0">
              <a:defRPr/>
            </a:pPr>
            <a:r>
              <a:rPr lang="de-DE"/>
              <a:t>Name des Referenten/der Referentin</a:t>
            </a:r>
            <a:endParaRPr/>
          </a:p>
        </p:txBody>
      </p:sp>
      <p:sp>
        <p:nvSpPr>
          <p:cNvPr id="9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251520" y="3994928"/>
            <a:ext cx="8096400" cy="1015200"/>
          </a:xfrm>
          <a:prstGeom prst="rect">
            <a:avLst/>
          </a:prstGeom>
        </p:spPr>
        <p:txBody>
          <a:bodyPr/>
          <a:lstStyle>
            <a:lvl1pPr algn="l">
              <a:defRPr sz="3000" b="1" i="0">
                <a:solidFill>
                  <a:schemeClr val="bg1"/>
                </a:solidFill>
                <a:latin typeface="TheSans UHH"/>
                <a:cs typeface="TheSans UHH"/>
              </a:defRPr>
            </a:lvl1pPr>
          </a:lstStyle>
          <a:p>
            <a:pPr>
              <a:defRPr/>
            </a:pPr>
            <a:r>
              <a:rPr lang="de-DE"/>
              <a:t>Dies ist ein Blindtext. Hier steht die Headline oder der Name der Veranstaltung</a:t>
            </a:r>
            <a:endParaRPr/>
          </a:p>
        </p:txBody>
      </p:sp>
      <p:cxnSp>
        <p:nvCxnSpPr>
          <p:cNvPr id="8" name="Gerade Verbindung 7"/>
          <p:cNvCxnSpPr>
            <a:cxnSpLocks/>
          </p:cNvCxnSpPr>
          <p:nvPr userDrawn="1"/>
        </p:nvCxnSpPr>
        <p:spPr bwMode="auto">
          <a:xfrm>
            <a:off x="0" y="3988132"/>
            <a:ext cx="8172400" cy="0"/>
          </a:xfrm>
          <a:prstGeom prst="line">
            <a:avLst/>
          </a:prstGeom>
          <a:noFill/>
          <a:ln w="38100" cap="flat" cmpd="sng" algn="ctr">
            <a:solidFill>
              <a:schemeClr val="bg1"/>
            </a:solidFill>
            <a:prstDash val="solid"/>
          </a:ln>
          <a:effectLst/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  <a:prstGeom prst="rect">
            <a:avLst/>
          </a:prstGeom>
        </p:spPr>
        <p:txBody>
          <a:bodyPr vert="horz" lIns="0" tIns="45720" rIns="90000" bIns="45720" rtlCol="0" anchor="ctr"/>
          <a:lstStyle>
            <a:lvl1pPr algn="l">
              <a:defRPr sz="1200">
                <a:solidFill>
                  <a:schemeClr val="tx1"/>
                </a:solidFill>
                <a:latin typeface="TheSans UHH"/>
              </a:defRPr>
            </a:lvl1pPr>
          </a:lstStyle>
          <a:p>
            <a:pPr>
              <a:defRPr/>
            </a:pPr>
            <a:r>
              <a:rPr lang="de-DE" dirty="0"/>
              <a:t>`05.10.2026</a:t>
            </a:r>
            <a:endParaRPr dirty="0"/>
          </a:p>
        </p:txBody>
      </p:sp>
      <p:sp>
        <p:nvSpPr>
          <p:cNvPr id="9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TheSans UHH"/>
              </a:defRPr>
            </a:lvl1pPr>
          </a:lstStyle>
          <a:p>
            <a:pPr>
              <a:defRPr/>
            </a:pPr>
            <a:r>
              <a:rPr lang="de-DE"/>
              <a:t>IAS Course Guidance</a:t>
            </a:r>
          </a:p>
        </p:txBody>
      </p:sp>
      <p:pic>
        <p:nvPicPr>
          <p:cNvPr id="11" name="UHH-Logo_2010_Farbe_RGB.png" descr="Bildbeschreibung: Es handelt sich um das Logo der Universität Hamburg auf weißem Hintergrund. Es besteht aus einem roten Quadrat auf der linken Seite, in dem in weißer Schrift oben links &quot;UHH&quot; steht und unten rechts das Wappen der Stadt Hamburg, eine Burg, abgebildet sind. Rechts neben dem Symbol steht &quot;Universität Hamburg&quot;. Unter dem Symbol und dem Schriftzug steht in Großbuchstaben und durch senkrechte Striche getrennt von links nach rechts: &quot;Der Forschung&quot;; &quot;Der Lehre&quot;; &quot;Der Bildung&quot;. " title="Logo der Universität Hamburg"/>
          <p:cNvPicPr>
            <a:picLocks noChangeAspect="1"/>
          </p:cNvPicPr>
          <p:nvPr userDrawn="1"/>
        </p:nvPicPr>
        <p:blipFill>
          <a:blip r:embed="rId19"/>
          <a:stretch/>
        </p:blipFill>
        <p:spPr bwMode="auto">
          <a:xfrm>
            <a:off x="0" y="-11609"/>
            <a:ext cx="1957550" cy="907591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3B515B"/>
                </a:solidFill>
                <a:latin typeface="TheSans UHH"/>
              </a:defRPr>
            </a:lvl1pPr>
          </a:lstStyle>
          <a:p>
            <a:pPr>
              <a:defRPr/>
            </a:pPr>
            <a:fld id="{59ECAD2F-F568-4BA2-B08A-3905237F9B58}" type="slidenum">
              <a:rPr lang="de-DE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/>
  <p:txStyles>
    <p:titleStyle>
      <a:lvl1pPr algn="ctr" defTabSz="4572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f.uni-hamburg.de/en/inst/groups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Name des Referenten / der Referentin"/>
          <p:cNvSpPr>
            <a:spLocks noGrp="1"/>
          </p:cNvSpPr>
          <p:nvPr>
            <p:ph type="body" sz="quarter" idx="10"/>
          </p:nvPr>
        </p:nvSpPr>
        <p:spPr bwMode="auto">
          <a:xfrm>
            <a:off x="239595" y="3507854"/>
            <a:ext cx="4825231" cy="370800"/>
          </a:xfrm>
        </p:spPr>
        <p:txBody>
          <a:bodyPr/>
          <a:lstStyle/>
          <a:p>
            <a:pPr>
              <a:defRPr/>
            </a:pPr>
            <a:r>
              <a:rPr lang="en-US" sz="2400"/>
              <a:t>Alhassan Abdelhalim</a:t>
            </a:r>
            <a:endParaRPr/>
          </a:p>
          <a:p>
            <a:pPr>
              <a:defRPr/>
            </a:pPr>
            <a:endParaRPr lang="en-US"/>
          </a:p>
        </p:txBody>
      </p:sp>
      <p:sp>
        <p:nvSpPr>
          <p:cNvPr id="2" name="Titel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/>
              <a:t>IAS Course Guidance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>
              <a:defRPr/>
            </a:pPr>
            <a:r>
              <a:rPr lang="en-US"/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05.10.2026</a:t>
            </a:r>
            <a:endParaRPr dirty="0"/>
          </a:p>
        </p:txBody>
      </p:sp>
      <p:sp>
        <p:nvSpPr>
          <p:cNvPr id="11" name="Titel 1"/>
          <p:cNvSpPr>
            <a:spLocks noGrp="1"/>
          </p:cNvSpPr>
          <p:nvPr>
            <p:ph type="title"/>
          </p:nvPr>
        </p:nvSpPr>
        <p:spPr bwMode="auto">
          <a:xfrm>
            <a:off x="214768" y="1203598"/>
            <a:ext cx="8533695" cy="503882"/>
          </a:xfrm>
        </p:spPr>
        <p:txBody>
          <a:bodyPr/>
          <a:lstStyle/>
          <a:p>
            <a:pPr>
              <a:defRPr/>
            </a:pPr>
            <a:r>
              <a:rPr lang="en-US"/>
              <a:t>Agenda</a:t>
            </a:r>
            <a:endParaRPr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6"/>
          </p:nvPr>
        </p:nvSpPr>
        <p:spPr bwMode="auto">
          <a:xfrm>
            <a:off x="214311" y="1779662"/>
            <a:ext cx="8534151" cy="2879651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Introduction</a:t>
            </a:r>
            <a:endParaRPr/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How do Modules at Informatik work? </a:t>
            </a:r>
            <a:endParaRPr/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Courses</a:t>
            </a:r>
            <a:endParaRPr/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If I had known…</a:t>
            </a:r>
            <a:endParaRPr/>
          </a:p>
          <a:p>
            <a:pPr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>
              <a:defRPr/>
            </a:pPr>
            <a:r>
              <a:rPr lang="en-US"/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05.10.2026</a:t>
            </a:r>
            <a:endParaRPr dirty="0"/>
          </a:p>
        </p:txBody>
      </p:sp>
      <p:sp>
        <p:nvSpPr>
          <p:cNvPr id="11" name="Titel 1"/>
          <p:cNvSpPr>
            <a:spLocks noGrp="1"/>
          </p:cNvSpPr>
          <p:nvPr>
            <p:ph type="title"/>
          </p:nvPr>
        </p:nvSpPr>
        <p:spPr bwMode="auto">
          <a:xfrm>
            <a:off x="214768" y="1203598"/>
            <a:ext cx="8533695" cy="503882"/>
          </a:xfrm>
        </p:spPr>
        <p:txBody>
          <a:bodyPr/>
          <a:lstStyle/>
          <a:p>
            <a:pPr>
              <a:defRPr/>
            </a:pPr>
            <a:r>
              <a:rPr lang="en-US"/>
              <a:t>Agenda</a:t>
            </a:r>
            <a:endParaRPr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6"/>
          </p:nvPr>
        </p:nvSpPr>
        <p:spPr bwMode="auto">
          <a:xfrm>
            <a:off x="214311" y="1779662"/>
            <a:ext cx="8534151" cy="2879651"/>
          </a:xfrm>
        </p:spPr>
        <p:txBody>
          <a:bodyPr/>
          <a:lstStyle/>
          <a:p>
            <a:pPr>
              <a:defRPr/>
            </a:pPr>
            <a:r>
              <a:rPr lang="en-US" b="1">
                <a:solidFill>
                  <a:srgbClr val="FF0000"/>
                </a:solidFill>
              </a:rPr>
              <a:t>Introduction</a:t>
            </a:r>
            <a:endParaRPr 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How do Modules at Informatik work? </a:t>
            </a:r>
            <a:endParaRPr/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Courses</a:t>
            </a:r>
            <a:endParaRPr/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If I had known…</a:t>
            </a:r>
            <a:endParaRPr/>
          </a:p>
          <a:p>
            <a:pPr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>
              <a:defRPr/>
            </a:pPr>
            <a:r>
              <a:rPr lang="en-US"/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05.10.2026</a:t>
            </a:r>
            <a:endParaRPr dirty="0"/>
          </a:p>
        </p:txBody>
      </p:sp>
      <p:sp>
        <p:nvSpPr>
          <p:cNvPr id="11" name="Titel 1"/>
          <p:cNvSpPr>
            <a:spLocks noGrp="1"/>
          </p:cNvSpPr>
          <p:nvPr>
            <p:ph type="title"/>
          </p:nvPr>
        </p:nvSpPr>
        <p:spPr bwMode="auto">
          <a:xfrm>
            <a:off x="214768" y="1203598"/>
            <a:ext cx="8533695" cy="503882"/>
          </a:xfrm>
        </p:spPr>
        <p:txBody>
          <a:bodyPr/>
          <a:lstStyle/>
          <a:p>
            <a:pPr>
              <a:defRPr/>
            </a:pPr>
            <a:r>
              <a:rPr lang="en-US"/>
              <a:t>Introduction (About me)</a:t>
            </a:r>
            <a:endParaRPr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6"/>
          </p:nvPr>
        </p:nvSpPr>
        <p:spPr bwMode="auto">
          <a:xfrm>
            <a:off x="160911" y="1942087"/>
            <a:ext cx="6283297" cy="2879651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Alhassan Abdelhalim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>
              <a:defRPr/>
            </a:pPr>
            <a:r>
              <a:rPr lang="en-US"/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05.10.2026</a:t>
            </a:r>
            <a:endParaRPr dirty="0"/>
          </a:p>
        </p:txBody>
      </p:sp>
      <p:sp>
        <p:nvSpPr>
          <p:cNvPr id="11" name="Titel 1"/>
          <p:cNvSpPr>
            <a:spLocks noGrp="1"/>
          </p:cNvSpPr>
          <p:nvPr>
            <p:ph type="title"/>
          </p:nvPr>
        </p:nvSpPr>
        <p:spPr bwMode="auto">
          <a:xfrm>
            <a:off x="214768" y="1203598"/>
            <a:ext cx="8533695" cy="503882"/>
          </a:xfrm>
        </p:spPr>
        <p:txBody>
          <a:bodyPr/>
          <a:lstStyle/>
          <a:p>
            <a:pPr>
              <a:defRPr/>
            </a:pPr>
            <a:r>
              <a:rPr lang="en-US"/>
              <a:t>Introduction (About me)</a:t>
            </a:r>
            <a:endParaRPr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6"/>
          </p:nvPr>
        </p:nvSpPr>
        <p:spPr bwMode="auto">
          <a:xfrm>
            <a:off x="160911" y="1942087"/>
            <a:ext cx="6283297" cy="2879651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Alhassan Abdelhalim (short version)  </a:t>
            </a:r>
            <a:endParaRPr/>
          </a:p>
        </p:txBody>
      </p:sp>
      <p:sp>
        <p:nvSpPr>
          <p:cNvPr id="2" name="TextBox 1"/>
          <p:cNvSpPr txBox="1"/>
          <p:nvPr/>
        </p:nvSpPr>
        <p:spPr bwMode="auto">
          <a:xfrm>
            <a:off x="5220072" y="1329501"/>
            <a:ext cx="29498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/>
              <a:t>Alhassan Ahmed Said Abdelhalim</a:t>
            </a:r>
            <a:endParaRPr lang="en-GB" sz="1600"/>
          </a:p>
        </p:txBody>
      </p:sp>
      <p:sp>
        <p:nvSpPr>
          <p:cNvPr id="3" name="TextBox 2"/>
          <p:cNvSpPr txBox="1"/>
          <p:nvPr/>
        </p:nvSpPr>
        <p:spPr bwMode="auto">
          <a:xfrm>
            <a:off x="6306907" y="1755566"/>
            <a:ext cx="7761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/>
              <a:t>Hassan</a:t>
            </a:r>
            <a:endParaRPr lang="en-GB" sz="16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>
              <a:defRPr/>
            </a:pPr>
            <a:r>
              <a:rPr lang="en-US"/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05.10.2026</a:t>
            </a:r>
            <a:endParaRPr dirty="0"/>
          </a:p>
        </p:txBody>
      </p:sp>
      <p:sp>
        <p:nvSpPr>
          <p:cNvPr id="11" name="Titel 1"/>
          <p:cNvSpPr>
            <a:spLocks noGrp="1"/>
          </p:cNvSpPr>
          <p:nvPr>
            <p:ph type="title"/>
          </p:nvPr>
        </p:nvSpPr>
        <p:spPr bwMode="auto">
          <a:xfrm>
            <a:off x="214768" y="1203598"/>
            <a:ext cx="8533695" cy="503882"/>
          </a:xfrm>
        </p:spPr>
        <p:txBody>
          <a:bodyPr/>
          <a:lstStyle/>
          <a:p>
            <a:pPr>
              <a:defRPr/>
            </a:pPr>
            <a:r>
              <a:rPr lang="en-US"/>
              <a:t>Introduction (About me)</a:t>
            </a:r>
            <a:endParaRPr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6"/>
          </p:nvPr>
        </p:nvSpPr>
        <p:spPr bwMode="auto">
          <a:xfrm>
            <a:off x="160911" y="1942087"/>
            <a:ext cx="6283297" cy="629663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Alhassan Abdelhalim (short version)  </a:t>
            </a:r>
            <a:endParaRPr/>
          </a:p>
        </p:txBody>
      </p:sp>
      <p:sp>
        <p:nvSpPr>
          <p:cNvPr id="2" name="TextBox 1"/>
          <p:cNvSpPr txBox="1"/>
          <p:nvPr/>
        </p:nvSpPr>
        <p:spPr bwMode="auto">
          <a:xfrm>
            <a:off x="5220072" y="1329501"/>
            <a:ext cx="29498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/>
              <a:t>Alhassan Ahmed Said Abdelhalim</a:t>
            </a:r>
            <a:endParaRPr lang="en-GB" sz="1600"/>
          </a:p>
        </p:txBody>
      </p:sp>
      <p:sp>
        <p:nvSpPr>
          <p:cNvPr id="3" name="TextBox 2"/>
          <p:cNvSpPr txBox="1"/>
          <p:nvPr/>
        </p:nvSpPr>
        <p:spPr bwMode="auto">
          <a:xfrm>
            <a:off x="6306907" y="1755566"/>
            <a:ext cx="1104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 dirty="0"/>
              <a:t>Hassan 👍</a:t>
            </a:r>
            <a:endParaRPr lang="en-GB" sz="1600" dirty="0"/>
          </a:p>
        </p:txBody>
      </p:sp>
      <p:sp>
        <p:nvSpPr>
          <p:cNvPr id="4" name="Textplatzhalter 2"/>
          <p:cNvSpPr txBox="1"/>
          <p:nvPr/>
        </p:nvSpPr>
        <p:spPr bwMode="auto">
          <a:xfrm>
            <a:off x="160911" y="2573599"/>
            <a:ext cx="2296539" cy="629663"/>
          </a:xfrm>
          <a:prstGeom prst="rect">
            <a:avLst/>
          </a:prstGeom>
        </p:spPr>
        <p:txBody>
          <a:bodyPr vert="horz"/>
          <a:lstStyle>
            <a:lvl1pPr marL="180000" indent="-180000" algn="l" defTabSz="457200">
              <a:spcBef>
                <a:spcPts val="1450"/>
              </a:spcBef>
              <a:buClr>
                <a:schemeClr val="tx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1pPr>
            <a:lvl2pPr marL="360000" indent="-180000" algn="l" defTabSz="457200">
              <a:spcBef>
                <a:spcPts val="0"/>
              </a:spcBef>
              <a:buClr>
                <a:schemeClr val="bg2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2pPr>
            <a:lvl3pPr marL="540000" indent="-180000" algn="l" defTabSz="457200">
              <a:spcBef>
                <a:spcPts val="0"/>
              </a:spcBef>
              <a:buClr>
                <a:schemeClr val="bg2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3pPr>
            <a:lvl4pPr marL="180000" indent="-180000" algn="l" defTabSz="457200">
              <a:spcBef>
                <a:spcPts val="0"/>
              </a:spcBef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ea typeface="+mn-ea"/>
                <a:cs typeface="TheSans UHH Regular"/>
              </a:defRPr>
            </a:lvl4pPr>
            <a:lvl5pPr marL="180000" indent="-180000" algn="l" defTabSz="457200">
              <a:spcBef>
                <a:spcPts val="0"/>
              </a:spcBef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ea typeface="+mn-ea"/>
                <a:cs typeface="TheSans UHH Regular"/>
              </a:defRPr>
            </a:lvl5pPr>
            <a:lvl6pPr marL="25146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From Egypt</a:t>
            </a:r>
            <a:endParaRPr/>
          </a:p>
        </p:txBody>
      </p:sp>
      <p:pic>
        <p:nvPicPr>
          <p:cNvPr id="1026" name="Picture 2" descr="Where to Stay In Aswan: Best Accommodation for All Budgets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5436096" y="2256918"/>
            <a:ext cx="3175992" cy="1984995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 bwMode="auto">
          <a:xfrm>
            <a:off x="6373914" y="4335311"/>
            <a:ext cx="13003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/>
              <a:t>Aswan, Egypt</a:t>
            </a:r>
            <a:endParaRPr lang="en-GB" sz="16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>
              <a:defRPr/>
            </a:pPr>
            <a:r>
              <a:rPr lang="en-US"/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05.10.2026</a:t>
            </a:r>
            <a:endParaRPr dirty="0"/>
          </a:p>
        </p:txBody>
      </p:sp>
      <p:sp>
        <p:nvSpPr>
          <p:cNvPr id="11" name="Titel 1"/>
          <p:cNvSpPr>
            <a:spLocks noGrp="1"/>
          </p:cNvSpPr>
          <p:nvPr>
            <p:ph type="title"/>
          </p:nvPr>
        </p:nvSpPr>
        <p:spPr bwMode="auto">
          <a:xfrm>
            <a:off x="214768" y="1203598"/>
            <a:ext cx="8533695" cy="503882"/>
          </a:xfrm>
        </p:spPr>
        <p:txBody>
          <a:bodyPr/>
          <a:lstStyle/>
          <a:p>
            <a:pPr>
              <a:defRPr/>
            </a:pPr>
            <a:r>
              <a:rPr lang="en-US"/>
              <a:t>Introduction (About me)</a:t>
            </a:r>
            <a:endParaRPr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6"/>
          </p:nvPr>
        </p:nvSpPr>
        <p:spPr bwMode="auto">
          <a:xfrm>
            <a:off x="160911" y="1942087"/>
            <a:ext cx="6283297" cy="629663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Alhassan Abdelhalim (short version)  </a:t>
            </a:r>
            <a:endParaRPr/>
          </a:p>
        </p:txBody>
      </p:sp>
      <p:sp>
        <p:nvSpPr>
          <p:cNvPr id="2" name="TextBox 1"/>
          <p:cNvSpPr txBox="1"/>
          <p:nvPr/>
        </p:nvSpPr>
        <p:spPr bwMode="auto">
          <a:xfrm>
            <a:off x="5220072" y="1329501"/>
            <a:ext cx="29498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/>
              <a:t>Alhassan Ahmed Said Abdelhalim</a:t>
            </a:r>
            <a:endParaRPr lang="en-GB" sz="1600"/>
          </a:p>
        </p:txBody>
      </p:sp>
      <p:sp>
        <p:nvSpPr>
          <p:cNvPr id="3" name="TextBox 2"/>
          <p:cNvSpPr txBox="1"/>
          <p:nvPr/>
        </p:nvSpPr>
        <p:spPr bwMode="auto">
          <a:xfrm>
            <a:off x="6306907" y="1755566"/>
            <a:ext cx="1104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 dirty="0"/>
              <a:t>Hassan 👍</a:t>
            </a:r>
            <a:endParaRPr lang="en-GB" sz="1600" dirty="0"/>
          </a:p>
        </p:txBody>
      </p:sp>
      <p:sp>
        <p:nvSpPr>
          <p:cNvPr id="4" name="Textplatzhalter 2"/>
          <p:cNvSpPr txBox="1"/>
          <p:nvPr/>
        </p:nvSpPr>
        <p:spPr bwMode="auto">
          <a:xfrm>
            <a:off x="160911" y="2573599"/>
            <a:ext cx="4636311" cy="629663"/>
          </a:xfrm>
          <a:prstGeom prst="rect">
            <a:avLst/>
          </a:prstGeom>
        </p:spPr>
        <p:txBody>
          <a:bodyPr vert="horz"/>
          <a:lstStyle>
            <a:lvl1pPr marL="180000" indent="-180000" algn="l" defTabSz="457200">
              <a:spcBef>
                <a:spcPts val="1450"/>
              </a:spcBef>
              <a:buClr>
                <a:schemeClr val="tx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1pPr>
            <a:lvl2pPr marL="360000" indent="-180000" algn="l" defTabSz="457200">
              <a:spcBef>
                <a:spcPts val="0"/>
              </a:spcBef>
              <a:buClr>
                <a:schemeClr val="bg2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2pPr>
            <a:lvl3pPr marL="540000" indent="-180000" algn="l" defTabSz="457200">
              <a:spcBef>
                <a:spcPts val="0"/>
              </a:spcBef>
              <a:buClr>
                <a:schemeClr val="bg2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3pPr>
            <a:lvl4pPr marL="180000" indent="-180000" algn="l" defTabSz="457200">
              <a:spcBef>
                <a:spcPts val="0"/>
              </a:spcBef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ea typeface="+mn-ea"/>
                <a:cs typeface="TheSans UHH Regular"/>
              </a:defRPr>
            </a:lvl4pPr>
            <a:lvl5pPr marL="180000" indent="-180000" algn="l" defTabSz="457200">
              <a:spcBef>
                <a:spcPts val="0"/>
              </a:spcBef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ea typeface="+mn-ea"/>
                <a:cs typeface="TheSans UHH Regular"/>
              </a:defRPr>
            </a:lvl5pPr>
            <a:lvl6pPr marL="25146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From Egypt </a:t>
            </a:r>
            <a:r>
              <a:rPr lang="en-US" b="1">
                <a:solidFill>
                  <a:srgbClr val="FF0000"/>
                </a:solidFill>
              </a:rPr>
              <a:t>(did NOT graduate from the German university in Cairo)</a:t>
            </a:r>
            <a:endParaRPr/>
          </a:p>
        </p:txBody>
      </p:sp>
      <p:pic>
        <p:nvPicPr>
          <p:cNvPr id="1026" name="Picture 2" descr="Where to Stay In Aswan: Best Accommodation for All Budgets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5436096" y="2256918"/>
            <a:ext cx="3175992" cy="1984995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 bwMode="auto">
          <a:xfrm>
            <a:off x="6373914" y="4335311"/>
            <a:ext cx="13003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/>
              <a:t>Aswan, Egypt</a:t>
            </a:r>
            <a:endParaRPr lang="en-GB" sz="16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>
              <a:defRPr/>
            </a:pPr>
            <a:r>
              <a:rPr lang="en-US"/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05.10.2026</a:t>
            </a:r>
            <a:endParaRPr dirty="0"/>
          </a:p>
        </p:txBody>
      </p:sp>
      <p:sp>
        <p:nvSpPr>
          <p:cNvPr id="11" name="Titel 1"/>
          <p:cNvSpPr>
            <a:spLocks noGrp="1"/>
          </p:cNvSpPr>
          <p:nvPr>
            <p:ph type="title"/>
          </p:nvPr>
        </p:nvSpPr>
        <p:spPr bwMode="auto">
          <a:xfrm>
            <a:off x="214768" y="1203598"/>
            <a:ext cx="8533695" cy="503882"/>
          </a:xfrm>
        </p:spPr>
        <p:txBody>
          <a:bodyPr/>
          <a:lstStyle/>
          <a:p>
            <a:pPr>
              <a:defRPr/>
            </a:pPr>
            <a:r>
              <a:rPr lang="en-US"/>
              <a:t>Introduction (About me)</a:t>
            </a:r>
            <a:endParaRPr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6"/>
          </p:nvPr>
        </p:nvSpPr>
        <p:spPr bwMode="auto">
          <a:xfrm>
            <a:off x="160911" y="1942087"/>
            <a:ext cx="6283297" cy="629663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Alhassan Abdelhalim (short version)  </a:t>
            </a:r>
            <a:endParaRPr/>
          </a:p>
        </p:txBody>
      </p:sp>
      <p:sp>
        <p:nvSpPr>
          <p:cNvPr id="2" name="TextBox 1"/>
          <p:cNvSpPr txBox="1"/>
          <p:nvPr/>
        </p:nvSpPr>
        <p:spPr bwMode="auto">
          <a:xfrm>
            <a:off x="5220072" y="1329501"/>
            <a:ext cx="29498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/>
              <a:t>Alhassan Ahmed Said Abdelhalim</a:t>
            </a:r>
            <a:endParaRPr lang="en-GB" sz="1600"/>
          </a:p>
        </p:txBody>
      </p:sp>
      <p:sp>
        <p:nvSpPr>
          <p:cNvPr id="3" name="TextBox 2"/>
          <p:cNvSpPr txBox="1"/>
          <p:nvPr/>
        </p:nvSpPr>
        <p:spPr bwMode="auto">
          <a:xfrm>
            <a:off x="6306907" y="1755566"/>
            <a:ext cx="1104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 dirty="0"/>
              <a:t>Hassan 👍</a:t>
            </a:r>
            <a:endParaRPr lang="en-GB" sz="1600" dirty="0"/>
          </a:p>
        </p:txBody>
      </p:sp>
      <p:sp>
        <p:nvSpPr>
          <p:cNvPr id="4" name="Textplatzhalter 2"/>
          <p:cNvSpPr txBox="1"/>
          <p:nvPr/>
        </p:nvSpPr>
        <p:spPr bwMode="auto">
          <a:xfrm>
            <a:off x="160911" y="2573599"/>
            <a:ext cx="4636311" cy="629663"/>
          </a:xfrm>
          <a:prstGeom prst="rect">
            <a:avLst/>
          </a:prstGeom>
        </p:spPr>
        <p:txBody>
          <a:bodyPr vert="horz"/>
          <a:lstStyle>
            <a:lvl1pPr marL="180000" indent="-180000" algn="l" defTabSz="457200">
              <a:spcBef>
                <a:spcPts val="1450"/>
              </a:spcBef>
              <a:buClr>
                <a:schemeClr val="tx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1pPr>
            <a:lvl2pPr marL="360000" indent="-180000" algn="l" defTabSz="457200">
              <a:spcBef>
                <a:spcPts val="0"/>
              </a:spcBef>
              <a:buClr>
                <a:schemeClr val="bg2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2pPr>
            <a:lvl3pPr marL="540000" indent="-180000" algn="l" defTabSz="457200">
              <a:spcBef>
                <a:spcPts val="0"/>
              </a:spcBef>
              <a:buClr>
                <a:schemeClr val="bg2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3pPr>
            <a:lvl4pPr marL="180000" indent="-180000" algn="l" defTabSz="457200">
              <a:spcBef>
                <a:spcPts val="0"/>
              </a:spcBef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ea typeface="+mn-ea"/>
                <a:cs typeface="TheSans UHH Regular"/>
              </a:defRPr>
            </a:lvl4pPr>
            <a:lvl5pPr marL="180000" indent="-180000" algn="l" defTabSz="457200">
              <a:spcBef>
                <a:spcPts val="0"/>
              </a:spcBef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ea typeface="+mn-ea"/>
                <a:cs typeface="TheSans UHH Regular"/>
              </a:defRPr>
            </a:lvl5pPr>
            <a:lvl6pPr marL="25146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From Egypt </a:t>
            </a:r>
            <a:r>
              <a:rPr lang="en-US" b="1">
                <a:solidFill>
                  <a:srgbClr val="FF0000"/>
                </a:solidFill>
              </a:rPr>
              <a:t>(did NOT graduate from the German university in Cairo)</a:t>
            </a:r>
            <a:endParaRPr/>
          </a:p>
        </p:txBody>
      </p:sp>
      <p:pic>
        <p:nvPicPr>
          <p:cNvPr id="1026" name="Picture 2" descr="Where to Stay In Aswan: Best Accommodation for All Budgets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5436096" y="2256918"/>
            <a:ext cx="3175992" cy="1984995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 bwMode="auto">
          <a:xfrm>
            <a:off x="6373914" y="4335311"/>
            <a:ext cx="13003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/>
              <a:t>Aswan, Egypt</a:t>
            </a:r>
            <a:endParaRPr lang="en-GB" sz="1600"/>
          </a:p>
        </p:txBody>
      </p:sp>
      <p:sp>
        <p:nvSpPr>
          <p:cNvPr id="9" name="Textplatzhalter 2"/>
          <p:cNvSpPr txBox="1"/>
          <p:nvPr/>
        </p:nvSpPr>
        <p:spPr bwMode="auto">
          <a:xfrm>
            <a:off x="160911" y="3496636"/>
            <a:ext cx="4636311" cy="629663"/>
          </a:xfrm>
          <a:prstGeom prst="rect">
            <a:avLst/>
          </a:prstGeom>
        </p:spPr>
        <p:txBody>
          <a:bodyPr vert="horz"/>
          <a:lstStyle>
            <a:lvl1pPr marL="180000" indent="-180000" algn="l" defTabSz="457200">
              <a:spcBef>
                <a:spcPts val="1450"/>
              </a:spcBef>
              <a:buClr>
                <a:schemeClr val="tx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1pPr>
            <a:lvl2pPr marL="360000" indent="-180000" algn="l" defTabSz="457200">
              <a:spcBef>
                <a:spcPts val="0"/>
              </a:spcBef>
              <a:buClr>
                <a:schemeClr val="bg2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2pPr>
            <a:lvl3pPr marL="540000" indent="-180000" algn="l" defTabSz="457200">
              <a:spcBef>
                <a:spcPts val="0"/>
              </a:spcBef>
              <a:buClr>
                <a:schemeClr val="bg2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3pPr>
            <a:lvl4pPr marL="180000" indent="-180000" algn="l" defTabSz="457200">
              <a:spcBef>
                <a:spcPts val="0"/>
              </a:spcBef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ea typeface="+mn-ea"/>
                <a:cs typeface="TheSans UHH Regular"/>
              </a:defRPr>
            </a:lvl4pPr>
            <a:lvl5pPr marL="180000" indent="-180000" algn="l" defTabSz="457200">
              <a:spcBef>
                <a:spcPts val="0"/>
              </a:spcBef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ea typeface="+mn-ea"/>
                <a:cs typeface="TheSans UHH Regular"/>
              </a:defRPr>
            </a:lvl5pPr>
            <a:lvl6pPr marL="25146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Started IAS in WiSe 22/23 </a:t>
            </a:r>
            <a:endParaRPr 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>
              <a:defRPr/>
            </a:pPr>
            <a:r>
              <a:rPr lang="en-US"/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05.10.2026</a:t>
            </a:r>
            <a:endParaRPr dirty="0"/>
          </a:p>
        </p:txBody>
      </p:sp>
      <p:sp>
        <p:nvSpPr>
          <p:cNvPr id="11" name="Titel 1"/>
          <p:cNvSpPr>
            <a:spLocks noGrp="1"/>
          </p:cNvSpPr>
          <p:nvPr>
            <p:ph type="title"/>
          </p:nvPr>
        </p:nvSpPr>
        <p:spPr bwMode="auto">
          <a:xfrm>
            <a:off x="214768" y="1203598"/>
            <a:ext cx="8533695" cy="503882"/>
          </a:xfrm>
        </p:spPr>
        <p:txBody>
          <a:bodyPr/>
          <a:lstStyle/>
          <a:p>
            <a:pPr>
              <a:defRPr/>
            </a:pPr>
            <a:r>
              <a:rPr lang="en-US"/>
              <a:t>Introduction (About me)</a:t>
            </a:r>
            <a:endParaRPr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6"/>
          </p:nvPr>
        </p:nvSpPr>
        <p:spPr bwMode="auto">
          <a:xfrm>
            <a:off x="160911" y="1942087"/>
            <a:ext cx="6283297" cy="629663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Alhassan Abdelhalim (short version)  </a:t>
            </a:r>
            <a:endParaRPr/>
          </a:p>
        </p:txBody>
      </p:sp>
      <p:sp>
        <p:nvSpPr>
          <p:cNvPr id="2" name="TextBox 1"/>
          <p:cNvSpPr txBox="1"/>
          <p:nvPr/>
        </p:nvSpPr>
        <p:spPr bwMode="auto">
          <a:xfrm>
            <a:off x="5220072" y="1329501"/>
            <a:ext cx="29498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/>
              <a:t>Alhassan Ahmed Said Abdelhalim</a:t>
            </a:r>
            <a:endParaRPr lang="en-GB" sz="1600"/>
          </a:p>
        </p:txBody>
      </p:sp>
      <p:sp>
        <p:nvSpPr>
          <p:cNvPr id="3" name="TextBox 2"/>
          <p:cNvSpPr txBox="1"/>
          <p:nvPr/>
        </p:nvSpPr>
        <p:spPr bwMode="auto">
          <a:xfrm>
            <a:off x="6306907" y="1755566"/>
            <a:ext cx="1104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 dirty="0"/>
              <a:t>Hassan 👍</a:t>
            </a:r>
            <a:endParaRPr lang="en-GB" sz="1600" dirty="0"/>
          </a:p>
        </p:txBody>
      </p:sp>
      <p:sp>
        <p:nvSpPr>
          <p:cNvPr id="4" name="Textplatzhalter 2"/>
          <p:cNvSpPr txBox="1"/>
          <p:nvPr/>
        </p:nvSpPr>
        <p:spPr bwMode="auto">
          <a:xfrm>
            <a:off x="160911" y="2573599"/>
            <a:ext cx="4636311" cy="629663"/>
          </a:xfrm>
          <a:prstGeom prst="rect">
            <a:avLst/>
          </a:prstGeom>
        </p:spPr>
        <p:txBody>
          <a:bodyPr vert="horz"/>
          <a:lstStyle>
            <a:lvl1pPr marL="180000" indent="-180000" algn="l" defTabSz="457200">
              <a:spcBef>
                <a:spcPts val="1450"/>
              </a:spcBef>
              <a:buClr>
                <a:schemeClr val="tx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1pPr>
            <a:lvl2pPr marL="360000" indent="-180000" algn="l" defTabSz="457200">
              <a:spcBef>
                <a:spcPts val="0"/>
              </a:spcBef>
              <a:buClr>
                <a:schemeClr val="bg2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2pPr>
            <a:lvl3pPr marL="540000" indent="-180000" algn="l" defTabSz="457200">
              <a:spcBef>
                <a:spcPts val="0"/>
              </a:spcBef>
              <a:buClr>
                <a:schemeClr val="bg2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3pPr>
            <a:lvl4pPr marL="180000" indent="-180000" algn="l" defTabSz="457200">
              <a:spcBef>
                <a:spcPts val="0"/>
              </a:spcBef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ea typeface="+mn-ea"/>
                <a:cs typeface="TheSans UHH Regular"/>
              </a:defRPr>
            </a:lvl4pPr>
            <a:lvl5pPr marL="180000" indent="-180000" algn="l" defTabSz="457200">
              <a:spcBef>
                <a:spcPts val="0"/>
              </a:spcBef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ea typeface="+mn-ea"/>
                <a:cs typeface="TheSans UHH Regular"/>
              </a:defRPr>
            </a:lvl5pPr>
            <a:lvl6pPr marL="25146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From Egypt </a:t>
            </a:r>
            <a:r>
              <a:rPr lang="en-US" b="1">
                <a:solidFill>
                  <a:srgbClr val="FF0000"/>
                </a:solidFill>
              </a:rPr>
              <a:t>(did NOT graduate from the German university in Cairo)</a:t>
            </a:r>
            <a:endParaRPr/>
          </a:p>
        </p:txBody>
      </p:sp>
      <p:pic>
        <p:nvPicPr>
          <p:cNvPr id="1026" name="Picture 2" descr="Where to Stay In Aswan: Best Accommodation for All Budgets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5436096" y="2256918"/>
            <a:ext cx="3175992" cy="1984995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 bwMode="auto">
          <a:xfrm>
            <a:off x="6373914" y="4335311"/>
            <a:ext cx="13003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/>
              <a:t>Aswan, Egypt</a:t>
            </a:r>
            <a:endParaRPr lang="en-GB" sz="1600"/>
          </a:p>
        </p:txBody>
      </p:sp>
      <p:sp>
        <p:nvSpPr>
          <p:cNvPr id="8" name="Textplatzhalter 2"/>
          <p:cNvSpPr txBox="1"/>
          <p:nvPr/>
        </p:nvSpPr>
        <p:spPr bwMode="auto">
          <a:xfrm>
            <a:off x="160911" y="3496636"/>
            <a:ext cx="4636311" cy="629663"/>
          </a:xfrm>
          <a:prstGeom prst="rect">
            <a:avLst/>
          </a:prstGeom>
        </p:spPr>
        <p:txBody>
          <a:bodyPr vert="horz"/>
          <a:lstStyle>
            <a:lvl1pPr marL="180000" indent="-180000" algn="l" defTabSz="457200">
              <a:spcBef>
                <a:spcPts val="1450"/>
              </a:spcBef>
              <a:buClr>
                <a:schemeClr val="tx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1pPr>
            <a:lvl2pPr marL="360000" indent="-180000" algn="l" defTabSz="457200">
              <a:spcBef>
                <a:spcPts val="0"/>
              </a:spcBef>
              <a:buClr>
                <a:schemeClr val="bg2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2pPr>
            <a:lvl3pPr marL="540000" indent="-180000" algn="l" defTabSz="457200">
              <a:spcBef>
                <a:spcPts val="0"/>
              </a:spcBef>
              <a:buClr>
                <a:schemeClr val="bg2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3pPr>
            <a:lvl4pPr marL="180000" indent="-180000" algn="l" defTabSz="457200">
              <a:spcBef>
                <a:spcPts val="0"/>
              </a:spcBef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ea typeface="+mn-ea"/>
                <a:cs typeface="TheSans UHH Regular"/>
              </a:defRPr>
            </a:lvl4pPr>
            <a:lvl5pPr marL="180000" indent="-180000" algn="l" defTabSz="457200">
              <a:spcBef>
                <a:spcPts val="0"/>
              </a:spcBef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ea typeface="+mn-ea"/>
                <a:cs typeface="TheSans UHH Regular"/>
              </a:defRPr>
            </a:lvl5pPr>
            <a:lvl6pPr marL="25146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Started IAS in WiSe 22/23 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9" name="Textplatzhalter 2"/>
          <p:cNvSpPr txBox="1"/>
          <p:nvPr/>
        </p:nvSpPr>
        <p:spPr bwMode="auto">
          <a:xfrm>
            <a:off x="160910" y="4104841"/>
            <a:ext cx="4636311" cy="629663"/>
          </a:xfrm>
          <a:prstGeom prst="rect">
            <a:avLst/>
          </a:prstGeom>
        </p:spPr>
        <p:txBody>
          <a:bodyPr vert="horz"/>
          <a:lstStyle>
            <a:lvl1pPr marL="180000" indent="-180000" algn="l" defTabSz="457200">
              <a:spcBef>
                <a:spcPts val="1450"/>
              </a:spcBef>
              <a:buClr>
                <a:schemeClr val="tx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1pPr>
            <a:lvl2pPr marL="360000" indent="-180000" algn="l" defTabSz="457200">
              <a:spcBef>
                <a:spcPts val="0"/>
              </a:spcBef>
              <a:buClr>
                <a:schemeClr val="bg2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2pPr>
            <a:lvl3pPr marL="540000" indent="-180000" algn="l" defTabSz="457200">
              <a:spcBef>
                <a:spcPts val="0"/>
              </a:spcBef>
              <a:buClr>
                <a:schemeClr val="bg2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3pPr>
            <a:lvl4pPr marL="180000" indent="-180000" algn="l" defTabSz="457200">
              <a:spcBef>
                <a:spcPts val="0"/>
              </a:spcBef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ea typeface="+mn-ea"/>
                <a:cs typeface="TheSans UHH Regular"/>
              </a:defRPr>
            </a:lvl4pPr>
            <a:lvl5pPr marL="180000" indent="-180000" algn="l" defTabSz="457200">
              <a:spcBef>
                <a:spcPts val="0"/>
              </a:spcBef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ea typeface="+mn-ea"/>
                <a:cs typeface="TheSans UHH Regular"/>
              </a:defRPr>
            </a:lvl5pPr>
            <a:lvl6pPr marL="25146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Now a PhD student in the DOS research group (Prof. Dr Janick Edinger) </a:t>
            </a:r>
            <a:endParaRPr 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>
              <a:defRPr/>
            </a:pPr>
            <a:r>
              <a:rPr lang="en-US"/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05.10.2026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 bwMode="auto">
          <a:xfrm>
            <a:off x="683568" y="1419622"/>
            <a:ext cx="36984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3200">
                <a:solidFill>
                  <a:schemeClr val="tx1">
                    <a:lumMod val="75000"/>
                  </a:schemeClr>
                </a:solidFill>
                <a:latin typeface="Bauhaus 93"/>
              </a:rPr>
              <a:t>Mandatory Courses</a:t>
            </a: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2066124" y="2069889"/>
            <a:ext cx="26677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3200">
                <a:solidFill>
                  <a:schemeClr val="tx1">
                    <a:lumMod val="75000"/>
                  </a:schemeClr>
                </a:solidFill>
                <a:latin typeface="Cambria Math"/>
                <a:ea typeface="Cambria Math"/>
              </a:rPr>
              <a:t>Focus Options</a:t>
            </a:r>
            <a:endParaRPr/>
          </a:p>
        </p:txBody>
      </p:sp>
      <p:sp>
        <p:nvSpPr>
          <p:cNvPr id="17" name="TextBox 16"/>
          <p:cNvSpPr txBox="1"/>
          <p:nvPr/>
        </p:nvSpPr>
        <p:spPr bwMode="auto">
          <a:xfrm>
            <a:off x="778701" y="2558175"/>
            <a:ext cx="12490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000">
                <a:solidFill>
                  <a:schemeClr val="tx1">
                    <a:lumMod val="75000"/>
                  </a:schemeClr>
                </a:solidFill>
                <a:latin typeface="ADLaM Display"/>
                <a:ea typeface="ADLaM Display"/>
                <a:cs typeface="ADLaM Display"/>
              </a:rPr>
              <a:t>Electives</a:t>
            </a:r>
            <a:endParaRPr/>
          </a:p>
        </p:txBody>
      </p:sp>
      <p:sp>
        <p:nvSpPr>
          <p:cNvPr id="18" name="TextBox 17"/>
          <p:cNvSpPr txBox="1"/>
          <p:nvPr/>
        </p:nvSpPr>
        <p:spPr bwMode="auto">
          <a:xfrm>
            <a:off x="2465451" y="2754698"/>
            <a:ext cx="157126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6000">
                <a:solidFill>
                  <a:srgbClr val="FF0000"/>
                </a:solidFill>
                <a:latin typeface="Chiller"/>
              </a:rPr>
              <a:t>STiNE</a:t>
            </a:r>
          </a:p>
        </p:txBody>
      </p:sp>
      <p:sp>
        <p:nvSpPr>
          <p:cNvPr id="19" name="TextBox 18"/>
          <p:cNvSpPr txBox="1"/>
          <p:nvPr/>
        </p:nvSpPr>
        <p:spPr bwMode="auto">
          <a:xfrm>
            <a:off x="778701" y="3414166"/>
            <a:ext cx="8755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3200">
                <a:solidFill>
                  <a:srgbClr val="FF0000"/>
                </a:solidFill>
                <a:latin typeface="Chiller"/>
              </a:rPr>
              <a:t>ECTS</a:t>
            </a:r>
            <a:endParaRPr/>
          </a:p>
        </p:txBody>
      </p:sp>
      <p:sp>
        <p:nvSpPr>
          <p:cNvPr id="20" name="TextBox 19"/>
          <p:cNvSpPr txBox="1"/>
          <p:nvPr/>
        </p:nvSpPr>
        <p:spPr bwMode="auto">
          <a:xfrm>
            <a:off x="2264707" y="3784687"/>
            <a:ext cx="23743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3200">
                <a:solidFill>
                  <a:srgbClr val="FF0000"/>
                </a:solidFill>
                <a:latin typeface="Chiller"/>
              </a:rPr>
              <a:t>Registration phase</a:t>
            </a:r>
            <a:endParaRPr/>
          </a:p>
        </p:txBody>
      </p:sp>
      <p:sp>
        <p:nvSpPr>
          <p:cNvPr id="21" name="TextBox 20"/>
          <p:cNvSpPr txBox="1"/>
          <p:nvPr/>
        </p:nvSpPr>
        <p:spPr bwMode="auto">
          <a:xfrm>
            <a:off x="172823" y="4213195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3200">
                <a:solidFill>
                  <a:srgbClr val="FF0000"/>
                </a:solidFill>
                <a:latin typeface="Chiller"/>
              </a:rPr>
              <a:t>Do I get the course?</a:t>
            </a:r>
            <a:endParaRPr/>
          </a:p>
        </p:txBody>
      </p:sp>
      <p:pic>
        <p:nvPicPr>
          <p:cNvPr id="3" name="Picture 2" descr="Going Crazy Stock Photo 237214945 | Shutterstock"/>
          <p:cNvPicPr>
            <a:picLocks noChangeAspect="1" noChangeArrowheads="1"/>
          </p:cNvPicPr>
          <p:nvPr/>
        </p:nvPicPr>
        <p:blipFill>
          <a:blip r:embed="rId3"/>
          <a:srcRect b="11004"/>
          <a:stretch/>
        </p:blipFill>
        <p:spPr bwMode="auto">
          <a:xfrm>
            <a:off x="5586801" y="1896333"/>
            <a:ext cx="3384376" cy="231686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srgbClr val="3B515B"/>
                </a:solidFill>
                <a:latin typeface="TheSans UHH"/>
                <a:cs typeface="Arial"/>
              </a:rPr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 dirty="0">
                <a:ln>
                  <a:noFill/>
                </a:ln>
                <a:solidFill>
                  <a:srgbClr val="3B515B"/>
                </a:solidFill>
                <a:latin typeface="TheSans UHH"/>
                <a:cs typeface="Arial"/>
              </a:rPr>
              <a:t>05.10.2026</a:t>
            </a:r>
            <a:endParaRPr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6"/>
          </p:nvPr>
        </p:nvSpPr>
        <p:spPr bwMode="auto">
          <a:xfrm>
            <a:off x="286254" y="1166354"/>
            <a:ext cx="3503870" cy="57606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>
                <a:solidFill>
                  <a:schemeClr val="tx1"/>
                </a:solidFill>
              </a:rPr>
              <a:t>What are we going to do today?</a:t>
            </a:r>
            <a:endParaRPr/>
          </a:p>
        </p:txBody>
      </p:sp>
      <p:sp>
        <p:nvSpPr>
          <p:cNvPr id="4" name="Textplatzhalter 2"/>
          <p:cNvSpPr txBox="1"/>
          <p:nvPr/>
        </p:nvSpPr>
        <p:spPr bwMode="auto">
          <a:xfrm>
            <a:off x="204034" y="3003798"/>
            <a:ext cx="4079933" cy="576064"/>
          </a:xfrm>
          <a:prstGeom prst="rect">
            <a:avLst/>
          </a:prstGeom>
        </p:spPr>
        <p:txBody>
          <a:bodyPr vert="horz"/>
          <a:lstStyle>
            <a:lvl1pPr marL="180000" indent="-180000" algn="l" defTabSz="457200">
              <a:spcBef>
                <a:spcPts val="1450"/>
              </a:spcBef>
              <a:buClr>
                <a:schemeClr val="tx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1pPr>
            <a:lvl2pPr marL="360000" indent="-180000" algn="l" defTabSz="457200">
              <a:spcBef>
                <a:spcPts val="0"/>
              </a:spcBef>
              <a:buClr>
                <a:schemeClr val="bg2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2pPr>
            <a:lvl3pPr marL="540000" indent="-180000" algn="l" defTabSz="457200">
              <a:spcBef>
                <a:spcPts val="0"/>
              </a:spcBef>
              <a:buClr>
                <a:schemeClr val="bg2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3pPr>
            <a:lvl4pPr marL="180000" indent="-180000" algn="l" defTabSz="457200">
              <a:spcBef>
                <a:spcPts val="0"/>
              </a:spcBef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ea typeface="+mn-ea"/>
                <a:cs typeface="TheSans UHH Regular"/>
              </a:defRPr>
            </a:lvl4pPr>
            <a:lvl5pPr marL="180000" indent="-180000" algn="l" defTabSz="457200">
              <a:spcBef>
                <a:spcPts val="0"/>
              </a:spcBef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ea typeface="+mn-ea"/>
                <a:cs typeface="TheSans UHH Regular"/>
              </a:defRPr>
            </a:lvl5pPr>
            <a:lvl6pPr marL="25146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/>
              <a:buNone/>
              <a:defRPr/>
            </a:pPr>
            <a:r>
              <a:rPr lang="en-US">
                <a:solidFill>
                  <a:schemeClr val="tx1"/>
                </a:solidFill>
              </a:rPr>
              <a:t>What are we </a:t>
            </a:r>
            <a:r>
              <a:rPr lang="en-US" b="1">
                <a:solidFill>
                  <a:srgbClr val="FF0000"/>
                </a:solidFill>
              </a:rPr>
              <a:t>NOT</a:t>
            </a:r>
            <a:r>
              <a:rPr lang="en-US">
                <a:solidFill>
                  <a:schemeClr val="tx1"/>
                </a:solidFill>
              </a:rPr>
              <a:t> going to do today?</a:t>
            </a:r>
            <a:endParaRPr/>
          </a:p>
        </p:txBody>
      </p:sp>
      <p:sp>
        <p:nvSpPr>
          <p:cNvPr id="6" name="Textplatzhalter 2"/>
          <p:cNvSpPr txBox="1"/>
          <p:nvPr/>
        </p:nvSpPr>
        <p:spPr bwMode="auto">
          <a:xfrm>
            <a:off x="288782" y="1707144"/>
            <a:ext cx="4583990" cy="1152638"/>
          </a:xfrm>
          <a:prstGeom prst="rect">
            <a:avLst/>
          </a:prstGeom>
        </p:spPr>
        <p:txBody>
          <a:bodyPr vert="horz"/>
          <a:lstStyle>
            <a:lvl1pPr marL="180000" indent="-180000" algn="l" defTabSz="457200">
              <a:spcBef>
                <a:spcPts val="1450"/>
              </a:spcBef>
              <a:buClr>
                <a:schemeClr val="tx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1pPr>
            <a:lvl2pPr marL="360000" indent="-180000" algn="l" defTabSz="457200">
              <a:spcBef>
                <a:spcPts val="0"/>
              </a:spcBef>
              <a:buClr>
                <a:schemeClr val="bg2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2pPr>
            <a:lvl3pPr marL="540000" indent="-180000" algn="l" defTabSz="457200">
              <a:spcBef>
                <a:spcPts val="0"/>
              </a:spcBef>
              <a:buClr>
                <a:schemeClr val="bg2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3pPr>
            <a:lvl4pPr marL="180000" indent="-180000" algn="l" defTabSz="457200">
              <a:spcBef>
                <a:spcPts val="0"/>
              </a:spcBef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ea typeface="+mn-ea"/>
                <a:cs typeface="TheSans UHH Regular"/>
              </a:defRPr>
            </a:lvl4pPr>
            <a:lvl5pPr marL="180000" indent="-180000" algn="l" defTabSz="457200">
              <a:spcBef>
                <a:spcPts val="0"/>
              </a:spcBef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ea typeface="+mn-ea"/>
                <a:cs typeface="TheSans UHH Regular"/>
              </a:defRPr>
            </a:lvl5pPr>
            <a:lvl6pPr marL="25146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600">
                <a:solidFill>
                  <a:schemeClr val="tx1"/>
                </a:solidFill>
              </a:rPr>
              <a:t>Modules and who offers them</a:t>
            </a:r>
            <a:endParaRPr/>
          </a:p>
          <a:p>
            <a:pPr>
              <a:defRPr/>
            </a:pPr>
            <a:r>
              <a:rPr lang="en-US" sz="1600">
                <a:solidFill>
                  <a:schemeClr val="tx1"/>
                </a:solidFill>
              </a:rPr>
              <a:t>Go through (most of) the available courses for IAS</a:t>
            </a:r>
            <a:endParaRPr/>
          </a:p>
          <a:p>
            <a:pPr>
              <a:defRPr/>
            </a:pPr>
            <a:r>
              <a:rPr lang="en-US" sz="1600">
                <a:solidFill>
                  <a:schemeClr val="tx1"/>
                </a:solidFill>
              </a:rPr>
              <a:t>Tips &amp; Tricks</a:t>
            </a:r>
            <a:endParaRPr/>
          </a:p>
          <a:p>
            <a:pPr>
              <a:defRPr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" name="Textplatzhalter 2"/>
          <p:cNvSpPr txBox="1"/>
          <p:nvPr/>
        </p:nvSpPr>
        <p:spPr bwMode="auto">
          <a:xfrm>
            <a:off x="288782" y="3509825"/>
            <a:ext cx="4583990" cy="1222675"/>
          </a:xfrm>
          <a:prstGeom prst="rect">
            <a:avLst/>
          </a:prstGeom>
        </p:spPr>
        <p:txBody>
          <a:bodyPr vert="horz"/>
          <a:lstStyle>
            <a:lvl1pPr marL="180000" indent="-180000" algn="l" defTabSz="457200">
              <a:spcBef>
                <a:spcPts val="1450"/>
              </a:spcBef>
              <a:buClr>
                <a:schemeClr val="tx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1pPr>
            <a:lvl2pPr marL="360000" indent="-180000" algn="l" defTabSz="457200">
              <a:spcBef>
                <a:spcPts val="0"/>
              </a:spcBef>
              <a:buClr>
                <a:schemeClr val="bg2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2pPr>
            <a:lvl3pPr marL="540000" indent="-180000" algn="l" defTabSz="457200">
              <a:spcBef>
                <a:spcPts val="0"/>
              </a:spcBef>
              <a:buClr>
                <a:schemeClr val="bg2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3pPr>
            <a:lvl4pPr marL="180000" indent="-180000" algn="l" defTabSz="457200">
              <a:spcBef>
                <a:spcPts val="0"/>
              </a:spcBef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ea typeface="+mn-ea"/>
                <a:cs typeface="TheSans UHH Regular"/>
              </a:defRPr>
            </a:lvl4pPr>
            <a:lvl5pPr marL="180000" indent="-180000" algn="l" defTabSz="457200">
              <a:spcBef>
                <a:spcPts val="0"/>
              </a:spcBef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ea typeface="+mn-ea"/>
                <a:cs typeface="TheSans UHH Regular"/>
              </a:defRPr>
            </a:lvl5pPr>
            <a:lvl6pPr marL="25146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600">
                <a:solidFill>
                  <a:schemeClr val="tx1"/>
                </a:solidFill>
              </a:rPr>
              <a:t>STiNE and how to register</a:t>
            </a:r>
            <a:endParaRPr/>
          </a:p>
          <a:p>
            <a:pPr>
              <a:defRPr/>
            </a:pPr>
            <a:r>
              <a:rPr lang="en-US" sz="1600">
                <a:solidFill>
                  <a:schemeClr val="tx1"/>
                </a:solidFill>
              </a:rPr>
              <a:t>Course lottery</a:t>
            </a:r>
            <a:endParaRPr/>
          </a:p>
          <a:p>
            <a:pPr>
              <a:defRPr/>
            </a:pPr>
            <a:r>
              <a:rPr lang="en-US" sz="1600">
                <a:solidFill>
                  <a:schemeClr val="tx1"/>
                </a:solidFill>
              </a:rPr>
              <a:t>Go through all the research groups</a:t>
            </a:r>
            <a:endParaRPr/>
          </a:p>
          <a:p>
            <a:pPr>
              <a:defRPr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5202246" y="1275607"/>
            <a:ext cx="36984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3200">
                <a:solidFill>
                  <a:schemeClr val="tx1">
                    <a:lumMod val="75000"/>
                  </a:schemeClr>
                </a:solidFill>
                <a:latin typeface="Bauhaus 93"/>
              </a:rPr>
              <a:t>Mandatory Courses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6584802" y="1925874"/>
            <a:ext cx="26677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3200">
                <a:solidFill>
                  <a:schemeClr val="tx1">
                    <a:lumMod val="75000"/>
                  </a:schemeClr>
                </a:solidFill>
                <a:latin typeface="Cambria Math"/>
                <a:ea typeface="Cambria Math"/>
              </a:rPr>
              <a:t>Focus Options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5297379" y="2414160"/>
            <a:ext cx="12490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000">
                <a:solidFill>
                  <a:schemeClr val="tx1">
                    <a:lumMod val="75000"/>
                  </a:schemeClr>
                </a:solidFill>
                <a:latin typeface="ADLaM Display"/>
                <a:ea typeface="ADLaM Display"/>
                <a:cs typeface="ADLaM Display"/>
              </a:rPr>
              <a:t>Electives</a:t>
            </a:r>
            <a:endParaRPr/>
          </a:p>
        </p:txBody>
      </p:sp>
      <p:sp>
        <p:nvSpPr>
          <p:cNvPr id="14" name="TextBox 13"/>
          <p:cNvSpPr txBox="1"/>
          <p:nvPr/>
        </p:nvSpPr>
        <p:spPr bwMode="auto">
          <a:xfrm>
            <a:off x="6984129" y="2610683"/>
            <a:ext cx="157126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6000">
                <a:solidFill>
                  <a:srgbClr val="FF0000"/>
                </a:solidFill>
                <a:latin typeface="Chiller"/>
              </a:rPr>
              <a:t>STiNE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5297379" y="3270151"/>
            <a:ext cx="8755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3200">
                <a:solidFill>
                  <a:srgbClr val="FF0000"/>
                </a:solidFill>
                <a:latin typeface="Chiller"/>
              </a:rPr>
              <a:t>ECTS</a:t>
            </a: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6783385" y="3640672"/>
            <a:ext cx="23743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3200">
                <a:solidFill>
                  <a:srgbClr val="FF0000"/>
                </a:solidFill>
                <a:latin typeface="Chiller"/>
              </a:rPr>
              <a:t>Registration phase</a:t>
            </a:r>
            <a:endParaRPr/>
          </a:p>
        </p:txBody>
      </p:sp>
      <p:sp>
        <p:nvSpPr>
          <p:cNvPr id="17" name="TextBox 16"/>
          <p:cNvSpPr txBox="1"/>
          <p:nvPr/>
        </p:nvSpPr>
        <p:spPr bwMode="auto">
          <a:xfrm>
            <a:off x="4691501" y="4069180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3200">
                <a:solidFill>
                  <a:srgbClr val="FF0000"/>
                </a:solidFill>
                <a:latin typeface="Chiller"/>
              </a:rPr>
              <a:t>Do I get the course?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srgbClr val="3B515B"/>
                </a:solidFill>
                <a:latin typeface="TheSans UHH"/>
                <a:cs typeface="Arial"/>
              </a:rPr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 dirty="0">
                <a:ln>
                  <a:noFill/>
                </a:ln>
                <a:solidFill>
                  <a:srgbClr val="3B515B"/>
                </a:solidFill>
                <a:latin typeface="TheSans UHH"/>
                <a:cs typeface="Arial"/>
              </a:rPr>
              <a:t>05.10.2026</a:t>
            </a:r>
            <a:endParaRPr dirty="0"/>
          </a:p>
        </p:txBody>
      </p:sp>
      <p:sp>
        <p:nvSpPr>
          <p:cNvPr id="11" name="Titel 1"/>
          <p:cNvSpPr>
            <a:spLocks noGrp="1"/>
          </p:cNvSpPr>
          <p:nvPr>
            <p:ph type="title"/>
          </p:nvPr>
        </p:nvSpPr>
        <p:spPr bwMode="auto">
          <a:xfrm>
            <a:off x="214768" y="1203598"/>
            <a:ext cx="8533695" cy="503882"/>
          </a:xfrm>
        </p:spPr>
        <p:txBody>
          <a:bodyPr/>
          <a:lstStyle/>
          <a:p>
            <a:pPr>
              <a:defRPr/>
            </a:pPr>
            <a:r>
              <a:rPr lang="en-US"/>
              <a:t>Agenda</a:t>
            </a:r>
            <a:endParaRPr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6"/>
          </p:nvPr>
        </p:nvSpPr>
        <p:spPr bwMode="auto">
          <a:xfrm>
            <a:off x="214311" y="1779662"/>
            <a:ext cx="8534151" cy="2879651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4CAF50"/>
                </a:solidFill>
              </a:rPr>
              <a:t>Introduction</a:t>
            </a:r>
            <a:endParaRPr/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How do Modules at Informatik work? </a:t>
            </a:r>
            <a:endParaRPr/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Courses</a:t>
            </a:r>
            <a:endParaRPr/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If I had known…</a:t>
            </a:r>
            <a:endParaRPr/>
          </a:p>
          <a:p>
            <a:pPr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srgbClr val="3B515B"/>
                </a:solidFill>
                <a:latin typeface="TheSans UHH"/>
                <a:cs typeface="Arial"/>
              </a:rPr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 dirty="0">
                <a:ln>
                  <a:noFill/>
                </a:ln>
                <a:solidFill>
                  <a:srgbClr val="3B515B"/>
                </a:solidFill>
                <a:latin typeface="TheSans UHH"/>
                <a:cs typeface="Arial"/>
              </a:rPr>
              <a:t>05.10.2026</a:t>
            </a:r>
            <a:endParaRPr dirty="0"/>
          </a:p>
        </p:txBody>
      </p:sp>
      <p:sp>
        <p:nvSpPr>
          <p:cNvPr id="11" name="Titel 1"/>
          <p:cNvSpPr>
            <a:spLocks noGrp="1"/>
          </p:cNvSpPr>
          <p:nvPr>
            <p:ph type="title"/>
          </p:nvPr>
        </p:nvSpPr>
        <p:spPr bwMode="auto">
          <a:xfrm>
            <a:off x="214768" y="1203598"/>
            <a:ext cx="8533695" cy="503882"/>
          </a:xfrm>
        </p:spPr>
        <p:txBody>
          <a:bodyPr/>
          <a:lstStyle/>
          <a:p>
            <a:pPr>
              <a:defRPr/>
            </a:pPr>
            <a:r>
              <a:rPr lang="en-US"/>
              <a:t>Agenda</a:t>
            </a:r>
            <a:endParaRPr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6"/>
          </p:nvPr>
        </p:nvSpPr>
        <p:spPr bwMode="auto">
          <a:xfrm>
            <a:off x="214311" y="1779662"/>
            <a:ext cx="8534151" cy="2879651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4CAF50"/>
                </a:solidFill>
              </a:rPr>
              <a:t>Introduction</a:t>
            </a:r>
            <a:endParaRPr/>
          </a:p>
          <a:p>
            <a:pPr>
              <a:defRPr/>
            </a:pPr>
            <a:r>
              <a:rPr lang="en-US" b="1">
                <a:solidFill>
                  <a:srgbClr val="FF0000"/>
                </a:solidFill>
              </a:rPr>
              <a:t>How do Modules at Informatik work? </a:t>
            </a:r>
            <a:endParaRPr/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Courses</a:t>
            </a:r>
            <a:endParaRPr/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If I had known…</a:t>
            </a:r>
            <a:endParaRPr/>
          </a:p>
          <a:p>
            <a:pPr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srgbClr val="3B515B"/>
                </a:solidFill>
                <a:latin typeface="TheSans UHH"/>
                <a:cs typeface="Arial"/>
              </a:rPr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 dirty="0">
                <a:ln>
                  <a:noFill/>
                </a:ln>
                <a:solidFill>
                  <a:srgbClr val="3B515B"/>
                </a:solidFill>
                <a:latin typeface="TheSans UHH"/>
                <a:cs typeface="Arial"/>
              </a:rPr>
              <a:t>05.10.2026</a:t>
            </a:r>
            <a:endParaRPr dirty="0"/>
          </a:p>
        </p:txBody>
      </p:sp>
      <p:sp>
        <p:nvSpPr>
          <p:cNvPr id="11" name="Titel 1"/>
          <p:cNvSpPr>
            <a:spLocks noGrp="1"/>
          </p:cNvSpPr>
          <p:nvPr>
            <p:ph type="title"/>
          </p:nvPr>
        </p:nvSpPr>
        <p:spPr bwMode="auto">
          <a:xfrm>
            <a:off x="214768" y="1203598"/>
            <a:ext cx="8533695" cy="503882"/>
          </a:xfrm>
        </p:spPr>
        <p:txBody>
          <a:bodyPr/>
          <a:lstStyle/>
          <a:p>
            <a:pPr>
              <a:defRPr/>
            </a:pPr>
            <a:r>
              <a:rPr lang="en-US"/>
              <a:t>How do Modules at Informatik work? </a:t>
            </a:r>
            <a:endParaRPr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6"/>
          </p:nvPr>
        </p:nvSpPr>
        <p:spPr bwMode="auto">
          <a:xfrm>
            <a:off x="154213" y="1635646"/>
            <a:ext cx="5137867" cy="2879651"/>
          </a:xfrm>
        </p:spPr>
        <p:txBody>
          <a:bodyPr/>
          <a:lstStyle/>
          <a:p>
            <a:pPr>
              <a:defRPr/>
            </a:pPr>
            <a:r>
              <a:rPr lang="en-US" sz="1400" dirty="0">
                <a:solidFill>
                  <a:schemeClr val="tx1"/>
                </a:solidFill>
              </a:rPr>
              <a:t>Research Groups (Led by Professors)</a:t>
            </a:r>
            <a:endParaRPr dirty="0"/>
          </a:p>
          <a:p>
            <a:pPr>
              <a:defRPr/>
            </a:pPr>
            <a:r>
              <a:rPr lang="en-US" sz="1400" dirty="0">
                <a:solidFill>
                  <a:schemeClr val="tx1"/>
                </a:solidFill>
              </a:rPr>
              <a:t>They offer „Modules“</a:t>
            </a:r>
            <a:endParaRPr dirty="0"/>
          </a:p>
          <a:p>
            <a:pPr>
              <a:defRPr/>
            </a:pPr>
            <a:r>
              <a:rPr lang="en-US" sz="1400" dirty="0">
                <a:solidFill>
                  <a:schemeClr val="tx1"/>
                </a:solidFill>
              </a:rPr>
              <a:t>Can be: </a:t>
            </a:r>
            <a:endParaRPr dirty="0"/>
          </a:p>
          <a:p>
            <a:pPr lvl="1">
              <a:defRPr/>
            </a:pPr>
            <a:r>
              <a:rPr lang="en-US" sz="1400" dirty="0">
                <a:solidFill>
                  <a:schemeClr val="tx1"/>
                </a:solidFill>
              </a:rPr>
              <a:t>Courses (lectures + seminars or exercises)</a:t>
            </a:r>
          </a:p>
          <a:p>
            <a:pPr lvl="1">
              <a:defRPr/>
            </a:pPr>
            <a:r>
              <a:rPr lang="en-US" sz="1400" dirty="0">
                <a:solidFill>
                  <a:schemeClr val="tx1"/>
                </a:solidFill>
              </a:rPr>
              <a:t>Seminar (3-credit standalone module)</a:t>
            </a:r>
            <a:endParaRPr dirty="0"/>
          </a:p>
          <a:p>
            <a:pPr lvl="1">
              <a:defRPr/>
            </a:pPr>
            <a:r>
              <a:rPr lang="en-US" sz="1400" dirty="0">
                <a:solidFill>
                  <a:schemeClr val="tx1"/>
                </a:solidFill>
              </a:rPr>
              <a:t>Master Project</a:t>
            </a:r>
            <a:endParaRPr dirty="0"/>
          </a:p>
          <a:p>
            <a:pPr lvl="1">
              <a:defRPr/>
            </a:pPr>
            <a:r>
              <a:rPr lang="en-US" sz="1400" dirty="0">
                <a:solidFill>
                  <a:schemeClr val="tx1"/>
                </a:solidFill>
              </a:rPr>
              <a:t>Hackathon</a:t>
            </a:r>
            <a:endParaRPr dirty="0"/>
          </a:p>
          <a:p>
            <a:pPr lvl="1">
              <a:defRPr/>
            </a:pPr>
            <a:r>
              <a:rPr lang="en-US" sz="1400" dirty="0">
                <a:solidFill>
                  <a:schemeClr val="tx1"/>
                </a:solidFill>
              </a:rPr>
              <a:t>Internship (</a:t>
            </a:r>
            <a:r>
              <a:rPr lang="en-US" sz="1400" dirty="0" err="1">
                <a:solidFill>
                  <a:schemeClr val="tx1"/>
                </a:solidFill>
              </a:rPr>
              <a:t>Praktikum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  <a:endParaRPr dirty="0"/>
          </a:p>
          <a:p>
            <a:pPr lvl="1">
              <a:defRPr/>
            </a:pPr>
            <a:r>
              <a:rPr lang="en-US" sz="1400" dirty="0">
                <a:solidFill>
                  <a:schemeClr val="tx1"/>
                </a:solidFill>
              </a:rPr>
              <a:t>Theses</a:t>
            </a:r>
            <a:endParaRPr dirty="0"/>
          </a:p>
          <a:p>
            <a:pPr>
              <a:defRPr/>
            </a:pPr>
            <a:r>
              <a:rPr lang="en-US" sz="1400" dirty="0">
                <a:solidFill>
                  <a:schemeClr val="tx1"/>
                </a:solidFill>
              </a:rPr>
              <a:t>All of these courses can be found in the research groups page (</a:t>
            </a:r>
            <a:r>
              <a:rPr lang="en-US" sz="1400" u="sng" dirty="0">
                <a:solidFill>
                  <a:schemeClr val="tx1"/>
                </a:solidFill>
                <a:hlinkClick r:id="rId3" tooltip="https://www.inf.uni-hamburg.de/en/inst/groups.html"/>
              </a:rPr>
              <a:t>https://www.inf.uni-hamburg.de/en/inst/groups.html</a:t>
            </a:r>
            <a:r>
              <a:rPr lang="en-US" sz="1400" dirty="0">
                <a:solidFill>
                  <a:schemeClr val="tx1"/>
                </a:solidFill>
              </a:rPr>
              <a:t>) or in the STINE Course Catalogue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0252A0-9AE0-55A4-F26A-330E70A02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450" y="1178197"/>
            <a:ext cx="2967290" cy="39399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>
              <a:defRPr/>
            </a:pPr>
            <a:r>
              <a:rPr lang="en-US"/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05.10.2026</a:t>
            </a:r>
            <a:endParaRPr dirty="0"/>
          </a:p>
        </p:txBody>
      </p:sp>
      <p:sp>
        <p:nvSpPr>
          <p:cNvPr id="10" name="Rectangle: Rounded Corners 9"/>
          <p:cNvSpPr/>
          <p:nvPr/>
        </p:nvSpPr>
        <p:spPr bwMode="auto">
          <a:xfrm>
            <a:off x="6605733" y="2019641"/>
            <a:ext cx="853029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900">
                <a:solidFill>
                  <a:schemeClr val="tx2"/>
                </a:solidFill>
              </a:rPr>
              <a:t>Software Architecture</a:t>
            </a:r>
            <a:endParaRPr/>
          </a:p>
        </p:txBody>
      </p:sp>
      <p:sp>
        <p:nvSpPr>
          <p:cNvPr id="9" name="Rectangle: Rounded Corners 8"/>
          <p:cNvSpPr/>
          <p:nvPr/>
        </p:nvSpPr>
        <p:spPr bwMode="auto">
          <a:xfrm>
            <a:off x="5697231" y="2019982"/>
            <a:ext cx="853029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Research Methods</a:t>
            </a:r>
            <a:endParaRPr/>
          </a:p>
        </p:txBody>
      </p:sp>
      <p:sp>
        <p:nvSpPr>
          <p:cNvPr id="4" name="Rectangle: Rounded Corners 3"/>
          <p:cNvSpPr/>
          <p:nvPr/>
        </p:nvSpPr>
        <p:spPr bwMode="auto">
          <a:xfrm>
            <a:off x="4788729" y="2019982"/>
            <a:ext cx="853029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Bio-inspired AI</a:t>
            </a:r>
            <a:endParaRPr/>
          </a:p>
        </p:txBody>
      </p:sp>
      <p:sp>
        <p:nvSpPr>
          <p:cNvPr id="11" name="Rectangle: Rounded Corners 10"/>
          <p:cNvSpPr/>
          <p:nvPr/>
        </p:nvSpPr>
        <p:spPr bwMode="auto">
          <a:xfrm>
            <a:off x="7514235" y="2012362"/>
            <a:ext cx="853029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Intelligent Robotics</a:t>
            </a:r>
            <a:endParaRPr/>
          </a:p>
        </p:txBody>
      </p:sp>
      <p:sp>
        <p:nvSpPr>
          <p:cNvPr id="12" name="Rectangle: Rounded Corners 11"/>
          <p:cNvSpPr/>
          <p:nvPr/>
        </p:nvSpPr>
        <p:spPr bwMode="auto">
          <a:xfrm>
            <a:off x="8422738" y="2012362"/>
            <a:ext cx="623060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25" name="Rectangle: Rounded Corners 24"/>
          <p:cNvSpPr/>
          <p:nvPr/>
        </p:nvSpPr>
        <p:spPr bwMode="auto">
          <a:xfrm>
            <a:off x="4788025" y="2657002"/>
            <a:ext cx="853029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Neural Networks</a:t>
            </a:r>
            <a:endParaRPr/>
          </a:p>
        </p:txBody>
      </p:sp>
      <p:sp>
        <p:nvSpPr>
          <p:cNvPr id="28" name="Rectangle: Rounded Corners 27"/>
          <p:cNvSpPr/>
          <p:nvPr/>
        </p:nvSpPr>
        <p:spPr bwMode="auto">
          <a:xfrm>
            <a:off x="5697231" y="2647562"/>
            <a:ext cx="853029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Machine Learning</a:t>
            </a:r>
            <a:endParaRPr/>
          </a:p>
        </p:txBody>
      </p:sp>
      <p:sp>
        <p:nvSpPr>
          <p:cNvPr id="30" name="Rectangle: Rounded Corners 29"/>
          <p:cNvSpPr/>
          <p:nvPr/>
        </p:nvSpPr>
        <p:spPr bwMode="auto">
          <a:xfrm>
            <a:off x="6695014" y="2645167"/>
            <a:ext cx="623060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1" name="Rectangle: Rounded Corners 30"/>
          <p:cNvSpPr/>
          <p:nvPr/>
        </p:nvSpPr>
        <p:spPr bwMode="auto">
          <a:xfrm>
            <a:off x="7462828" y="2647032"/>
            <a:ext cx="623060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2" name="Rectangle: Rounded Corners 31"/>
          <p:cNvSpPr/>
          <p:nvPr/>
        </p:nvSpPr>
        <p:spPr bwMode="auto">
          <a:xfrm>
            <a:off x="8192769" y="2663780"/>
            <a:ext cx="853029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3" name="Rectangle: Rounded Corners 32"/>
          <p:cNvSpPr/>
          <p:nvPr/>
        </p:nvSpPr>
        <p:spPr bwMode="auto">
          <a:xfrm>
            <a:off x="4788024" y="3287241"/>
            <a:ext cx="1762236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000">
                <a:solidFill>
                  <a:schemeClr val="tx2"/>
                </a:solidFill>
              </a:rPr>
              <a:t>Project</a:t>
            </a:r>
            <a:endParaRPr/>
          </a:p>
        </p:txBody>
      </p:sp>
      <p:sp>
        <p:nvSpPr>
          <p:cNvPr id="34" name="Rectangle: Rounded Corners 33"/>
          <p:cNvSpPr/>
          <p:nvPr/>
        </p:nvSpPr>
        <p:spPr bwMode="auto">
          <a:xfrm>
            <a:off x="6592071" y="3276260"/>
            <a:ext cx="623060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5" name="Rectangle: Rounded Corners 34"/>
          <p:cNvSpPr/>
          <p:nvPr/>
        </p:nvSpPr>
        <p:spPr bwMode="auto">
          <a:xfrm>
            <a:off x="7265979" y="3276373"/>
            <a:ext cx="853029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6" name="Rectangle: Rounded Corners 35"/>
          <p:cNvSpPr/>
          <p:nvPr/>
        </p:nvSpPr>
        <p:spPr bwMode="auto">
          <a:xfrm>
            <a:off x="8192769" y="3276201"/>
            <a:ext cx="853029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7" name="Rectangle: Rounded Corners 36"/>
          <p:cNvSpPr/>
          <p:nvPr/>
        </p:nvSpPr>
        <p:spPr bwMode="auto">
          <a:xfrm>
            <a:off x="4794514" y="3919661"/>
            <a:ext cx="4251283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800">
                <a:solidFill>
                  <a:schemeClr val="tx2"/>
                </a:solidFill>
              </a:rPr>
              <a:t>Thesis</a:t>
            </a:r>
            <a:endParaRPr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214768" y="1203598"/>
            <a:ext cx="8533695" cy="503882"/>
          </a:xfrm>
        </p:spPr>
        <p:txBody>
          <a:bodyPr/>
          <a:lstStyle/>
          <a:p>
            <a:pPr>
              <a:defRPr/>
            </a:pPr>
            <a:r>
              <a:rPr lang="en-US"/>
              <a:t>How do Modules at Informatik work? 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6"/>
          </p:nvPr>
        </p:nvSpPr>
        <p:spPr bwMode="auto">
          <a:xfrm>
            <a:off x="154213" y="1708323"/>
            <a:ext cx="4417787" cy="2879651"/>
          </a:xfrm>
        </p:spPr>
        <p:txBody>
          <a:bodyPr/>
          <a:lstStyle/>
          <a:p>
            <a:pPr>
              <a:defRPr/>
            </a:pPr>
            <a:r>
              <a:rPr lang="en-US" sz="1400">
                <a:solidFill>
                  <a:schemeClr val="tx1"/>
                </a:solidFill>
              </a:rPr>
              <a:t>Not all courses are available to everyone</a:t>
            </a:r>
            <a:endParaRPr/>
          </a:p>
          <a:p>
            <a:pPr>
              <a:defRPr/>
            </a:pPr>
            <a:r>
              <a:rPr lang="en-US" sz="1400">
                <a:solidFill>
                  <a:schemeClr val="tx1"/>
                </a:solidFill>
              </a:rPr>
              <a:t>Not all new courses are immediately available to IAS</a:t>
            </a:r>
            <a:endParaRPr/>
          </a:p>
          <a:p>
            <a:pPr>
              <a:defRPr/>
            </a:pPr>
            <a:r>
              <a:rPr lang="en-US" sz="1400">
                <a:solidFill>
                  <a:schemeClr val="tx1"/>
                </a:solidFill>
              </a:rPr>
              <a:t>STiNE explains which study branch can register which courses</a:t>
            </a:r>
            <a:endParaRPr/>
          </a:p>
          <a:p>
            <a:pPr>
              <a:defRPr/>
            </a:pPr>
            <a:r>
              <a:rPr lang="en-US" sz="1400">
                <a:solidFill>
                  <a:schemeClr val="tx1"/>
                </a:solidFill>
              </a:rPr>
              <a:t>It is still possible to add new courses to the IAS curriculum (happened two years ago with Optimization for ML)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srgbClr val="3B515B"/>
                </a:solidFill>
                <a:latin typeface="TheSans UHH"/>
                <a:cs typeface="Arial"/>
              </a:rPr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 dirty="0">
                <a:ln>
                  <a:noFill/>
                </a:ln>
                <a:solidFill>
                  <a:srgbClr val="3B515B"/>
                </a:solidFill>
                <a:latin typeface="TheSans UHH"/>
                <a:cs typeface="Arial"/>
              </a:rPr>
              <a:t>05.10.2026</a:t>
            </a:r>
            <a:endParaRPr dirty="0"/>
          </a:p>
        </p:txBody>
      </p:sp>
      <p:sp>
        <p:nvSpPr>
          <p:cNvPr id="11" name="Titel 1"/>
          <p:cNvSpPr>
            <a:spLocks noGrp="1"/>
          </p:cNvSpPr>
          <p:nvPr>
            <p:ph type="title"/>
          </p:nvPr>
        </p:nvSpPr>
        <p:spPr bwMode="auto">
          <a:xfrm>
            <a:off x="214768" y="1203598"/>
            <a:ext cx="8533695" cy="503882"/>
          </a:xfrm>
        </p:spPr>
        <p:txBody>
          <a:bodyPr/>
          <a:lstStyle/>
          <a:p>
            <a:pPr>
              <a:defRPr/>
            </a:pPr>
            <a:r>
              <a:rPr lang="en-US"/>
              <a:t>Agenda</a:t>
            </a:r>
            <a:endParaRPr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6"/>
          </p:nvPr>
        </p:nvSpPr>
        <p:spPr bwMode="auto">
          <a:xfrm>
            <a:off x="214311" y="1779662"/>
            <a:ext cx="8534151" cy="2879651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4CAF50"/>
                </a:solidFill>
              </a:rPr>
              <a:t>Introduction</a:t>
            </a:r>
            <a:endParaRPr/>
          </a:p>
          <a:p>
            <a:pPr>
              <a:defRPr/>
            </a:pPr>
            <a:r>
              <a:rPr lang="en-US">
                <a:solidFill>
                  <a:srgbClr val="4CAF50"/>
                </a:solidFill>
              </a:rPr>
              <a:t>How do Modules at Informatik work? </a:t>
            </a:r>
            <a:endParaRPr/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Courses</a:t>
            </a:r>
            <a:endParaRPr/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If I had known…</a:t>
            </a:r>
            <a:endParaRPr/>
          </a:p>
          <a:p>
            <a:pPr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srgbClr val="3B515B"/>
                </a:solidFill>
                <a:latin typeface="TheSans UHH"/>
                <a:cs typeface="Arial"/>
              </a:rPr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 dirty="0">
                <a:ln>
                  <a:noFill/>
                </a:ln>
                <a:solidFill>
                  <a:srgbClr val="3B515B"/>
                </a:solidFill>
                <a:latin typeface="TheSans UHH"/>
                <a:cs typeface="Arial"/>
              </a:rPr>
              <a:t>05.10.2026</a:t>
            </a:r>
            <a:endParaRPr dirty="0"/>
          </a:p>
        </p:txBody>
      </p:sp>
      <p:sp>
        <p:nvSpPr>
          <p:cNvPr id="11" name="Titel 1"/>
          <p:cNvSpPr>
            <a:spLocks noGrp="1"/>
          </p:cNvSpPr>
          <p:nvPr>
            <p:ph type="title"/>
          </p:nvPr>
        </p:nvSpPr>
        <p:spPr bwMode="auto">
          <a:xfrm>
            <a:off x="214768" y="1203598"/>
            <a:ext cx="8533695" cy="503882"/>
          </a:xfrm>
        </p:spPr>
        <p:txBody>
          <a:bodyPr/>
          <a:lstStyle/>
          <a:p>
            <a:pPr>
              <a:defRPr/>
            </a:pPr>
            <a:r>
              <a:rPr lang="en-US"/>
              <a:t>Agenda</a:t>
            </a:r>
            <a:endParaRPr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6"/>
          </p:nvPr>
        </p:nvSpPr>
        <p:spPr bwMode="auto">
          <a:xfrm>
            <a:off x="214311" y="1779662"/>
            <a:ext cx="8534151" cy="2879651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4CAF50"/>
                </a:solidFill>
              </a:rPr>
              <a:t>Introduction</a:t>
            </a:r>
            <a:endParaRPr/>
          </a:p>
          <a:p>
            <a:pPr>
              <a:defRPr/>
            </a:pPr>
            <a:r>
              <a:rPr lang="en-US">
                <a:solidFill>
                  <a:srgbClr val="4CAF50"/>
                </a:solidFill>
              </a:rPr>
              <a:t>How do Modules at Informatik work? </a:t>
            </a:r>
            <a:endParaRPr/>
          </a:p>
          <a:p>
            <a:pPr>
              <a:defRPr/>
            </a:pPr>
            <a:r>
              <a:rPr lang="en-US" b="1">
                <a:solidFill>
                  <a:srgbClr val="FF0000"/>
                </a:solidFill>
              </a:rPr>
              <a:t>Courses</a:t>
            </a:r>
            <a:endParaRPr/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If I had known…</a:t>
            </a:r>
            <a:endParaRPr/>
          </a:p>
          <a:p>
            <a:pPr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>
              <a:defRPr/>
            </a:pPr>
            <a:r>
              <a:rPr lang="en-US"/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05.10.2026</a:t>
            </a:r>
            <a:endParaRPr dirty="0"/>
          </a:p>
        </p:txBody>
      </p:sp>
      <p:sp>
        <p:nvSpPr>
          <p:cNvPr id="10" name="Rectangle: Rounded Corners 9"/>
          <p:cNvSpPr/>
          <p:nvPr/>
        </p:nvSpPr>
        <p:spPr bwMode="auto">
          <a:xfrm>
            <a:off x="1925212" y="2019641"/>
            <a:ext cx="853029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900">
                <a:solidFill>
                  <a:schemeClr val="tx2"/>
                </a:solidFill>
              </a:rPr>
              <a:t>Software Architecture</a:t>
            </a:r>
            <a:endParaRPr/>
          </a:p>
        </p:txBody>
      </p:sp>
      <p:sp>
        <p:nvSpPr>
          <p:cNvPr id="9" name="Rectangle: Rounded Corners 8"/>
          <p:cNvSpPr/>
          <p:nvPr/>
        </p:nvSpPr>
        <p:spPr bwMode="auto">
          <a:xfrm>
            <a:off x="1016711" y="2019982"/>
            <a:ext cx="853029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Research Methods</a:t>
            </a:r>
            <a:endParaRPr/>
          </a:p>
        </p:txBody>
      </p:sp>
      <p:sp>
        <p:nvSpPr>
          <p:cNvPr id="4" name="Rectangle: Rounded Corners 3"/>
          <p:cNvSpPr/>
          <p:nvPr/>
        </p:nvSpPr>
        <p:spPr bwMode="auto">
          <a:xfrm>
            <a:off x="108209" y="2019982"/>
            <a:ext cx="853029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>
                    <a:lumMod val="95000"/>
                    <a:lumOff val="5000"/>
                  </a:schemeClr>
                </a:solidFill>
              </a:rPr>
              <a:t>Bio-inspired AI</a:t>
            </a:r>
            <a:endParaRPr/>
          </a:p>
        </p:txBody>
      </p:sp>
      <p:sp>
        <p:nvSpPr>
          <p:cNvPr id="11" name="Rectangle: Rounded Corners 10"/>
          <p:cNvSpPr/>
          <p:nvPr/>
        </p:nvSpPr>
        <p:spPr bwMode="auto">
          <a:xfrm>
            <a:off x="2833715" y="2012362"/>
            <a:ext cx="853029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Intelligent Robotics</a:t>
            </a:r>
            <a:endParaRPr/>
          </a:p>
        </p:txBody>
      </p:sp>
      <p:sp>
        <p:nvSpPr>
          <p:cNvPr id="12" name="Rectangle: Rounded Corners 11"/>
          <p:cNvSpPr/>
          <p:nvPr/>
        </p:nvSpPr>
        <p:spPr bwMode="auto">
          <a:xfrm>
            <a:off x="3742218" y="2012362"/>
            <a:ext cx="623060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25" name="Rectangle: Rounded Corners 24"/>
          <p:cNvSpPr/>
          <p:nvPr/>
        </p:nvSpPr>
        <p:spPr bwMode="auto">
          <a:xfrm>
            <a:off x="107505" y="2657002"/>
            <a:ext cx="853029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Neural Networks</a:t>
            </a:r>
            <a:endParaRPr/>
          </a:p>
        </p:txBody>
      </p:sp>
      <p:sp>
        <p:nvSpPr>
          <p:cNvPr id="28" name="Rectangle: Rounded Corners 27"/>
          <p:cNvSpPr/>
          <p:nvPr/>
        </p:nvSpPr>
        <p:spPr bwMode="auto">
          <a:xfrm>
            <a:off x="1016711" y="2647562"/>
            <a:ext cx="853029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Machine Learning</a:t>
            </a:r>
            <a:endParaRPr/>
          </a:p>
        </p:txBody>
      </p:sp>
      <p:sp>
        <p:nvSpPr>
          <p:cNvPr id="30" name="Rectangle: Rounded Corners 29"/>
          <p:cNvSpPr/>
          <p:nvPr/>
        </p:nvSpPr>
        <p:spPr bwMode="auto">
          <a:xfrm>
            <a:off x="2014494" y="2645167"/>
            <a:ext cx="623060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1" name="Rectangle: Rounded Corners 30"/>
          <p:cNvSpPr/>
          <p:nvPr/>
        </p:nvSpPr>
        <p:spPr bwMode="auto">
          <a:xfrm>
            <a:off x="2782308" y="2647032"/>
            <a:ext cx="623060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2" name="Rectangle: Rounded Corners 31"/>
          <p:cNvSpPr/>
          <p:nvPr/>
        </p:nvSpPr>
        <p:spPr bwMode="auto">
          <a:xfrm>
            <a:off x="3512249" y="2663780"/>
            <a:ext cx="853029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3" name="Rectangle: Rounded Corners 32"/>
          <p:cNvSpPr/>
          <p:nvPr/>
        </p:nvSpPr>
        <p:spPr bwMode="auto">
          <a:xfrm>
            <a:off x="107504" y="3287241"/>
            <a:ext cx="1762236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000">
                <a:solidFill>
                  <a:schemeClr val="tx2"/>
                </a:solidFill>
              </a:rPr>
              <a:t>Project</a:t>
            </a:r>
            <a:endParaRPr/>
          </a:p>
        </p:txBody>
      </p:sp>
      <p:sp>
        <p:nvSpPr>
          <p:cNvPr id="34" name="Rectangle: Rounded Corners 33"/>
          <p:cNvSpPr/>
          <p:nvPr/>
        </p:nvSpPr>
        <p:spPr bwMode="auto">
          <a:xfrm>
            <a:off x="1911550" y="3276260"/>
            <a:ext cx="623060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5" name="Rectangle: Rounded Corners 34"/>
          <p:cNvSpPr/>
          <p:nvPr/>
        </p:nvSpPr>
        <p:spPr bwMode="auto">
          <a:xfrm>
            <a:off x="2585459" y="3276373"/>
            <a:ext cx="853029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6" name="Rectangle: Rounded Corners 35"/>
          <p:cNvSpPr/>
          <p:nvPr/>
        </p:nvSpPr>
        <p:spPr bwMode="auto">
          <a:xfrm>
            <a:off x="3512249" y="3276201"/>
            <a:ext cx="853029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7" name="Rectangle: Rounded Corners 36"/>
          <p:cNvSpPr/>
          <p:nvPr/>
        </p:nvSpPr>
        <p:spPr bwMode="auto">
          <a:xfrm>
            <a:off x="113994" y="3919661"/>
            <a:ext cx="4251283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800">
                <a:solidFill>
                  <a:schemeClr val="tx2"/>
                </a:solidFill>
              </a:rPr>
              <a:t>Thesis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>
              <a:defRPr/>
            </a:pPr>
            <a:r>
              <a:rPr lang="en-US"/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05.10.2026</a:t>
            </a:r>
            <a:endParaRPr dirty="0"/>
          </a:p>
        </p:txBody>
      </p:sp>
      <p:sp>
        <p:nvSpPr>
          <p:cNvPr id="10" name="Rectangle: Rounded Corners 9"/>
          <p:cNvSpPr/>
          <p:nvPr/>
        </p:nvSpPr>
        <p:spPr bwMode="auto">
          <a:xfrm>
            <a:off x="1925212" y="2019641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900">
                <a:solidFill>
                  <a:schemeClr val="tx2"/>
                </a:solidFill>
              </a:rPr>
              <a:t>Software Architecture</a:t>
            </a:r>
            <a:endParaRPr/>
          </a:p>
        </p:txBody>
      </p:sp>
      <p:sp>
        <p:nvSpPr>
          <p:cNvPr id="9" name="Rectangle: Rounded Corners 8"/>
          <p:cNvSpPr/>
          <p:nvPr/>
        </p:nvSpPr>
        <p:spPr bwMode="auto">
          <a:xfrm>
            <a:off x="1016711" y="201998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Research Methods</a:t>
            </a:r>
            <a:endParaRPr/>
          </a:p>
        </p:txBody>
      </p:sp>
      <p:sp>
        <p:nvSpPr>
          <p:cNvPr id="4" name="Rectangle: Rounded Corners 3"/>
          <p:cNvSpPr/>
          <p:nvPr/>
        </p:nvSpPr>
        <p:spPr bwMode="auto">
          <a:xfrm>
            <a:off x="108209" y="201998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>
                    <a:lumMod val="95000"/>
                    <a:lumOff val="5000"/>
                  </a:schemeClr>
                </a:solidFill>
              </a:rPr>
              <a:t>Bio-inspired AI</a:t>
            </a:r>
            <a:endParaRPr/>
          </a:p>
        </p:txBody>
      </p:sp>
      <p:sp>
        <p:nvSpPr>
          <p:cNvPr id="11" name="Rectangle: Rounded Corners 10"/>
          <p:cNvSpPr/>
          <p:nvPr/>
        </p:nvSpPr>
        <p:spPr bwMode="auto">
          <a:xfrm>
            <a:off x="2833715" y="201236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Intelligent Robotics</a:t>
            </a:r>
            <a:endParaRPr/>
          </a:p>
        </p:txBody>
      </p:sp>
      <p:sp>
        <p:nvSpPr>
          <p:cNvPr id="12" name="Rectangle: Rounded Corners 11"/>
          <p:cNvSpPr/>
          <p:nvPr/>
        </p:nvSpPr>
        <p:spPr bwMode="auto">
          <a:xfrm>
            <a:off x="3742218" y="2012362"/>
            <a:ext cx="623060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25" name="Rectangle: Rounded Corners 24"/>
          <p:cNvSpPr/>
          <p:nvPr/>
        </p:nvSpPr>
        <p:spPr bwMode="auto">
          <a:xfrm>
            <a:off x="107505" y="265700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Neural Networks</a:t>
            </a:r>
            <a:endParaRPr/>
          </a:p>
        </p:txBody>
      </p:sp>
      <p:sp>
        <p:nvSpPr>
          <p:cNvPr id="28" name="Rectangle: Rounded Corners 27"/>
          <p:cNvSpPr/>
          <p:nvPr/>
        </p:nvSpPr>
        <p:spPr bwMode="auto">
          <a:xfrm>
            <a:off x="1016711" y="264756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Machine Learning</a:t>
            </a:r>
            <a:endParaRPr/>
          </a:p>
        </p:txBody>
      </p:sp>
      <p:sp>
        <p:nvSpPr>
          <p:cNvPr id="30" name="Rectangle: Rounded Corners 29"/>
          <p:cNvSpPr/>
          <p:nvPr/>
        </p:nvSpPr>
        <p:spPr bwMode="auto">
          <a:xfrm>
            <a:off x="2014494" y="2645167"/>
            <a:ext cx="623060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1" name="Rectangle: Rounded Corners 30"/>
          <p:cNvSpPr/>
          <p:nvPr/>
        </p:nvSpPr>
        <p:spPr bwMode="auto">
          <a:xfrm>
            <a:off x="2782308" y="2647032"/>
            <a:ext cx="623060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2" name="Rectangle: Rounded Corners 31"/>
          <p:cNvSpPr/>
          <p:nvPr/>
        </p:nvSpPr>
        <p:spPr bwMode="auto">
          <a:xfrm>
            <a:off x="3512249" y="2663780"/>
            <a:ext cx="853029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3" name="Rectangle: Rounded Corners 32"/>
          <p:cNvSpPr/>
          <p:nvPr/>
        </p:nvSpPr>
        <p:spPr bwMode="auto">
          <a:xfrm>
            <a:off x="107504" y="3287241"/>
            <a:ext cx="1762236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000">
                <a:solidFill>
                  <a:schemeClr val="tx2"/>
                </a:solidFill>
              </a:rPr>
              <a:t>Project</a:t>
            </a:r>
            <a:endParaRPr/>
          </a:p>
        </p:txBody>
      </p:sp>
      <p:sp>
        <p:nvSpPr>
          <p:cNvPr id="34" name="Rectangle: Rounded Corners 33"/>
          <p:cNvSpPr/>
          <p:nvPr/>
        </p:nvSpPr>
        <p:spPr bwMode="auto">
          <a:xfrm>
            <a:off x="1911550" y="3276260"/>
            <a:ext cx="623060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5" name="Rectangle: Rounded Corners 34"/>
          <p:cNvSpPr/>
          <p:nvPr/>
        </p:nvSpPr>
        <p:spPr bwMode="auto">
          <a:xfrm>
            <a:off x="2585459" y="3276373"/>
            <a:ext cx="853029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6" name="Rectangle: Rounded Corners 35"/>
          <p:cNvSpPr/>
          <p:nvPr/>
        </p:nvSpPr>
        <p:spPr bwMode="auto">
          <a:xfrm>
            <a:off x="3512249" y="3276201"/>
            <a:ext cx="853029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7" name="Rectangle: Rounded Corners 36"/>
          <p:cNvSpPr/>
          <p:nvPr/>
        </p:nvSpPr>
        <p:spPr bwMode="auto">
          <a:xfrm>
            <a:off x="113994" y="3919661"/>
            <a:ext cx="4251283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800">
                <a:solidFill>
                  <a:schemeClr val="tx2"/>
                </a:solidFill>
              </a:rPr>
              <a:t>Thesis</a:t>
            </a:r>
            <a:endParaRPr/>
          </a:p>
        </p:txBody>
      </p:sp>
      <p:sp>
        <p:nvSpPr>
          <p:cNvPr id="16" name="Rectangle 15"/>
          <p:cNvSpPr/>
          <p:nvPr/>
        </p:nvSpPr>
        <p:spPr bwMode="auto">
          <a:xfrm>
            <a:off x="113994" y="1275606"/>
            <a:ext cx="353550" cy="593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TextBox 16"/>
          <p:cNvSpPr txBox="1"/>
          <p:nvPr/>
        </p:nvSpPr>
        <p:spPr bwMode="auto">
          <a:xfrm>
            <a:off x="467544" y="1174498"/>
            <a:ext cx="13051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050"/>
              <a:t>Mandatory Courses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>
              <a:defRPr/>
            </a:pPr>
            <a:r>
              <a:rPr lang="en-US"/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05.10.2026</a:t>
            </a:r>
            <a:endParaRPr dirty="0"/>
          </a:p>
        </p:txBody>
      </p:sp>
      <p:sp>
        <p:nvSpPr>
          <p:cNvPr id="10" name="Rectangle: Rounded Corners 9"/>
          <p:cNvSpPr/>
          <p:nvPr/>
        </p:nvSpPr>
        <p:spPr bwMode="auto">
          <a:xfrm>
            <a:off x="1925212" y="2019641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900">
                <a:solidFill>
                  <a:schemeClr val="tx2"/>
                </a:solidFill>
              </a:rPr>
              <a:t>Software Architecture</a:t>
            </a:r>
            <a:endParaRPr/>
          </a:p>
        </p:txBody>
      </p:sp>
      <p:sp>
        <p:nvSpPr>
          <p:cNvPr id="9" name="Rectangle: Rounded Corners 8"/>
          <p:cNvSpPr/>
          <p:nvPr/>
        </p:nvSpPr>
        <p:spPr bwMode="auto">
          <a:xfrm>
            <a:off x="1016711" y="201998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Research Methods</a:t>
            </a:r>
            <a:endParaRPr/>
          </a:p>
        </p:txBody>
      </p:sp>
      <p:sp>
        <p:nvSpPr>
          <p:cNvPr id="4" name="Rectangle: Rounded Corners 3"/>
          <p:cNvSpPr/>
          <p:nvPr/>
        </p:nvSpPr>
        <p:spPr bwMode="auto">
          <a:xfrm>
            <a:off x="108209" y="201998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>
                    <a:lumMod val="95000"/>
                    <a:lumOff val="5000"/>
                  </a:schemeClr>
                </a:solidFill>
              </a:rPr>
              <a:t>Bio-inspired AI</a:t>
            </a:r>
            <a:endParaRPr/>
          </a:p>
        </p:txBody>
      </p:sp>
      <p:sp>
        <p:nvSpPr>
          <p:cNvPr id="11" name="Rectangle: Rounded Corners 10"/>
          <p:cNvSpPr/>
          <p:nvPr/>
        </p:nvSpPr>
        <p:spPr bwMode="auto">
          <a:xfrm>
            <a:off x="2833715" y="201236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Intelligent Robotics</a:t>
            </a:r>
            <a:endParaRPr/>
          </a:p>
        </p:txBody>
      </p:sp>
      <p:sp>
        <p:nvSpPr>
          <p:cNvPr id="12" name="Rectangle: Rounded Corners 11"/>
          <p:cNvSpPr/>
          <p:nvPr/>
        </p:nvSpPr>
        <p:spPr bwMode="auto">
          <a:xfrm>
            <a:off x="3742218" y="2012362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25" name="Rectangle: Rounded Corners 24"/>
          <p:cNvSpPr/>
          <p:nvPr/>
        </p:nvSpPr>
        <p:spPr bwMode="auto">
          <a:xfrm>
            <a:off x="107505" y="265700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Neural Networks</a:t>
            </a:r>
            <a:endParaRPr/>
          </a:p>
        </p:txBody>
      </p:sp>
      <p:sp>
        <p:nvSpPr>
          <p:cNvPr id="28" name="Rectangle: Rounded Corners 27"/>
          <p:cNvSpPr/>
          <p:nvPr/>
        </p:nvSpPr>
        <p:spPr bwMode="auto">
          <a:xfrm>
            <a:off x="1016711" y="264756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Machine Learning</a:t>
            </a:r>
            <a:endParaRPr/>
          </a:p>
        </p:txBody>
      </p:sp>
      <p:sp>
        <p:nvSpPr>
          <p:cNvPr id="30" name="Rectangle: Rounded Corners 29"/>
          <p:cNvSpPr/>
          <p:nvPr/>
        </p:nvSpPr>
        <p:spPr bwMode="auto">
          <a:xfrm>
            <a:off x="2014494" y="2645167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1" name="Rectangle: Rounded Corners 30"/>
          <p:cNvSpPr/>
          <p:nvPr/>
        </p:nvSpPr>
        <p:spPr bwMode="auto">
          <a:xfrm>
            <a:off x="2782308" y="2647032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2" name="Rectangle: Rounded Corners 31"/>
          <p:cNvSpPr/>
          <p:nvPr/>
        </p:nvSpPr>
        <p:spPr bwMode="auto">
          <a:xfrm>
            <a:off x="3512249" y="2663780"/>
            <a:ext cx="853029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3" name="Rectangle: Rounded Corners 32"/>
          <p:cNvSpPr/>
          <p:nvPr/>
        </p:nvSpPr>
        <p:spPr bwMode="auto">
          <a:xfrm>
            <a:off x="107504" y="3287241"/>
            <a:ext cx="1762236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000">
                <a:solidFill>
                  <a:schemeClr val="tx2"/>
                </a:solidFill>
              </a:rPr>
              <a:t>Project</a:t>
            </a:r>
            <a:endParaRPr/>
          </a:p>
        </p:txBody>
      </p:sp>
      <p:sp>
        <p:nvSpPr>
          <p:cNvPr id="34" name="Rectangle: Rounded Corners 33"/>
          <p:cNvSpPr/>
          <p:nvPr/>
        </p:nvSpPr>
        <p:spPr bwMode="auto">
          <a:xfrm>
            <a:off x="1911550" y="3276260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5" name="Rectangle: Rounded Corners 34"/>
          <p:cNvSpPr/>
          <p:nvPr/>
        </p:nvSpPr>
        <p:spPr bwMode="auto">
          <a:xfrm>
            <a:off x="2585459" y="3276373"/>
            <a:ext cx="853029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6" name="Rectangle: Rounded Corners 35"/>
          <p:cNvSpPr/>
          <p:nvPr/>
        </p:nvSpPr>
        <p:spPr bwMode="auto">
          <a:xfrm>
            <a:off x="3512249" y="3276201"/>
            <a:ext cx="853029" cy="47869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7" name="Rectangle: Rounded Corners 36"/>
          <p:cNvSpPr/>
          <p:nvPr/>
        </p:nvSpPr>
        <p:spPr bwMode="auto">
          <a:xfrm>
            <a:off x="113994" y="3919661"/>
            <a:ext cx="4251283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800">
                <a:solidFill>
                  <a:schemeClr val="tx2"/>
                </a:solidFill>
              </a:rPr>
              <a:t>Thesis</a:t>
            </a:r>
            <a:endParaRPr/>
          </a:p>
        </p:txBody>
      </p:sp>
      <p:sp>
        <p:nvSpPr>
          <p:cNvPr id="16" name="Rectangle 15"/>
          <p:cNvSpPr/>
          <p:nvPr/>
        </p:nvSpPr>
        <p:spPr bwMode="auto">
          <a:xfrm>
            <a:off x="113994" y="1275606"/>
            <a:ext cx="353550" cy="593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TextBox 16"/>
          <p:cNvSpPr txBox="1"/>
          <p:nvPr/>
        </p:nvSpPr>
        <p:spPr bwMode="auto">
          <a:xfrm>
            <a:off x="467544" y="1174498"/>
            <a:ext cx="13051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050"/>
              <a:t>Mandatory Courses</a:t>
            </a:r>
            <a:endParaRPr/>
          </a:p>
        </p:txBody>
      </p:sp>
      <p:sp>
        <p:nvSpPr>
          <p:cNvPr id="2" name="Rectangle 1"/>
          <p:cNvSpPr/>
          <p:nvPr/>
        </p:nvSpPr>
        <p:spPr bwMode="auto">
          <a:xfrm>
            <a:off x="115578" y="1532662"/>
            <a:ext cx="353550" cy="5939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Box 2"/>
          <p:cNvSpPr txBox="1"/>
          <p:nvPr/>
        </p:nvSpPr>
        <p:spPr bwMode="auto">
          <a:xfrm>
            <a:off x="469128" y="1431554"/>
            <a:ext cx="9589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050"/>
              <a:t>Focus Options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>
              <a:defRPr/>
            </a:pPr>
            <a:r>
              <a:rPr lang="en-US"/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05.10.2026</a:t>
            </a:r>
            <a:endParaRPr dirty="0"/>
          </a:p>
        </p:txBody>
      </p:sp>
      <p:sp>
        <p:nvSpPr>
          <p:cNvPr id="10" name="Rectangle: Rounded Corners 9"/>
          <p:cNvSpPr/>
          <p:nvPr/>
        </p:nvSpPr>
        <p:spPr bwMode="auto">
          <a:xfrm>
            <a:off x="1925212" y="2019641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900">
                <a:solidFill>
                  <a:schemeClr val="tx2"/>
                </a:solidFill>
              </a:rPr>
              <a:t>Software Architecture</a:t>
            </a:r>
            <a:endParaRPr/>
          </a:p>
        </p:txBody>
      </p:sp>
      <p:sp>
        <p:nvSpPr>
          <p:cNvPr id="9" name="Rectangle: Rounded Corners 8"/>
          <p:cNvSpPr/>
          <p:nvPr/>
        </p:nvSpPr>
        <p:spPr bwMode="auto">
          <a:xfrm>
            <a:off x="1016711" y="201998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Research Methods</a:t>
            </a:r>
            <a:endParaRPr/>
          </a:p>
        </p:txBody>
      </p:sp>
      <p:sp>
        <p:nvSpPr>
          <p:cNvPr id="4" name="Rectangle: Rounded Corners 3"/>
          <p:cNvSpPr/>
          <p:nvPr/>
        </p:nvSpPr>
        <p:spPr bwMode="auto">
          <a:xfrm>
            <a:off x="108209" y="201998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>
                    <a:lumMod val="95000"/>
                    <a:lumOff val="5000"/>
                  </a:schemeClr>
                </a:solidFill>
              </a:rPr>
              <a:t>Bio-inspired AI</a:t>
            </a:r>
            <a:endParaRPr/>
          </a:p>
        </p:txBody>
      </p:sp>
      <p:sp>
        <p:nvSpPr>
          <p:cNvPr id="11" name="Rectangle: Rounded Corners 10"/>
          <p:cNvSpPr/>
          <p:nvPr/>
        </p:nvSpPr>
        <p:spPr bwMode="auto">
          <a:xfrm>
            <a:off x="2833715" y="201236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Intelligent Robotics</a:t>
            </a:r>
            <a:endParaRPr/>
          </a:p>
        </p:txBody>
      </p:sp>
      <p:sp>
        <p:nvSpPr>
          <p:cNvPr id="12" name="Rectangle: Rounded Corners 11"/>
          <p:cNvSpPr/>
          <p:nvPr/>
        </p:nvSpPr>
        <p:spPr bwMode="auto">
          <a:xfrm>
            <a:off x="3742218" y="2012362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25" name="Rectangle: Rounded Corners 24"/>
          <p:cNvSpPr/>
          <p:nvPr/>
        </p:nvSpPr>
        <p:spPr bwMode="auto">
          <a:xfrm>
            <a:off x="107505" y="265700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Neural Networks</a:t>
            </a:r>
            <a:endParaRPr/>
          </a:p>
        </p:txBody>
      </p:sp>
      <p:sp>
        <p:nvSpPr>
          <p:cNvPr id="28" name="Rectangle: Rounded Corners 27"/>
          <p:cNvSpPr/>
          <p:nvPr/>
        </p:nvSpPr>
        <p:spPr bwMode="auto">
          <a:xfrm>
            <a:off x="1016711" y="264756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Machine Learning</a:t>
            </a:r>
            <a:endParaRPr/>
          </a:p>
        </p:txBody>
      </p:sp>
      <p:sp>
        <p:nvSpPr>
          <p:cNvPr id="30" name="Rectangle: Rounded Corners 29"/>
          <p:cNvSpPr/>
          <p:nvPr/>
        </p:nvSpPr>
        <p:spPr bwMode="auto">
          <a:xfrm>
            <a:off x="2014494" y="2645167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1" name="Rectangle: Rounded Corners 30"/>
          <p:cNvSpPr/>
          <p:nvPr/>
        </p:nvSpPr>
        <p:spPr bwMode="auto">
          <a:xfrm>
            <a:off x="2782308" y="2647032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2" name="Rectangle: Rounded Corners 31"/>
          <p:cNvSpPr/>
          <p:nvPr/>
        </p:nvSpPr>
        <p:spPr bwMode="auto">
          <a:xfrm>
            <a:off x="3512249" y="2663780"/>
            <a:ext cx="853029" cy="478693"/>
          </a:xfrm>
          <a:prstGeom prst="roundRect">
            <a:avLst>
              <a:gd name="adj" fmla="val 16667"/>
            </a:avLst>
          </a:prstGeom>
          <a:solidFill>
            <a:srgbClr val="C5D3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3" name="Rectangle: Rounded Corners 32"/>
          <p:cNvSpPr/>
          <p:nvPr/>
        </p:nvSpPr>
        <p:spPr bwMode="auto">
          <a:xfrm>
            <a:off x="107504" y="3287241"/>
            <a:ext cx="1762236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000">
                <a:solidFill>
                  <a:schemeClr val="tx2"/>
                </a:solidFill>
              </a:rPr>
              <a:t>Project</a:t>
            </a:r>
            <a:endParaRPr/>
          </a:p>
        </p:txBody>
      </p:sp>
      <p:sp>
        <p:nvSpPr>
          <p:cNvPr id="34" name="Rectangle: Rounded Corners 33"/>
          <p:cNvSpPr/>
          <p:nvPr/>
        </p:nvSpPr>
        <p:spPr bwMode="auto">
          <a:xfrm>
            <a:off x="1911550" y="3276260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5" name="Rectangle: Rounded Corners 34"/>
          <p:cNvSpPr/>
          <p:nvPr/>
        </p:nvSpPr>
        <p:spPr bwMode="auto">
          <a:xfrm>
            <a:off x="2585459" y="3276373"/>
            <a:ext cx="853029" cy="478693"/>
          </a:xfrm>
          <a:prstGeom prst="roundRect">
            <a:avLst>
              <a:gd name="adj" fmla="val 16667"/>
            </a:avLst>
          </a:prstGeom>
          <a:solidFill>
            <a:srgbClr val="C5D3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6" name="Rectangle: Rounded Corners 35"/>
          <p:cNvSpPr/>
          <p:nvPr/>
        </p:nvSpPr>
        <p:spPr bwMode="auto">
          <a:xfrm>
            <a:off x="3512249" y="3276201"/>
            <a:ext cx="853029" cy="478693"/>
          </a:xfrm>
          <a:prstGeom prst="roundRect">
            <a:avLst>
              <a:gd name="adj" fmla="val 16667"/>
            </a:avLst>
          </a:prstGeom>
          <a:solidFill>
            <a:srgbClr val="C5D3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7" name="Rectangle: Rounded Corners 36"/>
          <p:cNvSpPr/>
          <p:nvPr/>
        </p:nvSpPr>
        <p:spPr bwMode="auto">
          <a:xfrm>
            <a:off x="113994" y="3919661"/>
            <a:ext cx="4251283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800">
                <a:solidFill>
                  <a:schemeClr val="tx2"/>
                </a:solidFill>
              </a:rPr>
              <a:t>Thesis</a:t>
            </a:r>
            <a:endParaRPr/>
          </a:p>
        </p:txBody>
      </p:sp>
      <p:sp>
        <p:nvSpPr>
          <p:cNvPr id="16" name="Rectangle 15"/>
          <p:cNvSpPr/>
          <p:nvPr/>
        </p:nvSpPr>
        <p:spPr bwMode="auto">
          <a:xfrm>
            <a:off x="113994" y="1275606"/>
            <a:ext cx="353550" cy="593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TextBox 16"/>
          <p:cNvSpPr txBox="1"/>
          <p:nvPr/>
        </p:nvSpPr>
        <p:spPr bwMode="auto">
          <a:xfrm>
            <a:off x="467544" y="1174498"/>
            <a:ext cx="13051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050"/>
              <a:t>Mandatory Courses</a:t>
            </a:r>
            <a:endParaRPr/>
          </a:p>
        </p:txBody>
      </p:sp>
      <p:sp>
        <p:nvSpPr>
          <p:cNvPr id="2" name="Rectangle 1"/>
          <p:cNvSpPr/>
          <p:nvPr/>
        </p:nvSpPr>
        <p:spPr bwMode="auto">
          <a:xfrm>
            <a:off x="115578" y="1532662"/>
            <a:ext cx="353550" cy="5939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Box 2"/>
          <p:cNvSpPr txBox="1"/>
          <p:nvPr/>
        </p:nvSpPr>
        <p:spPr bwMode="auto">
          <a:xfrm>
            <a:off x="469128" y="1431554"/>
            <a:ext cx="9589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050"/>
              <a:t>Focus Options</a:t>
            </a:r>
            <a:endParaRPr/>
          </a:p>
        </p:txBody>
      </p:sp>
      <p:sp>
        <p:nvSpPr>
          <p:cNvPr id="6" name="Rectangle 5"/>
          <p:cNvSpPr/>
          <p:nvPr/>
        </p:nvSpPr>
        <p:spPr bwMode="auto">
          <a:xfrm>
            <a:off x="115578" y="1756174"/>
            <a:ext cx="353550" cy="59394"/>
          </a:xfrm>
          <a:prstGeom prst="rect">
            <a:avLst/>
          </a:prstGeom>
          <a:solidFill>
            <a:srgbClr val="C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 bwMode="auto">
          <a:xfrm>
            <a:off x="469128" y="1655066"/>
            <a:ext cx="6623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050"/>
              <a:t>Electives</a:t>
            </a:r>
            <a:endParaRPr/>
          </a:p>
        </p:txBody>
      </p:sp>
      <p:grpSp>
        <p:nvGrpSpPr>
          <p:cNvPr id="13" name="Group 12"/>
          <p:cNvGrpSpPr>
            <a:grpSpLocks noChangeAspect="1"/>
          </p:cNvGrpSpPr>
          <p:nvPr/>
        </p:nvGrpSpPr>
        <p:grpSpPr bwMode="auto">
          <a:xfrm>
            <a:off x="4644008" y="1267453"/>
            <a:ext cx="1335423" cy="274320"/>
            <a:chOff x="4355976" y="2103698"/>
            <a:chExt cx="2448272" cy="504056"/>
          </a:xfrm>
        </p:grpSpPr>
        <p:sp>
          <p:nvSpPr>
            <p:cNvPr id="14" name="Rectangle: Rounded Corners 13"/>
            <p:cNvSpPr/>
            <p:nvPr/>
          </p:nvSpPr>
          <p:spPr bwMode="auto">
            <a:xfrm>
              <a:off x="4355976" y="2103698"/>
              <a:ext cx="2448272" cy="504056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Star: 5 Points 14"/>
            <p:cNvSpPr/>
            <p:nvPr/>
          </p:nvSpPr>
          <p:spPr bwMode="auto">
            <a:xfrm>
              <a:off x="4468382" y="2170455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8" name="Star: 5 Points 17"/>
            <p:cNvSpPr/>
            <p:nvPr/>
          </p:nvSpPr>
          <p:spPr bwMode="auto">
            <a:xfrm>
              <a:off x="4935274" y="21681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9" name="Star: 5 Points 18"/>
            <p:cNvSpPr/>
            <p:nvPr/>
          </p:nvSpPr>
          <p:spPr bwMode="auto">
            <a:xfrm>
              <a:off x="5402166" y="21680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0" name="Star: 5 Points 19"/>
            <p:cNvSpPr/>
            <p:nvPr/>
          </p:nvSpPr>
          <p:spPr bwMode="auto">
            <a:xfrm>
              <a:off x="5869058" y="2165823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1" name="Star: 5 Points 20"/>
            <p:cNvSpPr/>
            <p:nvPr/>
          </p:nvSpPr>
          <p:spPr bwMode="auto">
            <a:xfrm>
              <a:off x="6335949" y="2164854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22" name="Group 21"/>
          <p:cNvGrpSpPr>
            <a:grpSpLocks noChangeAspect="1"/>
          </p:cNvGrpSpPr>
          <p:nvPr/>
        </p:nvGrpSpPr>
        <p:grpSpPr bwMode="auto">
          <a:xfrm>
            <a:off x="4653147" y="1798409"/>
            <a:ext cx="1332413" cy="274320"/>
            <a:chOff x="4355976" y="2103698"/>
            <a:chExt cx="2448272" cy="504056"/>
          </a:xfrm>
        </p:grpSpPr>
        <p:sp>
          <p:nvSpPr>
            <p:cNvPr id="23" name="Rectangle: Rounded Corners 22"/>
            <p:cNvSpPr/>
            <p:nvPr/>
          </p:nvSpPr>
          <p:spPr bwMode="auto">
            <a:xfrm>
              <a:off x="4355976" y="2103698"/>
              <a:ext cx="2448272" cy="504056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4" name="Star: 5 Points 23"/>
            <p:cNvSpPr/>
            <p:nvPr/>
          </p:nvSpPr>
          <p:spPr bwMode="auto">
            <a:xfrm>
              <a:off x="4468382" y="2170455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CDDC39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6" name="Star: 5 Points 25"/>
            <p:cNvSpPr/>
            <p:nvPr/>
          </p:nvSpPr>
          <p:spPr bwMode="auto">
            <a:xfrm>
              <a:off x="4935274" y="21681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CDDC39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" name="Star: 5 Points 26"/>
            <p:cNvSpPr/>
            <p:nvPr/>
          </p:nvSpPr>
          <p:spPr bwMode="auto">
            <a:xfrm>
              <a:off x="5402166" y="21680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9" name="Star: 5 Points 28"/>
            <p:cNvSpPr/>
            <p:nvPr/>
          </p:nvSpPr>
          <p:spPr bwMode="auto">
            <a:xfrm>
              <a:off x="5869058" y="2165823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8" name="Star: 5 Points 37"/>
            <p:cNvSpPr/>
            <p:nvPr/>
          </p:nvSpPr>
          <p:spPr bwMode="auto">
            <a:xfrm>
              <a:off x="6335949" y="2164854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39" name="Group 38"/>
          <p:cNvGrpSpPr>
            <a:grpSpLocks noChangeAspect="1"/>
          </p:cNvGrpSpPr>
          <p:nvPr/>
        </p:nvGrpSpPr>
        <p:grpSpPr bwMode="auto">
          <a:xfrm>
            <a:off x="4647018" y="2329364"/>
            <a:ext cx="1332413" cy="274320"/>
            <a:chOff x="4355976" y="2103698"/>
            <a:chExt cx="2448272" cy="504056"/>
          </a:xfrm>
        </p:grpSpPr>
        <p:sp>
          <p:nvSpPr>
            <p:cNvPr id="40" name="Rectangle: Rounded Corners 39"/>
            <p:cNvSpPr/>
            <p:nvPr/>
          </p:nvSpPr>
          <p:spPr bwMode="auto">
            <a:xfrm>
              <a:off x="4355976" y="2103698"/>
              <a:ext cx="2448272" cy="504056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1" name="Star: 5 Points 40"/>
            <p:cNvSpPr/>
            <p:nvPr/>
          </p:nvSpPr>
          <p:spPr bwMode="auto">
            <a:xfrm>
              <a:off x="4468382" y="2170455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2" name="Star: 5 Points 41"/>
            <p:cNvSpPr/>
            <p:nvPr/>
          </p:nvSpPr>
          <p:spPr bwMode="auto">
            <a:xfrm>
              <a:off x="4935274" y="21681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3" name="Star: 5 Points 42"/>
            <p:cNvSpPr/>
            <p:nvPr/>
          </p:nvSpPr>
          <p:spPr bwMode="auto">
            <a:xfrm>
              <a:off x="5402166" y="21680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4" name="Star: 5 Points 43"/>
            <p:cNvSpPr/>
            <p:nvPr/>
          </p:nvSpPr>
          <p:spPr bwMode="auto">
            <a:xfrm>
              <a:off x="5869058" y="2165823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5" name="Star: 5 Points 44"/>
            <p:cNvSpPr/>
            <p:nvPr/>
          </p:nvSpPr>
          <p:spPr bwMode="auto">
            <a:xfrm>
              <a:off x="6335949" y="2164854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46" name="Group 45"/>
          <p:cNvGrpSpPr>
            <a:grpSpLocks noChangeAspect="1"/>
          </p:cNvGrpSpPr>
          <p:nvPr/>
        </p:nvGrpSpPr>
        <p:grpSpPr bwMode="auto">
          <a:xfrm>
            <a:off x="4647018" y="2860319"/>
            <a:ext cx="1332413" cy="274320"/>
            <a:chOff x="4355976" y="2103698"/>
            <a:chExt cx="2448272" cy="504056"/>
          </a:xfrm>
        </p:grpSpPr>
        <p:sp>
          <p:nvSpPr>
            <p:cNvPr id="47" name="Rectangle: Rounded Corners 46"/>
            <p:cNvSpPr/>
            <p:nvPr/>
          </p:nvSpPr>
          <p:spPr bwMode="auto">
            <a:xfrm>
              <a:off x="4355976" y="2103698"/>
              <a:ext cx="2448272" cy="504056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8" name="Star: 5 Points 47"/>
            <p:cNvSpPr/>
            <p:nvPr/>
          </p:nvSpPr>
          <p:spPr bwMode="auto">
            <a:xfrm>
              <a:off x="4468382" y="2170455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98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9" name="Star: 5 Points 48"/>
            <p:cNvSpPr/>
            <p:nvPr/>
          </p:nvSpPr>
          <p:spPr bwMode="auto">
            <a:xfrm>
              <a:off x="4935274" y="21681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98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0" name="Star: 5 Points 49"/>
            <p:cNvSpPr/>
            <p:nvPr/>
          </p:nvSpPr>
          <p:spPr bwMode="auto">
            <a:xfrm>
              <a:off x="5402166" y="21680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98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1" name="Star: 5 Points 50"/>
            <p:cNvSpPr/>
            <p:nvPr/>
          </p:nvSpPr>
          <p:spPr bwMode="auto">
            <a:xfrm>
              <a:off x="5869058" y="2165823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98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2" name="Star: 5 Points 51"/>
            <p:cNvSpPr/>
            <p:nvPr/>
          </p:nvSpPr>
          <p:spPr bwMode="auto">
            <a:xfrm>
              <a:off x="6335949" y="2164854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53" name="Group 52"/>
          <p:cNvGrpSpPr>
            <a:grpSpLocks noChangeAspect="1"/>
          </p:cNvGrpSpPr>
          <p:nvPr/>
        </p:nvGrpSpPr>
        <p:grpSpPr bwMode="auto">
          <a:xfrm>
            <a:off x="4647018" y="3391275"/>
            <a:ext cx="1332413" cy="274320"/>
            <a:chOff x="4355976" y="2103698"/>
            <a:chExt cx="2448272" cy="504056"/>
          </a:xfrm>
        </p:grpSpPr>
        <p:sp>
          <p:nvSpPr>
            <p:cNvPr id="54" name="Rectangle: Rounded Corners 53"/>
            <p:cNvSpPr/>
            <p:nvPr/>
          </p:nvSpPr>
          <p:spPr bwMode="auto">
            <a:xfrm>
              <a:off x="4355976" y="2103698"/>
              <a:ext cx="2448272" cy="504056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5" name="Star: 5 Points 54"/>
            <p:cNvSpPr/>
            <p:nvPr/>
          </p:nvSpPr>
          <p:spPr bwMode="auto">
            <a:xfrm>
              <a:off x="4468382" y="2170455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6" name="Star: 5 Points 55"/>
            <p:cNvSpPr/>
            <p:nvPr/>
          </p:nvSpPr>
          <p:spPr bwMode="auto">
            <a:xfrm>
              <a:off x="4935274" y="21681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7" name="Star: 5 Points 56"/>
            <p:cNvSpPr/>
            <p:nvPr/>
          </p:nvSpPr>
          <p:spPr bwMode="auto">
            <a:xfrm>
              <a:off x="5402166" y="21680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8" name="Star: 5 Points 57"/>
            <p:cNvSpPr/>
            <p:nvPr/>
          </p:nvSpPr>
          <p:spPr bwMode="auto">
            <a:xfrm>
              <a:off x="5869058" y="2165823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9" name="Star: 5 Points 58"/>
            <p:cNvSpPr/>
            <p:nvPr/>
          </p:nvSpPr>
          <p:spPr bwMode="auto">
            <a:xfrm>
              <a:off x="6335949" y="2164854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60" name="TextBox 59"/>
          <p:cNvSpPr txBox="1"/>
          <p:nvPr/>
        </p:nvSpPr>
        <p:spPr bwMode="auto">
          <a:xfrm>
            <a:off x="6027689" y="1255663"/>
            <a:ext cx="321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/>
              <a:t>The course description is harder than the exam</a:t>
            </a:r>
            <a:endParaRPr/>
          </a:p>
        </p:txBody>
      </p:sp>
      <p:sp>
        <p:nvSpPr>
          <p:cNvPr id="61" name="TextBox 60"/>
          <p:cNvSpPr txBox="1"/>
          <p:nvPr/>
        </p:nvSpPr>
        <p:spPr bwMode="auto">
          <a:xfrm>
            <a:off x="6027581" y="2857640"/>
            <a:ext cx="29754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/>
              <a:t>You don’t pass this course. You survive it</a:t>
            </a:r>
            <a:endParaRPr/>
          </a:p>
        </p:txBody>
      </p:sp>
      <p:sp>
        <p:nvSpPr>
          <p:cNvPr id="66" name="TextBox 65"/>
          <p:cNvSpPr txBox="1"/>
          <p:nvPr/>
        </p:nvSpPr>
        <p:spPr bwMode="auto">
          <a:xfrm>
            <a:off x="6027688" y="1763065"/>
            <a:ext cx="2939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/>
              <a:t>Might need to actually show up once or twice… maybe.</a:t>
            </a:r>
            <a:endParaRPr/>
          </a:p>
        </p:txBody>
      </p:sp>
      <p:sp>
        <p:nvSpPr>
          <p:cNvPr id="69" name="TextBox 68"/>
          <p:cNvSpPr txBox="1"/>
          <p:nvPr/>
        </p:nvSpPr>
        <p:spPr bwMode="auto">
          <a:xfrm>
            <a:off x="6027581" y="2310634"/>
            <a:ext cx="2819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dirty="0"/>
              <a:t>Coffee required. Sleep optional.</a:t>
            </a:r>
            <a:endParaRPr dirty="0"/>
          </a:p>
        </p:txBody>
      </p:sp>
      <p:sp>
        <p:nvSpPr>
          <p:cNvPr id="72" name="TextBox 71"/>
          <p:cNvSpPr txBox="1"/>
          <p:nvPr/>
        </p:nvSpPr>
        <p:spPr bwMode="auto">
          <a:xfrm>
            <a:off x="6027581" y="3358847"/>
            <a:ext cx="3090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/>
              <a:t>Legend says the exam is written in blood</a:t>
            </a:r>
            <a:endParaRPr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CF4178AE-17E7-D453-59E2-1A897D4A8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070" y="3700027"/>
            <a:ext cx="1532817" cy="1377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>
              <a:defRPr/>
            </a:pPr>
            <a:r>
              <a:rPr lang="en-US"/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05.10.2026</a:t>
            </a:r>
            <a:endParaRPr dirty="0"/>
          </a:p>
        </p:txBody>
      </p:sp>
      <p:sp>
        <p:nvSpPr>
          <p:cNvPr id="10" name="Rectangle: Rounded Corners 9"/>
          <p:cNvSpPr/>
          <p:nvPr/>
        </p:nvSpPr>
        <p:spPr bwMode="auto">
          <a:xfrm>
            <a:off x="1925212" y="2019641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900">
                <a:solidFill>
                  <a:schemeClr val="tx2"/>
                </a:solidFill>
              </a:rPr>
              <a:t>Software Architecture</a:t>
            </a:r>
            <a:endParaRPr/>
          </a:p>
        </p:txBody>
      </p:sp>
      <p:sp>
        <p:nvSpPr>
          <p:cNvPr id="9" name="Rectangle: Rounded Corners 8"/>
          <p:cNvSpPr/>
          <p:nvPr/>
        </p:nvSpPr>
        <p:spPr bwMode="auto">
          <a:xfrm>
            <a:off x="1016711" y="201998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Research Methods</a:t>
            </a:r>
            <a:endParaRPr/>
          </a:p>
        </p:txBody>
      </p:sp>
      <p:sp>
        <p:nvSpPr>
          <p:cNvPr id="4" name="Rectangle: Rounded Corners 3"/>
          <p:cNvSpPr/>
          <p:nvPr/>
        </p:nvSpPr>
        <p:spPr bwMode="auto">
          <a:xfrm>
            <a:off x="108209" y="201998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>
                    <a:lumMod val="95000"/>
                    <a:lumOff val="5000"/>
                  </a:schemeClr>
                </a:solidFill>
              </a:rPr>
              <a:t>Bio-inspired AI</a:t>
            </a:r>
            <a:endParaRPr/>
          </a:p>
        </p:txBody>
      </p:sp>
      <p:sp>
        <p:nvSpPr>
          <p:cNvPr id="11" name="Rectangle: Rounded Corners 10"/>
          <p:cNvSpPr/>
          <p:nvPr/>
        </p:nvSpPr>
        <p:spPr bwMode="auto">
          <a:xfrm>
            <a:off x="2833715" y="201236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Intelligent Robotics</a:t>
            </a:r>
            <a:endParaRPr/>
          </a:p>
        </p:txBody>
      </p:sp>
      <p:sp>
        <p:nvSpPr>
          <p:cNvPr id="12" name="Rectangle: Rounded Corners 11"/>
          <p:cNvSpPr/>
          <p:nvPr/>
        </p:nvSpPr>
        <p:spPr bwMode="auto">
          <a:xfrm>
            <a:off x="3742218" y="2012362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25" name="Rectangle: Rounded Corners 24"/>
          <p:cNvSpPr/>
          <p:nvPr/>
        </p:nvSpPr>
        <p:spPr bwMode="auto">
          <a:xfrm>
            <a:off x="107505" y="265700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Neural Networks</a:t>
            </a:r>
            <a:endParaRPr/>
          </a:p>
        </p:txBody>
      </p:sp>
      <p:sp>
        <p:nvSpPr>
          <p:cNvPr id="28" name="Rectangle: Rounded Corners 27"/>
          <p:cNvSpPr/>
          <p:nvPr/>
        </p:nvSpPr>
        <p:spPr bwMode="auto">
          <a:xfrm>
            <a:off x="1016711" y="264756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Machine Learning</a:t>
            </a:r>
            <a:endParaRPr/>
          </a:p>
        </p:txBody>
      </p:sp>
      <p:sp>
        <p:nvSpPr>
          <p:cNvPr id="30" name="Rectangle: Rounded Corners 29"/>
          <p:cNvSpPr/>
          <p:nvPr/>
        </p:nvSpPr>
        <p:spPr bwMode="auto">
          <a:xfrm>
            <a:off x="2014494" y="2645167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1" name="Rectangle: Rounded Corners 30"/>
          <p:cNvSpPr/>
          <p:nvPr/>
        </p:nvSpPr>
        <p:spPr bwMode="auto">
          <a:xfrm>
            <a:off x="2782308" y="2647032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2" name="Rectangle: Rounded Corners 31"/>
          <p:cNvSpPr/>
          <p:nvPr/>
        </p:nvSpPr>
        <p:spPr bwMode="auto">
          <a:xfrm>
            <a:off x="3512249" y="2663780"/>
            <a:ext cx="853029" cy="478693"/>
          </a:xfrm>
          <a:prstGeom prst="roundRect">
            <a:avLst>
              <a:gd name="adj" fmla="val 16667"/>
            </a:avLst>
          </a:prstGeom>
          <a:solidFill>
            <a:srgbClr val="C5D3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3" name="Rectangle: Rounded Corners 32"/>
          <p:cNvSpPr/>
          <p:nvPr/>
        </p:nvSpPr>
        <p:spPr bwMode="auto">
          <a:xfrm>
            <a:off x="107504" y="3287241"/>
            <a:ext cx="1762236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000">
                <a:solidFill>
                  <a:schemeClr val="tx2"/>
                </a:solidFill>
              </a:rPr>
              <a:t>Project</a:t>
            </a:r>
            <a:endParaRPr/>
          </a:p>
        </p:txBody>
      </p:sp>
      <p:sp>
        <p:nvSpPr>
          <p:cNvPr id="34" name="Rectangle: Rounded Corners 33"/>
          <p:cNvSpPr/>
          <p:nvPr/>
        </p:nvSpPr>
        <p:spPr bwMode="auto">
          <a:xfrm>
            <a:off x="1911550" y="3276260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5" name="Rectangle: Rounded Corners 34"/>
          <p:cNvSpPr/>
          <p:nvPr/>
        </p:nvSpPr>
        <p:spPr bwMode="auto">
          <a:xfrm>
            <a:off x="2585459" y="3276373"/>
            <a:ext cx="853029" cy="478693"/>
          </a:xfrm>
          <a:prstGeom prst="roundRect">
            <a:avLst>
              <a:gd name="adj" fmla="val 16667"/>
            </a:avLst>
          </a:prstGeom>
          <a:solidFill>
            <a:srgbClr val="C5D3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6" name="Rectangle: Rounded Corners 35"/>
          <p:cNvSpPr/>
          <p:nvPr/>
        </p:nvSpPr>
        <p:spPr bwMode="auto">
          <a:xfrm>
            <a:off x="3512249" y="3276201"/>
            <a:ext cx="853029" cy="478693"/>
          </a:xfrm>
          <a:prstGeom prst="roundRect">
            <a:avLst>
              <a:gd name="adj" fmla="val 16667"/>
            </a:avLst>
          </a:prstGeom>
          <a:solidFill>
            <a:srgbClr val="C5D3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7" name="Rectangle: Rounded Corners 36"/>
          <p:cNvSpPr/>
          <p:nvPr/>
        </p:nvSpPr>
        <p:spPr bwMode="auto">
          <a:xfrm>
            <a:off x="113994" y="3919661"/>
            <a:ext cx="4251283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800">
                <a:solidFill>
                  <a:schemeClr val="tx2"/>
                </a:solidFill>
              </a:rPr>
              <a:t>Thesis</a:t>
            </a:r>
            <a:endParaRPr/>
          </a:p>
        </p:txBody>
      </p:sp>
      <p:sp>
        <p:nvSpPr>
          <p:cNvPr id="16" name="Rectangle 15"/>
          <p:cNvSpPr/>
          <p:nvPr/>
        </p:nvSpPr>
        <p:spPr bwMode="auto">
          <a:xfrm>
            <a:off x="113994" y="1275606"/>
            <a:ext cx="353550" cy="593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TextBox 16"/>
          <p:cNvSpPr txBox="1"/>
          <p:nvPr/>
        </p:nvSpPr>
        <p:spPr bwMode="auto">
          <a:xfrm>
            <a:off x="467544" y="1174498"/>
            <a:ext cx="13051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050"/>
              <a:t>Mandatory Courses</a:t>
            </a:r>
            <a:endParaRPr/>
          </a:p>
        </p:txBody>
      </p:sp>
      <p:sp>
        <p:nvSpPr>
          <p:cNvPr id="2" name="Rectangle 1"/>
          <p:cNvSpPr/>
          <p:nvPr/>
        </p:nvSpPr>
        <p:spPr bwMode="auto">
          <a:xfrm>
            <a:off x="115578" y="1532662"/>
            <a:ext cx="353550" cy="5939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Box 2"/>
          <p:cNvSpPr txBox="1"/>
          <p:nvPr/>
        </p:nvSpPr>
        <p:spPr bwMode="auto">
          <a:xfrm>
            <a:off x="469128" y="1431554"/>
            <a:ext cx="9589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050"/>
              <a:t>Focus Options</a:t>
            </a:r>
            <a:endParaRPr/>
          </a:p>
        </p:txBody>
      </p:sp>
      <p:sp>
        <p:nvSpPr>
          <p:cNvPr id="6" name="Rectangle 5"/>
          <p:cNvSpPr/>
          <p:nvPr/>
        </p:nvSpPr>
        <p:spPr bwMode="auto">
          <a:xfrm>
            <a:off x="115578" y="1756174"/>
            <a:ext cx="353550" cy="59394"/>
          </a:xfrm>
          <a:prstGeom prst="rect">
            <a:avLst/>
          </a:prstGeom>
          <a:solidFill>
            <a:srgbClr val="C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 bwMode="auto">
          <a:xfrm>
            <a:off x="469128" y="1655066"/>
            <a:ext cx="6623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050"/>
              <a:t>Electives</a:t>
            </a:r>
            <a:endParaRPr/>
          </a:p>
        </p:txBody>
      </p:sp>
      <p:sp>
        <p:nvSpPr>
          <p:cNvPr id="62" name="Rectangle 61"/>
          <p:cNvSpPr/>
          <p:nvPr/>
        </p:nvSpPr>
        <p:spPr bwMode="auto">
          <a:xfrm>
            <a:off x="64547" y="1963619"/>
            <a:ext cx="919119" cy="588279"/>
          </a:xfrm>
          <a:prstGeom prst="rect">
            <a:avLst/>
          </a:prstGeom>
          <a:noFill/>
          <a:ln w="19050">
            <a:solidFill>
              <a:srgbClr val="4CAF50"/>
            </a:solidFill>
            <a:prstDash val="sysDash"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716016" y="1319710"/>
          <a:ext cx="4363438" cy="914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1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17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944">
                <a:tc gridSpan="2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2000" b="1"/>
                        <a:t>Bio-inspired Artificial intelligence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0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200"/>
                        <a:t>Lecture: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 sz="1200"/>
                        <a:t>Pof. Dr. Stefan Wermter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200"/>
                        <a:t>Seminar: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 sz="1200"/>
                        <a:t>Dennis Becker + WTM Group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4" name="Group 13"/>
          <p:cNvGrpSpPr>
            <a:grpSpLocks noChangeAspect="1"/>
          </p:cNvGrpSpPr>
          <p:nvPr/>
        </p:nvGrpSpPr>
        <p:grpSpPr bwMode="auto">
          <a:xfrm>
            <a:off x="4787641" y="2426817"/>
            <a:ext cx="888275" cy="182880"/>
            <a:chOff x="4355976" y="2103698"/>
            <a:chExt cx="2448272" cy="504056"/>
          </a:xfrm>
        </p:grpSpPr>
        <p:sp>
          <p:nvSpPr>
            <p:cNvPr id="15" name="Rectangle: Rounded Corners 14"/>
            <p:cNvSpPr/>
            <p:nvPr/>
          </p:nvSpPr>
          <p:spPr bwMode="auto">
            <a:xfrm>
              <a:off x="4355976" y="2103698"/>
              <a:ext cx="2448272" cy="504056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8" name="Star: 5 Points 17"/>
            <p:cNvSpPr/>
            <p:nvPr/>
          </p:nvSpPr>
          <p:spPr bwMode="auto">
            <a:xfrm>
              <a:off x="4468382" y="2170455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FF00"/>
            </a:solidFill>
            <a:ln>
              <a:solidFill>
                <a:schemeClr val="tx1"/>
              </a:solidFill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9" name="Star: 5 Points 18"/>
            <p:cNvSpPr/>
            <p:nvPr/>
          </p:nvSpPr>
          <p:spPr bwMode="auto">
            <a:xfrm>
              <a:off x="4935274" y="21681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FF00"/>
            </a:solidFill>
            <a:ln>
              <a:solidFill>
                <a:schemeClr val="tx1"/>
              </a:solidFill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0" name="Star: 5 Points 19"/>
            <p:cNvSpPr/>
            <p:nvPr/>
          </p:nvSpPr>
          <p:spPr bwMode="auto">
            <a:xfrm>
              <a:off x="5402166" y="21680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FF00"/>
            </a:solidFill>
            <a:ln>
              <a:solidFill>
                <a:schemeClr val="tx1"/>
              </a:solidFill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1" name="Star: 5 Points 20"/>
            <p:cNvSpPr/>
            <p:nvPr/>
          </p:nvSpPr>
          <p:spPr bwMode="auto">
            <a:xfrm>
              <a:off x="5869058" y="2165823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2" name="Star: 5 Points 21"/>
            <p:cNvSpPr/>
            <p:nvPr/>
          </p:nvSpPr>
          <p:spPr bwMode="auto">
            <a:xfrm>
              <a:off x="6335949" y="2164854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3" name="Rectangle 22"/>
          <p:cNvSpPr/>
          <p:nvPr/>
        </p:nvSpPr>
        <p:spPr bwMode="auto">
          <a:xfrm>
            <a:off x="8028384" y="2399615"/>
            <a:ext cx="888275" cy="182879"/>
          </a:xfrm>
          <a:prstGeom prst="rect">
            <a:avLst/>
          </a:prstGeom>
          <a:solidFill>
            <a:srgbClr val="FF8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200"/>
              <a:t>6 ECTS</a:t>
            </a:r>
            <a:endParaRPr/>
          </a:p>
        </p:txBody>
      </p:sp>
      <p:sp>
        <p:nvSpPr>
          <p:cNvPr id="24" name="Textplatzhalter 2"/>
          <p:cNvSpPr>
            <a:spLocks noGrp="1"/>
          </p:cNvSpPr>
          <p:nvPr>
            <p:ph type="body" sz="quarter" idx="16"/>
          </p:nvPr>
        </p:nvSpPr>
        <p:spPr bwMode="auto">
          <a:xfrm>
            <a:off x="4572000" y="2787775"/>
            <a:ext cx="4507454" cy="2051845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solidFill>
                  <a:schemeClr val="tx1"/>
                </a:solidFill>
              </a:rPr>
              <a:t>The course has „Artificial intelligence“ in it. But most of the content is Neural Networks </a:t>
            </a:r>
            <a:endParaRPr dirty="0"/>
          </a:p>
          <a:p>
            <a:pPr>
              <a:defRPr/>
            </a:pPr>
            <a:r>
              <a:rPr lang="en-US" sz="1200" dirty="0"/>
              <a:t>"Bio-inspired" = links between neural architecture and human brain functions.</a:t>
            </a:r>
            <a:endParaRPr dirty="0"/>
          </a:p>
          <a:p>
            <a:pPr>
              <a:defRPr/>
            </a:pPr>
            <a:r>
              <a:rPr lang="en-US" sz="1200" dirty="0"/>
              <a:t>Strong overlap with Neural Networks and Knowledge Processing courses.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>
              <a:defRPr/>
            </a:pPr>
            <a:r>
              <a:rPr lang="en-US"/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05.10.2026</a:t>
            </a:r>
            <a:endParaRPr dirty="0"/>
          </a:p>
        </p:txBody>
      </p:sp>
      <p:sp>
        <p:nvSpPr>
          <p:cNvPr id="10" name="Rectangle: Rounded Corners 9"/>
          <p:cNvSpPr/>
          <p:nvPr/>
        </p:nvSpPr>
        <p:spPr bwMode="auto">
          <a:xfrm>
            <a:off x="1925212" y="2019641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900">
                <a:solidFill>
                  <a:schemeClr val="tx2"/>
                </a:solidFill>
              </a:rPr>
              <a:t>Software Architecture</a:t>
            </a:r>
            <a:endParaRPr/>
          </a:p>
        </p:txBody>
      </p:sp>
      <p:sp>
        <p:nvSpPr>
          <p:cNvPr id="9" name="Rectangle: Rounded Corners 8"/>
          <p:cNvSpPr/>
          <p:nvPr/>
        </p:nvSpPr>
        <p:spPr bwMode="auto">
          <a:xfrm>
            <a:off x="1016711" y="201998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Research Methods</a:t>
            </a:r>
            <a:endParaRPr/>
          </a:p>
        </p:txBody>
      </p:sp>
      <p:sp>
        <p:nvSpPr>
          <p:cNvPr id="4" name="Rectangle: Rounded Corners 3"/>
          <p:cNvSpPr/>
          <p:nvPr/>
        </p:nvSpPr>
        <p:spPr bwMode="auto">
          <a:xfrm>
            <a:off x="108209" y="201998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>
                    <a:lumMod val="95000"/>
                    <a:lumOff val="5000"/>
                  </a:schemeClr>
                </a:solidFill>
              </a:rPr>
              <a:t>Bio-inspired AI</a:t>
            </a:r>
            <a:endParaRPr/>
          </a:p>
        </p:txBody>
      </p:sp>
      <p:sp>
        <p:nvSpPr>
          <p:cNvPr id="11" name="Rectangle: Rounded Corners 10"/>
          <p:cNvSpPr/>
          <p:nvPr/>
        </p:nvSpPr>
        <p:spPr bwMode="auto">
          <a:xfrm>
            <a:off x="2833715" y="201236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Intelligent Robotics</a:t>
            </a:r>
            <a:endParaRPr/>
          </a:p>
        </p:txBody>
      </p:sp>
      <p:sp>
        <p:nvSpPr>
          <p:cNvPr id="12" name="Rectangle: Rounded Corners 11"/>
          <p:cNvSpPr/>
          <p:nvPr/>
        </p:nvSpPr>
        <p:spPr bwMode="auto">
          <a:xfrm>
            <a:off x="3742218" y="2012362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25" name="Rectangle: Rounded Corners 24"/>
          <p:cNvSpPr/>
          <p:nvPr/>
        </p:nvSpPr>
        <p:spPr bwMode="auto">
          <a:xfrm>
            <a:off x="107505" y="265700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Neural Networks</a:t>
            </a:r>
            <a:endParaRPr/>
          </a:p>
        </p:txBody>
      </p:sp>
      <p:sp>
        <p:nvSpPr>
          <p:cNvPr id="28" name="Rectangle: Rounded Corners 27"/>
          <p:cNvSpPr/>
          <p:nvPr/>
        </p:nvSpPr>
        <p:spPr bwMode="auto">
          <a:xfrm>
            <a:off x="1016711" y="264756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Machine Learning</a:t>
            </a:r>
            <a:endParaRPr/>
          </a:p>
        </p:txBody>
      </p:sp>
      <p:sp>
        <p:nvSpPr>
          <p:cNvPr id="30" name="Rectangle: Rounded Corners 29"/>
          <p:cNvSpPr/>
          <p:nvPr/>
        </p:nvSpPr>
        <p:spPr bwMode="auto">
          <a:xfrm>
            <a:off x="2014494" y="2645167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1" name="Rectangle: Rounded Corners 30"/>
          <p:cNvSpPr/>
          <p:nvPr/>
        </p:nvSpPr>
        <p:spPr bwMode="auto">
          <a:xfrm>
            <a:off x="2782308" y="2647032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2" name="Rectangle: Rounded Corners 31"/>
          <p:cNvSpPr/>
          <p:nvPr/>
        </p:nvSpPr>
        <p:spPr bwMode="auto">
          <a:xfrm>
            <a:off x="3512249" y="2663780"/>
            <a:ext cx="853029" cy="478693"/>
          </a:xfrm>
          <a:prstGeom prst="roundRect">
            <a:avLst>
              <a:gd name="adj" fmla="val 16667"/>
            </a:avLst>
          </a:prstGeom>
          <a:solidFill>
            <a:srgbClr val="C5D3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3" name="Rectangle: Rounded Corners 32"/>
          <p:cNvSpPr/>
          <p:nvPr/>
        </p:nvSpPr>
        <p:spPr bwMode="auto">
          <a:xfrm>
            <a:off x="107504" y="3287241"/>
            <a:ext cx="1762236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000">
                <a:solidFill>
                  <a:schemeClr val="tx2"/>
                </a:solidFill>
              </a:rPr>
              <a:t>Project</a:t>
            </a:r>
            <a:endParaRPr/>
          </a:p>
        </p:txBody>
      </p:sp>
      <p:sp>
        <p:nvSpPr>
          <p:cNvPr id="34" name="Rectangle: Rounded Corners 33"/>
          <p:cNvSpPr/>
          <p:nvPr/>
        </p:nvSpPr>
        <p:spPr bwMode="auto">
          <a:xfrm>
            <a:off x="1911550" y="3276260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5" name="Rectangle: Rounded Corners 34"/>
          <p:cNvSpPr/>
          <p:nvPr/>
        </p:nvSpPr>
        <p:spPr bwMode="auto">
          <a:xfrm>
            <a:off x="2585459" y="3276373"/>
            <a:ext cx="853029" cy="478693"/>
          </a:xfrm>
          <a:prstGeom prst="roundRect">
            <a:avLst>
              <a:gd name="adj" fmla="val 16667"/>
            </a:avLst>
          </a:prstGeom>
          <a:solidFill>
            <a:srgbClr val="C5D3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6" name="Rectangle: Rounded Corners 35"/>
          <p:cNvSpPr/>
          <p:nvPr/>
        </p:nvSpPr>
        <p:spPr bwMode="auto">
          <a:xfrm>
            <a:off x="3512249" y="3276201"/>
            <a:ext cx="853029" cy="478693"/>
          </a:xfrm>
          <a:prstGeom prst="roundRect">
            <a:avLst>
              <a:gd name="adj" fmla="val 16667"/>
            </a:avLst>
          </a:prstGeom>
          <a:solidFill>
            <a:srgbClr val="C5D3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7" name="Rectangle: Rounded Corners 36"/>
          <p:cNvSpPr/>
          <p:nvPr/>
        </p:nvSpPr>
        <p:spPr bwMode="auto">
          <a:xfrm>
            <a:off x="113994" y="3919661"/>
            <a:ext cx="4251283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800">
                <a:solidFill>
                  <a:schemeClr val="tx2"/>
                </a:solidFill>
              </a:rPr>
              <a:t>Thesis</a:t>
            </a:r>
            <a:endParaRPr/>
          </a:p>
        </p:txBody>
      </p:sp>
      <p:sp>
        <p:nvSpPr>
          <p:cNvPr id="16" name="Rectangle 15"/>
          <p:cNvSpPr/>
          <p:nvPr/>
        </p:nvSpPr>
        <p:spPr bwMode="auto">
          <a:xfrm>
            <a:off x="113994" y="1275606"/>
            <a:ext cx="353550" cy="593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TextBox 16"/>
          <p:cNvSpPr txBox="1"/>
          <p:nvPr/>
        </p:nvSpPr>
        <p:spPr bwMode="auto">
          <a:xfrm>
            <a:off x="467544" y="1174498"/>
            <a:ext cx="13051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050"/>
              <a:t>Mandatory Courses</a:t>
            </a:r>
            <a:endParaRPr/>
          </a:p>
        </p:txBody>
      </p:sp>
      <p:sp>
        <p:nvSpPr>
          <p:cNvPr id="2" name="Rectangle 1"/>
          <p:cNvSpPr/>
          <p:nvPr/>
        </p:nvSpPr>
        <p:spPr bwMode="auto">
          <a:xfrm>
            <a:off x="115578" y="1532662"/>
            <a:ext cx="353550" cy="5939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Box 2"/>
          <p:cNvSpPr txBox="1"/>
          <p:nvPr/>
        </p:nvSpPr>
        <p:spPr bwMode="auto">
          <a:xfrm>
            <a:off x="469128" y="1431554"/>
            <a:ext cx="9589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050"/>
              <a:t>Focus Options</a:t>
            </a:r>
            <a:endParaRPr/>
          </a:p>
        </p:txBody>
      </p:sp>
      <p:sp>
        <p:nvSpPr>
          <p:cNvPr id="6" name="Rectangle 5"/>
          <p:cNvSpPr/>
          <p:nvPr/>
        </p:nvSpPr>
        <p:spPr bwMode="auto">
          <a:xfrm>
            <a:off x="115578" y="1756174"/>
            <a:ext cx="353550" cy="59394"/>
          </a:xfrm>
          <a:prstGeom prst="rect">
            <a:avLst/>
          </a:prstGeom>
          <a:solidFill>
            <a:srgbClr val="C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 bwMode="auto">
          <a:xfrm>
            <a:off x="469128" y="1655066"/>
            <a:ext cx="6623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050"/>
              <a:t>Electives</a:t>
            </a:r>
            <a:endParaRPr/>
          </a:p>
        </p:txBody>
      </p:sp>
      <p:sp>
        <p:nvSpPr>
          <p:cNvPr id="62" name="Rectangle 61"/>
          <p:cNvSpPr/>
          <p:nvPr/>
        </p:nvSpPr>
        <p:spPr bwMode="auto">
          <a:xfrm>
            <a:off x="978357" y="1963619"/>
            <a:ext cx="919119" cy="588279"/>
          </a:xfrm>
          <a:prstGeom prst="rect">
            <a:avLst/>
          </a:prstGeom>
          <a:noFill/>
          <a:ln w="19050">
            <a:solidFill>
              <a:srgbClr val="4CAF50"/>
            </a:solidFill>
            <a:prstDash val="sysDash"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365698"/>
              </p:ext>
            </p:extLst>
          </p:nvPr>
        </p:nvGraphicFramePr>
        <p:xfrm>
          <a:off x="4716016" y="1319710"/>
          <a:ext cx="4363438" cy="914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1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17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944">
                <a:tc gridSpan="2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2000" b="1"/>
                        <a:t>Research Methods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0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200"/>
                        <a:t>Lecture: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 sz="1200"/>
                        <a:t>Dr. Sven Magg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200" dirty="0"/>
                        <a:t>Exercises:</a:t>
                      </a:r>
                      <a:endParaRPr dirty="0"/>
                    </a:p>
                    <a:p>
                      <a:pPr>
                        <a:defRPr/>
                      </a:pPr>
                      <a:r>
                        <a:rPr lang="en-US" sz="1200" dirty="0"/>
                        <a:t>Sven Magg + </a:t>
                      </a:r>
                      <a:r>
                        <a:rPr lang="en-US" sz="1200" b="1" dirty="0"/>
                        <a:t>Lennart Bengtson</a:t>
                      </a:r>
                      <a:endParaRPr dirty="0"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3" name="Rectangle 42"/>
          <p:cNvSpPr/>
          <p:nvPr/>
        </p:nvSpPr>
        <p:spPr bwMode="auto">
          <a:xfrm>
            <a:off x="8028384" y="2399615"/>
            <a:ext cx="888275" cy="182879"/>
          </a:xfrm>
          <a:prstGeom prst="rect">
            <a:avLst/>
          </a:prstGeom>
          <a:solidFill>
            <a:srgbClr val="FF8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200"/>
              <a:t>6 ECTS</a:t>
            </a:r>
            <a:endParaRPr/>
          </a:p>
        </p:txBody>
      </p:sp>
      <p:sp>
        <p:nvSpPr>
          <p:cNvPr id="44" name="Textplatzhalter 2"/>
          <p:cNvSpPr>
            <a:spLocks noGrp="1"/>
          </p:cNvSpPr>
          <p:nvPr>
            <p:ph type="body" sz="quarter" idx="16"/>
          </p:nvPr>
        </p:nvSpPr>
        <p:spPr bwMode="auto">
          <a:xfrm>
            <a:off x="4572000" y="2787775"/>
            <a:ext cx="4507454" cy="2051845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solidFill>
                  <a:schemeClr val="tx1"/>
                </a:solidFill>
              </a:rPr>
              <a:t>One of the best course options in IAS</a:t>
            </a:r>
            <a:endParaRPr dirty="0"/>
          </a:p>
          <a:p>
            <a:pPr>
              <a:defRPr/>
            </a:pPr>
            <a:r>
              <a:rPr lang="en-US" sz="1200" dirty="0">
                <a:solidFill>
                  <a:schemeClr val="tx1"/>
                </a:solidFill>
              </a:rPr>
              <a:t>Sven is just awesome. You will attend lectures just because you love the lecturer</a:t>
            </a:r>
            <a:endParaRPr dirty="0"/>
          </a:p>
          <a:p>
            <a:pPr>
              <a:defRPr/>
            </a:pPr>
            <a:r>
              <a:rPr lang="en-US" sz="1200" dirty="0"/>
              <a:t>Course is a good mix of statistics, research and programming</a:t>
            </a:r>
            <a:endParaRPr dirty="0"/>
          </a:p>
          <a:p>
            <a:pPr>
              <a:defRPr/>
            </a:pPr>
            <a:r>
              <a:rPr lang="en-US" sz="1200" dirty="0"/>
              <a:t>Challenging but very rewarding course</a:t>
            </a:r>
            <a:endParaRPr lang="en-US" sz="1200" dirty="0">
              <a:solidFill>
                <a:schemeClr val="tx1"/>
              </a:solidFill>
            </a:endParaRPr>
          </a:p>
        </p:txBody>
      </p:sp>
      <p:grpSp>
        <p:nvGrpSpPr>
          <p:cNvPr id="45" name="Group 44"/>
          <p:cNvGrpSpPr>
            <a:grpSpLocks noChangeAspect="1"/>
          </p:cNvGrpSpPr>
          <p:nvPr/>
        </p:nvGrpSpPr>
        <p:grpSpPr bwMode="auto">
          <a:xfrm>
            <a:off x="4813784" y="2399615"/>
            <a:ext cx="888275" cy="182880"/>
            <a:chOff x="4355976" y="2103698"/>
            <a:chExt cx="2448272" cy="504056"/>
          </a:xfrm>
        </p:grpSpPr>
        <p:sp>
          <p:nvSpPr>
            <p:cNvPr id="46" name="Rectangle: Rounded Corners 45"/>
            <p:cNvSpPr/>
            <p:nvPr/>
          </p:nvSpPr>
          <p:spPr bwMode="auto">
            <a:xfrm>
              <a:off x="4355976" y="2103698"/>
              <a:ext cx="2448272" cy="504056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7" name="Star: 5 Points 46"/>
            <p:cNvSpPr/>
            <p:nvPr/>
          </p:nvSpPr>
          <p:spPr bwMode="auto">
            <a:xfrm>
              <a:off x="4468382" y="2170455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98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8" name="Star: 5 Points 47"/>
            <p:cNvSpPr/>
            <p:nvPr/>
          </p:nvSpPr>
          <p:spPr bwMode="auto">
            <a:xfrm>
              <a:off x="4935274" y="21681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98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9" name="Star: 5 Points 48"/>
            <p:cNvSpPr/>
            <p:nvPr/>
          </p:nvSpPr>
          <p:spPr bwMode="auto">
            <a:xfrm>
              <a:off x="5402166" y="21680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98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0" name="Star: 5 Points 49"/>
            <p:cNvSpPr/>
            <p:nvPr/>
          </p:nvSpPr>
          <p:spPr bwMode="auto">
            <a:xfrm>
              <a:off x="5869058" y="2165823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98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1" name="Star: 5 Points 50"/>
            <p:cNvSpPr/>
            <p:nvPr/>
          </p:nvSpPr>
          <p:spPr bwMode="auto">
            <a:xfrm>
              <a:off x="6335949" y="2164854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83A64FF1-30AE-BEBF-6EAC-B1CD150D8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701008" y="2233958"/>
            <a:ext cx="2148425" cy="19308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>
              <a:defRPr/>
            </a:pPr>
            <a:r>
              <a:rPr lang="en-US"/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05.10.2026</a:t>
            </a:r>
            <a:endParaRPr dirty="0"/>
          </a:p>
        </p:txBody>
      </p:sp>
      <p:sp>
        <p:nvSpPr>
          <p:cNvPr id="10" name="Rectangle: Rounded Corners 9"/>
          <p:cNvSpPr/>
          <p:nvPr/>
        </p:nvSpPr>
        <p:spPr bwMode="auto">
          <a:xfrm>
            <a:off x="1925212" y="2019641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900">
                <a:solidFill>
                  <a:schemeClr val="tx2"/>
                </a:solidFill>
              </a:rPr>
              <a:t>Software Architecture</a:t>
            </a:r>
            <a:endParaRPr/>
          </a:p>
        </p:txBody>
      </p:sp>
      <p:sp>
        <p:nvSpPr>
          <p:cNvPr id="9" name="Rectangle: Rounded Corners 8"/>
          <p:cNvSpPr/>
          <p:nvPr/>
        </p:nvSpPr>
        <p:spPr bwMode="auto">
          <a:xfrm>
            <a:off x="1016711" y="201998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Research Methods</a:t>
            </a:r>
            <a:endParaRPr/>
          </a:p>
        </p:txBody>
      </p:sp>
      <p:sp>
        <p:nvSpPr>
          <p:cNvPr id="4" name="Rectangle: Rounded Corners 3"/>
          <p:cNvSpPr/>
          <p:nvPr/>
        </p:nvSpPr>
        <p:spPr bwMode="auto">
          <a:xfrm>
            <a:off x="108209" y="201998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>
                    <a:lumMod val="95000"/>
                    <a:lumOff val="5000"/>
                  </a:schemeClr>
                </a:solidFill>
              </a:rPr>
              <a:t>Bio-inspired AI</a:t>
            </a:r>
            <a:endParaRPr/>
          </a:p>
        </p:txBody>
      </p:sp>
      <p:sp>
        <p:nvSpPr>
          <p:cNvPr id="11" name="Rectangle: Rounded Corners 10"/>
          <p:cNvSpPr/>
          <p:nvPr/>
        </p:nvSpPr>
        <p:spPr bwMode="auto">
          <a:xfrm>
            <a:off x="2833715" y="201236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Intelligent Robotics</a:t>
            </a:r>
            <a:endParaRPr/>
          </a:p>
        </p:txBody>
      </p:sp>
      <p:sp>
        <p:nvSpPr>
          <p:cNvPr id="12" name="Rectangle: Rounded Corners 11"/>
          <p:cNvSpPr/>
          <p:nvPr/>
        </p:nvSpPr>
        <p:spPr bwMode="auto">
          <a:xfrm>
            <a:off x="3742218" y="2012362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25" name="Rectangle: Rounded Corners 24"/>
          <p:cNvSpPr/>
          <p:nvPr/>
        </p:nvSpPr>
        <p:spPr bwMode="auto">
          <a:xfrm>
            <a:off x="107505" y="265700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Neural Networks</a:t>
            </a:r>
            <a:endParaRPr/>
          </a:p>
        </p:txBody>
      </p:sp>
      <p:sp>
        <p:nvSpPr>
          <p:cNvPr id="28" name="Rectangle: Rounded Corners 27"/>
          <p:cNvSpPr/>
          <p:nvPr/>
        </p:nvSpPr>
        <p:spPr bwMode="auto">
          <a:xfrm>
            <a:off x="1016711" y="264756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Machine Learning</a:t>
            </a:r>
            <a:endParaRPr/>
          </a:p>
        </p:txBody>
      </p:sp>
      <p:sp>
        <p:nvSpPr>
          <p:cNvPr id="30" name="Rectangle: Rounded Corners 29"/>
          <p:cNvSpPr/>
          <p:nvPr/>
        </p:nvSpPr>
        <p:spPr bwMode="auto">
          <a:xfrm>
            <a:off x="2014494" y="2645167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1" name="Rectangle: Rounded Corners 30"/>
          <p:cNvSpPr/>
          <p:nvPr/>
        </p:nvSpPr>
        <p:spPr bwMode="auto">
          <a:xfrm>
            <a:off x="2782308" y="2647032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2" name="Rectangle: Rounded Corners 31"/>
          <p:cNvSpPr/>
          <p:nvPr/>
        </p:nvSpPr>
        <p:spPr bwMode="auto">
          <a:xfrm>
            <a:off x="3512249" y="2663780"/>
            <a:ext cx="853029" cy="478693"/>
          </a:xfrm>
          <a:prstGeom prst="roundRect">
            <a:avLst>
              <a:gd name="adj" fmla="val 16667"/>
            </a:avLst>
          </a:prstGeom>
          <a:solidFill>
            <a:srgbClr val="C5D3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3" name="Rectangle: Rounded Corners 32"/>
          <p:cNvSpPr/>
          <p:nvPr/>
        </p:nvSpPr>
        <p:spPr bwMode="auto">
          <a:xfrm>
            <a:off x="107504" y="3287241"/>
            <a:ext cx="1762236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000">
                <a:solidFill>
                  <a:schemeClr val="tx2"/>
                </a:solidFill>
              </a:rPr>
              <a:t>Project</a:t>
            </a:r>
            <a:endParaRPr/>
          </a:p>
        </p:txBody>
      </p:sp>
      <p:sp>
        <p:nvSpPr>
          <p:cNvPr id="34" name="Rectangle: Rounded Corners 33"/>
          <p:cNvSpPr/>
          <p:nvPr/>
        </p:nvSpPr>
        <p:spPr bwMode="auto">
          <a:xfrm>
            <a:off x="1911550" y="3276260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5" name="Rectangle: Rounded Corners 34"/>
          <p:cNvSpPr/>
          <p:nvPr/>
        </p:nvSpPr>
        <p:spPr bwMode="auto">
          <a:xfrm>
            <a:off x="2585459" y="3276373"/>
            <a:ext cx="853029" cy="478693"/>
          </a:xfrm>
          <a:prstGeom prst="roundRect">
            <a:avLst>
              <a:gd name="adj" fmla="val 16667"/>
            </a:avLst>
          </a:prstGeom>
          <a:solidFill>
            <a:srgbClr val="C5D3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6" name="Rectangle: Rounded Corners 35"/>
          <p:cNvSpPr/>
          <p:nvPr/>
        </p:nvSpPr>
        <p:spPr bwMode="auto">
          <a:xfrm>
            <a:off x="3512249" y="3276201"/>
            <a:ext cx="853029" cy="478693"/>
          </a:xfrm>
          <a:prstGeom prst="roundRect">
            <a:avLst>
              <a:gd name="adj" fmla="val 16667"/>
            </a:avLst>
          </a:prstGeom>
          <a:solidFill>
            <a:srgbClr val="C5D3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7" name="Rectangle: Rounded Corners 36"/>
          <p:cNvSpPr/>
          <p:nvPr/>
        </p:nvSpPr>
        <p:spPr bwMode="auto">
          <a:xfrm>
            <a:off x="113994" y="3919661"/>
            <a:ext cx="4251283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800">
                <a:solidFill>
                  <a:schemeClr val="tx2"/>
                </a:solidFill>
              </a:rPr>
              <a:t>Thesis</a:t>
            </a:r>
            <a:endParaRPr/>
          </a:p>
        </p:txBody>
      </p:sp>
      <p:sp>
        <p:nvSpPr>
          <p:cNvPr id="16" name="Rectangle 15"/>
          <p:cNvSpPr/>
          <p:nvPr/>
        </p:nvSpPr>
        <p:spPr bwMode="auto">
          <a:xfrm>
            <a:off x="113994" y="1275606"/>
            <a:ext cx="353550" cy="593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TextBox 16"/>
          <p:cNvSpPr txBox="1"/>
          <p:nvPr/>
        </p:nvSpPr>
        <p:spPr bwMode="auto">
          <a:xfrm>
            <a:off x="467544" y="1174498"/>
            <a:ext cx="13051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050"/>
              <a:t>Mandatory Courses</a:t>
            </a:r>
            <a:endParaRPr/>
          </a:p>
        </p:txBody>
      </p:sp>
      <p:sp>
        <p:nvSpPr>
          <p:cNvPr id="2" name="Rectangle 1"/>
          <p:cNvSpPr/>
          <p:nvPr/>
        </p:nvSpPr>
        <p:spPr bwMode="auto">
          <a:xfrm>
            <a:off x="115578" y="1532662"/>
            <a:ext cx="353550" cy="5939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Box 2"/>
          <p:cNvSpPr txBox="1"/>
          <p:nvPr/>
        </p:nvSpPr>
        <p:spPr bwMode="auto">
          <a:xfrm>
            <a:off x="469128" y="1431554"/>
            <a:ext cx="9589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050"/>
              <a:t>Focus Options</a:t>
            </a:r>
            <a:endParaRPr/>
          </a:p>
        </p:txBody>
      </p:sp>
      <p:sp>
        <p:nvSpPr>
          <p:cNvPr id="6" name="Rectangle 5"/>
          <p:cNvSpPr/>
          <p:nvPr/>
        </p:nvSpPr>
        <p:spPr bwMode="auto">
          <a:xfrm>
            <a:off x="115578" y="1756174"/>
            <a:ext cx="353550" cy="59394"/>
          </a:xfrm>
          <a:prstGeom prst="rect">
            <a:avLst/>
          </a:prstGeom>
          <a:solidFill>
            <a:srgbClr val="C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 bwMode="auto">
          <a:xfrm>
            <a:off x="469128" y="1655066"/>
            <a:ext cx="6623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050"/>
              <a:t>Electives</a:t>
            </a:r>
            <a:endParaRPr/>
          </a:p>
        </p:txBody>
      </p:sp>
      <p:sp>
        <p:nvSpPr>
          <p:cNvPr id="62" name="Rectangle 61"/>
          <p:cNvSpPr/>
          <p:nvPr/>
        </p:nvSpPr>
        <p:spPr bwMode="auto">
          <a:xfrm>
            <a:off x="1884746" y="1963619"/>
            <a:ext cx="919119" cy="588279"/>
          </a:xfrm>
          <a:prstGeom prst="rect">
            <a:avLst/>
          </a:prstGeom>
          <a:noFill/>
          <a:ln w="19050">
            <a:solidFill>
              <a:srgbClr val="4CAF50"/>
            </a:solidFill>
            <a:prstDash val="sysDash"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220802"/>
              </p:ext>
            </p:extLst>
          </p:nvPr>
        </p:nvGraphicFramePr>
        <p:xfrm>
          <a:off x="4716016" y="1319710"/>
          <a:ext cx="4363438" cy="103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1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17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944">
                <a:tc gridSpan="2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2000" b="1"/>
                        <a:t>Software Architecture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0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200" dirty="0"/>
                        <a:t>Lecture:</a:t>
                      </a:r>
                      <a:endParaRPr dirty="0"/>
                    </a:p>
                    <a:p>
                      <a:pPr>
                        <a:defRPr/>
                      </a:pPr>
                      <a:r>
                        <a:rPr lang="en-US" sz="1200" dirty="0"/>
                        <a:t>Prof. Dr. </a:t>
                      </a:r>
                      <a:r>
                        <a:rPr lang="en-US" sz="1200" dirty="0" err="1"/>
                        <a:t>Linghui</a:t>
                      </a:r>
                      <a:r>
                        <a:rPr lang="en-US" sz="1200" dirty="0"/>
                        <a:t> Luo</a:t>
                      </a:r>
                      <a:endParaRPr dirty="0"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200" dirty="0"/>
                        <a:t>Seminar:</a:t>
                      </a:r>
                      <a:endParaRPr dirty="0"/>
                    </a:p>
                    <a:p>
                      <a:pPr>
                        <a:defRPr/>
                      </a:pPr>
                      <a:r>
                        <a:rPr lang="en-US" sz="1200" dirty="0"/>
                        <a:t>Leif Bonorden + Dr. Jan Christian Dammann</a:t>
                      </a:r>
                      <a:endParaRPr lang="en-US" sz="1200" b="1" dirty="0"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 bwMode="auto">
          <a:xfrm>
            <a:off x="8028384" y="2399615"/>
            <a:ext cx="888275" cy="182879"/>
          </a:xfrm>
          <a:prstGeom prst="rect">
            <a:avLst/>
          </a:prstGeom>
          <a:solidFill>
            <a:srgbClr val="FF8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200"/>
              <a:t>6 ECTS</a:t>
            </a:r>
            <a:endParaRPr/>
          </a:p>
        </p:txBody>
      </p:sp>
      <p:sp>
        <p:nvSpPr>
          <p:cNvPr id="15" name="Textplatzhalter 2"/>
          <p:cNvSpPr>
            <a:spLocks noGrp="1"/>
          </p:cNvSpPr>
          <p:nvPr>
            <p:ph type="body" sz="quarter" idx="16"/>
          </p:nvPr>
        </p:nvSpPr>
        <p:spPr bwMode="auto">
          <a:xfrm>
            <a:off x="4572000" y="2787775"/>
            <a:ext cx="4507454" cy="2051845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solidFill>
                  <a:schemeClr val="tx1"/>
                </a:solidFill>
              </a:rPr>
              <a:t>Super easy for people who did software architecture, patterns in Bachelor. Super hard for people with AI/Math background but no software engineering background</a:t>
            </a:r>
            <a:endParaRPr dirty="0"/>
          </a:p>
          <a:p>
            <a:pPr>
              <a:defRPr/>
            </a:pPr>
            <a:r>
              <a:rPr lang="en-US" sz="1200" dirty="0">
                <a:solidFill>
                  <a:schemeClr val="tx1"/>
                </a:solidFill>
              </a:rPr>
              <a:t>Not sure why this course is mandatory for IAS </a:t>
            </a:r>
            <a:endParaRPr dirty="0"/>
          </a:p>
          <a:p>
            <a:pPr>
              <a:defRPr/>
            </a:pPr>
            <a:r>
              <a:rPr lang="en-US" sz="1200" dirty="0">
                <a:solidFill>
                  <a:schemeClr val="tx1"/>
                </a:solidFill>
              </a:rPr>
              <a:t>This year the new Professor teaches the course</a:t>
            </a:r>
            <a:endParaRPr dirty="0"/>
          </a:p>
        </p:txBody>
      </p:sp>
      <p:sp>
        <p:nvSpPr>
          <p:cNvPr id="19" name="Rectangle: Rounded Corners 18"/>
          <p:cNvSpPr/>
          <p:nvPr/>
        </p:nvSpPr>
        <p:spPr bwMode="auto">
          <a:xfrm>
            <a:off x="4813784" y="2399615"/>
            <a:ext cx="888275" cy="182880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400">
                <a:solidFill>
                  <a:srgbClr val="F44336"/>
                </a:solidFill>
              </a:rPr>
              <a:t>? ? ? ? 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>
              <a:defRPr/>
            </a:pPr>
            <a:r>
              <a:rPr lang="en-US"/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05.10.2026</a:t>
            </a:r>
            <a:endParaRPr dirty="0"/>
          </a:p>
        </p:txBody>
      </p:sp>
      <p:sp>
        <p:nvSpPr>
          <p:cNvPr id="10" name="Rectangle: Rounded Corners 9"/>
          <p:cNvSpPr/>
          <p:nvPr/>
        </p:nvSpPr>
        <p:spPr bwMode="auto">
          <a:xfrm>
            <a:off x="1925212" y="2019641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900">
                <a:solidFill>
                  <a:schemeClr val="tx2"/>
                </a:solidFill>
              </a:rPr>
              <a:t>Software Architecture</a:t>
            </a:r>
            <a:endParaRPr/>
          </a:p>
        </p:txBody>
      </p:sp>
      <p:sp>
        <p:nvSpPr>
          <p:cNvPr id="9" name="Rectangle: Rounded Corners 8"/>
          <p:cNvSpPr/>
          <p:nvPr/>
        </p:nvSpPr>
        <p:spPr bwMode="auto">
          <a:xfrm>
            <a:off x="1016711" y="201998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Research Methods</a:t>
            </a:r>
            <a:endParaRPr/>
          </a:p>
        </p:txBody>
      </p:sp>
      <p:sp>
        <p:nvSpPr>
          <p:cNvPr id="4" name="Rectangle: Rounded Corners 3"/>
          <p:cNvSpPr/>
          <p:nvPr/>
        </p:nvSpPr>
        <p:spPr bwMode="auto">
          <a:xfrm>
            <a:off x="108209" y="201998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>
                    <a:lumMod val="95000"/>
                    <a:lumOff val="5000"/>
                  </a:schemeClr>
                </a:solidFill>
              </a:rPr>
              <a:t>Bio-inspired AI</a:t>
            </a:r>
            <a:endParaRPr/>
          </a:p>
        </p:txBody>
      </p:sp>
      <p:sp>
        <p:nvSpPr>
          <p:cNvPr id="11" name="Rectangle: Rounded Corners 10"/>
          <p:cNvSpPr/>
          <p:nvPr/>
        </p:nvSpPr>
        <p:spPr bwMode="auto">
          <a:xfrm>
            <a:off x="2833715" y="201236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Intelligent Robotics</a:t>
            </a:r>
            <a:endParaRPr/>
          </a:p>
        </p:txBody>
      </p:sp>
      <p:sp>
        <p:nvSpPr>
          <p:cNvPr id="12" name="Rectangle: Rounded Corners 11"/>
          <p:cNvSpPr/>
          <p:nvPr/>
        </p:nvSpPr>
        <p:spPr bwMode="auto">
          <a:xfrm>
            <a:off x="3742218" y="2012362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25" name="Rectangle: Rounded Corners 24"/>
          <p:cNvSpPr/>
          <p:nvPr/>
        </p:nvSpPr>
        <p:spPr bwMode="auto">
          <a:xfrm>
            <a:off x="107505" y="265700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Neural Networks</a:t>
            </a:r>
            <a:endParaRPr/>
          </a:p>
        </p:txBody>
      </p:sp>
      <p:sp>
        <p:nvSpPr>
          <p:cNvPr id="28" name="Rectangle: Rounded Corners 27"/>
          <p:cNvSpPr/>
          <p:nvPr/>
        </p:nvSpPr>
        <p:spPr bwMode="auto">
          <a:xfrm>
            <a:off x="1016711" y="264756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Machine Learning</a:t>
            </a:r>
            <a:endParaRPr/>
          </a:p>
        </p:txBody>
      </p:sp>
      <p:sp>
        <p:nvSpPr>
          <p:cNvPr id="30" name="Rectangle: Rounded Corners 29"/>
          <p:cNvSpPr/>
          <p:nvPr/>
        </p:nvSpPr>
        <p:spPr bwMode="auto">
          <a:xfrm>
            <a:off x="2014494" y="2645167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1" name="Rectangle: Rounded Corners 30"/>
          <p:cNvSpPr/>
          <p:nvPr/>
        </p:nvSpPr>
        <p:spPr bwMode="auto">
          <a:xfrm>
            <a:off x="2782308" y="2647032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2" name="Rectangle: Rounded Corners 31"/>
          <p:cNvSpPr/>
          <p:nvPr/>
        </p:nvSpPr>
        <p:spPr bwMode="auto">
          <a:xfrm>
            <a:off x="3512249" y="2663780"/>
            <a:ext cx="853029" cy="478693"/>
          </a:xfrm>
          <a:prstGeom prst="roundRect">
            <a:avLst>
              <a:gd name="adj" fmla="val 16667"/>
            </a:avLst>
          </a:prstGeom>
          <a:solidFill>
            <a:srgbClr val="C5D3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3" name="Rectangle: Rounded Corners 32"/>
          <p:cNvSpPr/>
          <p:nvPr/>
        </p:nvSpPr>
        <p:spPr bwMode="auto">
          <a:xfrm>
            <a:off x="107504" y="3287241"/>
            <a:ext cx="1762236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000">
                <a:solidFill>
                  <a:schemeClr val="tx2"/>
                </a:solidFill>
              </a:rPr>
              <a:t>Project</a:t>
            </a:r>
            <a:endParaRPr/>
          </a:p>
        </p:txBody>
      </p:sp>
      <p:sp>
        <p:nvSpPr>
          <p:cNvPr id="34" name="Rectangle: Rounded Corners 33"/>
          <p:cNvSpPr/>
          <p:nvPr/>
        </p:nvSpPr>
        <p:spPr bwMode="auto">
          <a:xfrm>
            <a:off x="1911550" y="3276260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5" name="Rectangle: Rounded Corners 34"/>
          <p:cNvSpPr/>
          <p:nvPr/>
        </p:nvSpPr>
        <p:spPr bwMode="auto">
          <a:xfrm>
            <a:off x="2585459" y="3276373"/>
            <a:ext cx="853029" cy="478693"/>
          </a:xfrm>
          <a:prstGeom prst="roundRect">
            <a:avLst>
              <a:gd name="adj" fmla="val 16667"/>
            </a:avLst>
          </a:prstGeom>
          <a:solidFill>
            <a:srgbClr val="C5D3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6" name="Rectangle: Rounded Corners 35"/>
          <p:cNvSpPr/>
          <p:nvPr/>
        </p:nvSpPr>
        <p:spPr bwMode="auto">
          <a:xfrm>
            <a:off x="3512249" y="3276201"/>
            <a:ext cx="853029" cy="478693"/>
          </a:xfrm>
          <a:prstGeom prst="roundRect">
            <a:avLst>
              <a:gd name="adj" fmla="val 16667"/>
            </a:avLst>
          </a:prstGeom>
          <a:solidFill>
            <a:srgbClr val="C5D3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7" name="Rectangle: Rounded Corners 36"/>
          <p:cNvSpPr/>
          <p:nvPr/>
        </p:nvSpPr>
        <p:spPr bwMode="auto">
          <a:xfrm>
            <a:off x="113994" y="3919661"/>
            <a:ext cx="4251283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800">
                <a:solidFill>
                  <a:schemeClr val="tx2"/>
                </a:solidFill>
              </a:rPr>
              <a:t>Thesis</a:t>
            </a:r>
            <a:endParaRPr/>
          </a:p>
        </p:txBody>
      </p:sp>
      <p:sp>
        <p:nvSpPr>
          <p:cNvPr id="16" name="Rectangle 15"/>
          <p:cNvSpPr/>
          <p:nvPr/>
        </p:nvSpPr>
        <p:spPr bwMode="auto">
          <a:xfrm>
            <a:off x="113994" y="1275606"/>
            <a:ext cx="353550" cy="593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TextBox 16"/>
          <p:cNvSpPr txBox="1"/>
          <p:nvPr/>
        </p:nvSpPr>
        <p:spPr bwMode="auto">
          <a:xfrm>
            <a:off x="467544" y="1174498"/>
            <a:ext cx="13051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050"/>
              <a:t>Mandatory Courses</a:t>
            </a:r>
            <a:endParaRPr/>
          </a:p>
        </p:txBody>
      </p:sp>
      <p:sp>
        <p:nvSpPr>
          <p:cNvPr id="2" name="Rectangle 1"/>
          <p:cNvSpPr/>
          <p:nvPr/>
        </p:nvSpPr>
        <p:spPr bwMode="auto">
          <a:xfrm>
            <a:off x="115578" y="1532662"/>
            <a:ext cx="353550" cy="5939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Box 2"/>
          <p:cNvSpPr txBox="1"/>
          <p:nvPr/>
        </p:nvSpPr>
        <p:spPr bwMode="auto">
          <a:xfrm>
            <a:off x="469128" y="1431554"/>
            <a:ext cx="9589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050"/>
              <a:t>Focus Options</a:t>
            </a:r>
            <a:endParaRPr/>
          </a:p>
        </p:txBody>
      </p:sp>
      <p:sp>
        <p:nvSpPr>
          <p:cNvPr id="6" name="Rectangle 5"/>
          <p:cNvSpPr/>
          <p:nvPr/>
        </p:nvSpPr>
        <p:spPr bwMode="auto">
          <a:xfrm>
            <a:off x="115578" y="1756174"/>
            <a:ext cx="353550" cy="59394"/>
          </a:xfrm>
          <a:prstGeom prst="rect">
            <a:avLst/>
          </a:prstGeom>
          <a:solidFill>
            <a:srgbClr val="C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 bwMode="auto">
          <a:xfrm>
            <a:off x="469128" y="1655066"/>
            <a:ext cx="6623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050"/>
              <a:t>Electives</a:t>
            </a:r>
            <a:endParaRPr/>
          </a:p>
        </p:txBody>
      </p:sp>
      <p:sp>
        <p:nvSpPr>
          <p:cNvPr id="62" name="Rectangle 61"/>
          <p:cNvSpPr/>
          <p:nvPr/>
        </p:nvSpPr>
        <p:spPr bwMode="auto">
          <a:xfrm>
            <a:off x="2792435" y="1954991"/>
            <a:ext cx="919119" cy="588279"/>
          </a:xfrm>
          <a:prstGeom prst="rect">
            <a:avLst/>
          </a:prstGeom>
          <a:noFill/>
          <a:ln w="19050">
            <a:solidFill>
              <a:srgbClr val="4CAF50"/>
            </a:solidFill>
            <a:prstDash val="sysDash"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716016" y="1319710"/>
          <a:ext cx="4363438" cy="103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1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17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944">
                <a:tc gridSpan="2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2000" b="1"/>
                        <a:t>Intelligent Robotics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0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200"/>
                        <a:t>Lecture: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 sz="1200"/>
                        <a:t>Niklas Fiedler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200"/>
                        <a:t>Seminar: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 sz="1200"/>
                        <a:t>Niklas Fiedler + </a:t>
                      </a:r>
                      <a:br>
                        <a:rPr lang="en-US" sz="1200"/>
                      </a:br>
                      <a:r>
                        <a:rPr lang="en-US" sz="1200"/>
                        <a:t>Jasper Güldenstein + </a:t>
                      </a:r>
                      <a:r>
                        <a:rPr lang="en-US" sz="1200" b="1"/>
                        <a:t>Sam Liu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 bwMode="auto">
          <a:xfrm>
            <a:off x="8028384" y="2399615"/>
            <a:ext cx="888275" cy="182879"/>
          </a:xfrm>
          <a:prstGeom prst="rect">
            <a:avLst/>
          </a:prstGeom>
          <a:solidFill>
            <a:srgbClr val="FF8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200"/>
              <a:t>6 ECTS</a:t>
            </a:r>
            <a:endParaRPr/>
          </a:p>
        </p:txBody>
      </p:sp>
      <p:sp>
        <p:nvSpPr>
          <p:cNvPr id="15" name="Textplatzhalter 2"/>
          <p:cNvSpPr>
            <a:spLocks noGrp="1"/>
          </p:cNvSpPr>
          <p:nvPr>
            <p:ph type="body" sz="quarter" idx="16"/>
          </p:nvPr>
        </p:nvSpPr>
        <p:spPr bwMode="auto">
          <a:xfrm>
            <a:off x="4572000" y="2787775"/>
            <a:ext cx="4507454" cy="2051845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solidFill>
                  <a:schemeClr val="tx1"/>
                </a:solidFill>
              </a:rPr>
              <a:t>Probably the strictest seminar </a:t>
            </a:r>
            <a:endParaRPr dirty="0"/>
          </a:p>
          <a:p>
            <a:pPr>
              <a:defRPr/>
            </a:pPr>
            <a:r>
              <a:rPr lang="en-US" sz="1200" dirty="0">
                <a:solidFill>
                  <a:schemeClr val="tx1"/>
                </a:solidFill>
              </a:rPr>
              <a:t>It‘s recommended to take the course „introduction to robotics“ before starting this one. But it‘s also totally ok to start with IR</a:t>
            </a:r>
            <a:endParaRPr dirty="0"/>
          </a:p>
          <a:p>
            <a:pPr>
              <a:defRPr/>
            </a:pPr>
            <a:endParaRPr lang="en-US" sz="1200" dirty="0">
              <a:solidFill>
                <a:schemeClr val="tx1"/>
              </a:solidFill>
            </a:endParaRPr>
          </a:p>
        </p:txBody>
      </p:sp>
      <p:grpSp>
        <p:nvGrpSpPr>
          <p:cNvPr id="18" name="Group 17"/>
          <p:cNvGrpSpPr>
            <a:grpSpLocks noChangeAspect="1"/>
          </p:cNvGrpSpPr>
          <p:nvPr/>
        </p:nvGrpSpPr>
        <p:grpSpPr bwMode="auto">
          <a:xfrm>
            <a:off x="4813784" y="2399615"/>
            <a:ext cx="888275" cy="182880"/>
            <a:chOff x="4355976" y="2103698"/>
            <a:chExt cx="2448272" cy="504056"/>
          </a:xfrm>
        </p:grpSpPr>
        <p:sp>
          <p:nvSpPr>
            <p:cNvPr id="19" name="Rectangle: Rounded Corners 18"/>
            <p:cNvSpPr/>
            <p:nvPr/>
          </p:nvSpPr>
          <p:spPr bwMode="auto">
            <a:xfrm>
              <a:off x="4355976" y="2103698"/>
              <a:ext cx="2448272" cy="504056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0" name="Star: 5 Points 19"/>
            <p:cNvSpPr/>
            <p:nvPr/>
          </p:nvSpPr>
          <p:spPr bwMode="auto">
            <a:xfrm>
              <a:off x="4468382" y="2170455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98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1" name="Star: 5 Points 20"/>
            <p:cNvSpPr/>
            <p:nvPr/>
          </p:nvSpPr>
          <p:spPr bwMode="auto">
            <a:xfrm>
              <a:off x="4935274" y="21681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98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2" name="Star: 5 Points 21"/>
            <p:cNvSpPr/>
            <p:nvPr/>
          </p:nvSpPr>
          <p:spPr bwMode="auto">
            <a:xfrm>
              <a:off x="5402166" y="21680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98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3" name="Star: 5 Points 22"/>
            <p:cNvSpPr/>
            <p:nvPr/>
          </p:nvSpPr>
          <p:spPr bwMode="auto">
            <a:xfrm>
              <a:off x="5869058" y="2165823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98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4" name="Star: 5 Points 23"/>
            <p:cNvSpPr/>
            <p:nvPr/>
          </p:nvSpPr>
          <p:spPr bwMode="auto">
            <a:xfrm>
              <a:off x="6335949" y="2164854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>
              <a:defRPr/>
            </a:pPr>
            <a:r>
              <a:rPr lang="en-US"/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05.10.2026</a:t>
            </a:r>
            <a:endParaRPr dirty="0"/>
          </a:p>
        </p:txBody>
      </p:sp>
      <p:sp>
        <p:nvSpPr>
          <p:cNvPr id="10" name="Rectangle: Rounded Corners 9"/>
          <p:cNvSpPr/>
          <p:nvPr/>
        </p:nvSpPr>
        <p:spPr bwMode="auto">
          <a:xfrm>
            <a:off x="1925212" y="2019641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900">
                <a:solidFill>
                  <a:schemeClr val="tx2"/>
                </a:solidFill>
              </a:rPr>
              <a:t>Software Architecture</a:t>
            </a:r>
            <a:endParaRPr/>
          </a:p>
        </p:txBody>
      </p:sp>
      <p:sp>
        <p:nvSpPr>
          <p:cNvPr id="9" name="Rectangle: Rounded Corners 8"/>
          <p:cNvSpPr/>
          <p:nvPr/>
        </p:nvSpPr>
        <p:spPr bwMode="auto">
          <a:xfrm>
            <a:off x="1016711" y="201998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Research Methods</a:t>
            </a:r>
            <a:endParaRPr/>
          </a:p>
        </p:txBody>
      </p:sp>
      <p:sp>
        <p:nvSpPr>
          <p:cNvPr id="4" name="Rectangle: Rounded Corners 3"/>
          <p:cNvSpPr/>
          <p:nvPr/>
        </p:nvSpPr>
        <p:spPr bwMode="auto">
          <a:xfrm>
            <a:off x="108209" y="201998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>
                    <a:lumMod val="95000"/>
                    <a:lumOff val="5000"/>
                  </a:schemeClr>
                </a:solidFill>
              </a:rPr>
              <a:t>Bio-inspired AI</a:t>
            </a:r>
            <a:endParaRPr/>
          </a:p>
        </p:txBody>
      </p:sp>
      <p:sp>
        <p:nvSpPr>
          <p:cNvPr id="11" name="Rectangle: Rounded Corners 10"/>
          <p:cNvSpPr/>
          <p:nvPr/>
        </p:nvSpPr>
        <p:spPr bwMode="auto">
          <a:xfrm>
            <a:off x="2833715" y="201236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Intelligent Robotics</a:t>
            </a:r>
            <a:endParaRPr/>
          </a:p>
        </p:txBody>
      </p:sp>
      <p:sp>
        <p:nvSpPr>
          <p:cNvPr id="12" name="Rectangle: Rounded Corners 11"/>
          <p:cNvSpPr/>
          <p:nvPr/>
        </p:nvSpPr>
        <p:spPr bwMode="auto">
          <a:xfrm>
            <a:off x="3742218" y="2012362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25" name="Rectangle: Rounded Corners 24"/>
          <p:cNvSpPr/>
          <p:nvPr/>
        </p:nvSpPr>
        <p:spPr bwMode="auto">
          <a:xfrm>
            <a:off x="107505" y="265700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Neural Networks</a:t>
            </a:r>
            <a:endParaRPr/>
          </a:p>
        </p:txBody>
      </p:sp>
      <p:sp>
        <p:nvSpPr>
          <p:cNvPr id="28" name="Rectangle: Rounded Corners 27"/>
          <p:cNvSpPr/>
          <p:nvPr/>
        </p:nvSpPr>
        <p:spPr bwMode="auto">
          <a:xfrm>
            <a:off x="1016711" y="264756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Machine Learning</a:t>
            </a:r>
            <a:endParaRPr/>
          </a:p>
        </p:txBody>
      </p:sp>
      <p:sp>
        <p:nvSpPr>
          <p:cNvPr id="30" name="Rectangle: Rounded Corners 29"/>
          <p:cNvSpPr/>
          <p:nvPr/>
        </p:nvSpPr>
        <p:spPr bwMode="auto">
          <a:xfrm>
            <a:off x="2014494" y="2645167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1" name="Rectangle: Rounded Corners 30"/>
          <p:cNvSpPr/>
          <p:nvPr/>
        </p:nvSpPr>
        <p:spPr bwMode="auto">
          <a:xfrm>
            <a:off x="2782308" y="2647032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2" name="Rectangle: Rounded Corners 31"/>
          <p:cNvSpPr/>
          <p:nvPr/>
        </p:nvSpPr>
        <p:spPr bwMode="auto">
          <a:xfrm>
            <a:off x="3512249" y="2663780"/>
            <a:ext cx="853029" cy="478693"/>
          </a:xfrm>
          <a:prstGeom prst="roundRect">
            <a:avLst>
              <a:gd name="adj" fmla="val 16667"/>
            </a:avLst>
          </a:prstGeom>
          <a:solidFill>
            <a:srgbClr val="C5D3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3" name="Rectangle: Rounded Corners 32"/>
          <p:cNvSpPr/>
          <p:nvPr/>
        </p:nvSpPr>
        <p:spPr bwMode="auto">
          <a:xfrm>
            <a:off x="107504" y="3287241"/>
            <a:ext cx="1762236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000">
                <a:solidFill>
                  <a:schemeClr val="tx2"/>
                </a:solidFill>
              </a:rPr>
              <a:t>Project</a:t>
            </a:r>
            <a:endParaRPr/>
          </a:p>
        </p:txBody>
      </p:sp>
      <p:sp>
        <p:nvSpPr>
          <p:cNvPr id="34" name="Rectangle: Rounded Corners 33"/>
          <p:cNvSpPr/>
          <p:nvPr/>
        </p:nvSpPr>
        <p:spPr bwMode="auto">
          <a:xfrm>
            <a:off x="1911550" y="3276260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5" name="Rectangle: Rounded Corners 34"/>
          <p:cNvSpPr/>
          <p:nvPr/>
        </p:nvSpPr>
        <p:spPr bwMode="auto">
          <a:xfrm>
            <a:off x="2585459" y="3276373"/>
            <a:ext cx="853029" cy="478693"/>
          </a:xfrm>
          <a:prstGeom prst="roundRect">
            <a:avLst>
              <a:gd name="adj" fmla="val 16667"/>
            </a:avLst>
          </a:prstGeom>
          <a:solidFill>
            <a:srgbClr val="C5D3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6" name="Rectangle: Rounded Corners 35"/>
          <p:cNvSpPr/>
          <p:nvPr/>
        </p:nvSpPr>
        <p:spPr bwMode="auto">
          <a:xfrm>
            <a:off x="3512249" y="3276201"/>
            <a:ext cx="853029" cy="478693"/>
          </a:xfrm>
          <a:prstGeom prst="roundRect">
            <a:avLst>
              <a:gd name="adj" fmla="val 16667"/>
            </a:avLst>
          </a:prstGeom>
          <a:solidFill>
            <a:srgbClr val="C5D3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7" name="Rectangle: Rounded Corners 36"/>
          <p:cNvSpPr/>
          <p:nvPr/>
        </p:nvSpPr>
        <p:spPr bwMode="auto">
          <a:xfrm>
            <a:off x="113994" y="3919661"/>
            <a:ext cx="4251283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800">
                <a:solidFill>
                  <a:schemeClr val="tx2"/>
                </a:solidFill>
              </a:rPr>
              <a:t>Thesis</a:t>
            </a:r>
            <a:endParaRPr/>
          </a:p>
        </p:txBody>
      </p:sp>
      <p:sp>
        <p:nvSpPr>
          <p:cNvPr id="16" name="Rectangle 15"/>
          <p:cNvSpPr/>
          <p:nvPr/>
        </p:nvSpPr>
        <p:spPr bwMode="auto">
          <a:xfrm>
            <a:off x="113994" y="1275606"/>
            <a:ext cx="353550" cy="593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TextBox 16"/>
          <p:cNvSpPr txBox="1"/>
          <p:nvPr/>
        </p:nvSpPr>
        <p:spPr bwMode="auto">
          <a:xfrm>
            <a:off x="467544" y="1174498"/>
            <a:ext cx="13051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050"/>
              <a:t>Mandatory Courses</a:t>
            </a:r>
            <a:endParaRPr/>
          </a:p>
        </p:txBody>
      </p:sp>
      <p:sp>
        <p:nvSpPr>
          <p:cNvPr id="2" name="Rectangle 1"/>
          <p:cNvSpPr/>
          <p:nvPr/>
        </p:nvSpPr>
        <p:spPr bwMode="auto">
          <a:xfrm>
            <a:off x="115578" y="1532662"/>
            <a:ext cx="353550" cy="5939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Box 2"/>
          <p:cNvSpPr txBox="1"/>
          <p:nvPr/>
        </p:nvSpPr>
        <p:spPr bwMode="auto">
          <a:xfrm>
            <a:off x="469128" y="1431554"/>
            <a:ext cx="9589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050"/>
              <a:t>Focus Options</a:t>
            </a:r>
            <a:endParaRPr/>
          </a:p>
        </p:txBody>
      </p:sp>
      <p:sp>
        <p:nvSpPr>
          <p:cNvPr id="6" name="Rectangle 5"/>
          <p:cNvSpPr/>
          <p:nvPr/>
        </p:nvSpPr>
        <p:spPr bwMode="auto">
          <a:xfrm>
            <a:off x="115578" y="1756174"/>
            <a:ext cx="353550" cy="59394"/>
          </a:xfrm>
          <a:prstGeom prst="rect">
            <a:avLst/>
          </a:prstGeom>
          <a:solidFill>
            <a:srgbClr val="C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 bwMode="auto">
          <a:xfrm>
            <a:off x="469128" y="1655066"/>
            <a:ext cx="6623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050"/>
              <a:t>Electives</a:t>
            </a:r>
            <a:endParaRPr/>
          </a:p>
        </p:txBody>
      </p:sp>
      <p:sp>
        <p:nvSpPr>
          <p:cNvPr id="62" name="Rectangle 61"/>
          <p:cNvSpPr/>
          <p:nvPr/>
        </p:nvSpPr>
        <p:spPr bwMode="auto">
          <a:xfrm>
            <a:off x="73303" y="2605548"/>
            <a:ext cx="919119" cy="588279"/>
          </a:xfrm>
          <a:prstGeom prst="rect">
            <a:avLst/>
          </a:prstGeom>
          <a:noFill/>
          <a:ln w="19050">
            <a:solidFill>
              <a:srgbClr val="4CAF50"/>
            </a:solidFill>
            <a:prstDash val="sysDash"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01674"/>
              </p:ext>
            </p:extLst>
          </p:nvPr>
        </p:nvGraphicFramePr>
        <p:xfrm>
          <a:off x="4716016" y="1319710"/>
          <a:ext cx="4363438" cy="914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1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17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944">
                <a:tc gridSpan="2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2000" b="1"/>
                        <a:t>Neural Networks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0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200"/>
                        <a:t>Lecture: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 sz="1200"/>
                        <a:t>Prof. Dr. Stefan Wermter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200" dirty="0"/>
                        <a:t>Seminar:</a:t>
                      </a:r>
                      <a:endParaRPr dirty="0"/>
                    </a:p>
                    <a:p>
                      <a:pPr>
                        <a:defRPr/>
                      </a:pPr>
                      <a:r>
                        <a:rPr lang="en-US" sz="1200" dirty="0"/>
                        <a:t>WTM Group</a:t>
                      </a:r>
                      <a:endParaRPr lang="en-US" sz="1200" b="1" dirty="0"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 bwMode="auto">
          <a:xfrm>
            <a:off x="8028384" y="2399615"/>
            <a:ext cx="888275" cy="182879"/>
          </a:xfrm>
          <a:prstGeom prst="rect">
            <a:avLst/>
          </a:prstGeom>
          <a:solidFill>
            <a:srgbClr val="FF8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200"/>
              <a:t>6 ECTS</a:t>
            </a:r>
            <a:endParaRPr/>
          </a:p>
        </p:txBody>
      </p:sp>
      <p:sp>
        <p:nvSpPr>
          <p:cNvPr id="15" name="Textplatzhalter 2"/>
          <p:cNvSpPr>
            <a:spLocks noGrp="1"/>
          </p:cNvSpPr>
          <p:nvPr>
            <p:ph type="body" sz="quarter" idx="16"/>
          </p:nvPr>
        </p:nvSpPr>
        <p:spPr bwMode="auto">
          <a:xfrm>
            <a:off x="4572000" y="2787775"/>
            <a:ext cx="4507454" cy="2051845"/>
          </a:xfrm>
        </p:spPr>
        <p:txBody>
          <a:bodyPr/>
          <a:lstStyle/>
          <a:p>
            <a:pPr>
              <a:defRPr/>
            </a:pPr>
            <a:r>
              <a:rPr lang="en-US" sz="1200" dirty="0"/>
              <a:t>History of NNs with good introduction to newer architectures such as transformers</a:t>
            </a:r>
            <a:endParaRPr lang="en-US" sz="12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1200" dirty="0">
                <a:solidFill>
                  <a:schemeClr val="tx1"/>
                </a:solidFill>
              </a:rPr>
              <a:t>Not only done by Prof. Wermter but also by different members of the WTM group</a:t>
            </a:r>
            <a:endParaRPr dirty="0"/>
          </a:p>
          <a:p>
            <a:pPr>
              <a:defRPr/>
            </a:pPr>
            <a:r>
              <a:rPr lang="en-US" sz="1200" dirty="0"/>
              <a:t>One of the very good lecturers that are invited by Prof. Wermter are Jae Lee (Transformers) and Hassan Ali (Gaze Prediction)</a:t>
            </a:r>
            <a:endParaRPr dirty="0"/>
          </a:p>
        </p:txBody>
      </p:sp>
      <p:grpSp>
        <p:nvGrpSpPr>
          <p:cNvPr id="26" name="Group 25"/>
          <p:cNvGrpSpPr>
            <a:grpSpLocks noChangeAspect="1"/>
          </p:cNvGrpSpPr>
          <p:nvPr/>
        </p:nvGrpSpPr>
        <p:grpSpPr bwMode="auto">
          <a:xfrm>
            <a:off x="4799855" y="2398063"/>
            <a:ext cx="888275" cy="182880"/>
            <a:chOff x="4355976" y="2103698"/>
            <a:chExt cx="2448272" cy="504056"/>
          </a:xfrm>
        </p:grpSpPr>
        <p:sp>
          <p:nvSpPr>
            <p:cNvPr id="27" name="Rectangle: Rounded Corners 26"/>
            <p:cNvSpPr/>
            <p:nvPr/>
          </p:nvSpPr>
          <p:spPr bwMode="auto">
            <a:xfrm>
              <a:off x="4355976" y="2103698"/>
              <a:ext cx="2448272" cy="504056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9" name="Star: 5 Points 28"/>
            <p:cNvSpPr/>
            <p:nvPr/>
          </p:nvSpPr>
          <p:spPr bwMode="auto">
            <a:xfrm>
              <a:off x="4468382" y="2170455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CDDC39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8" name="Star: 5 Points 37"/>
            <p:cNvSpPr/>
            <p:nvPr/>
          </p:nvSpPr>
          <p:spPr bwMode="auto">
            <a:xfrm>
              <a:off x="4935274" y="21681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CDDC39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9" name="Star: 5 Points 38"/>
            <p:cNvSpPr/>
            <p:nvPr/>
          </p:nvSpPr>
          <p:spPr bwMode="auto">
            <a:xfrm>
              <a:off x="5402166" y="21680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0" name="Star: 5 Points 39"/>
            <p:cNvSpPr/>
            <p:nvPr/>
          </p:nvSpPr>
          <p:spPr bwMode="auto">
            <a:xfrm>
              <a:off x="5869058" y="2165823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1" name="Star: 5 Points 40"/>
            <p:cNvSpPr/>
            <p:nvPr/>
          </p:nvSpPr>
          <p:spPr bwMode="auto">
            <a:xfrm>
              <a:off x="6335949" y="2164854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>
              <a:defRPr/>
            </a:pPr>
            <a:r>
              <a:rPr lang="en-US"/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05.10.2026</a:t>
            </a:r>
            <a:endParaRPr dirty="0"/>
          </a:p>
        </p:txBody>
      </p:sp>
      <p:sp>
        <p:nvSpPr>
          <p:cNvPr id="10" name="Rectangle: Rounded Corners 9"/>
          <p:cNvSpPr/>
          <p:nvPr/>
        </p:nvSpPr>
        <p:spPr bwMode="auto">
          <a:xfrm>
            <a:off x="1925212" y="2019641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900">
                <a:solidFill>
                  <a:schemeClr val="tx2"/>
                </a:solidFill>
              </a:rPr>
              <a:t>Software Architecture</a:t>
            </a:r>
            <a:endParaRPr/>
          </a:p>
        </p:txBody>
      </p:sp>
      <p:sp>
        <p:nvSpPr>
          <p:cNvPr id="9" name="Rectangle: Rounded Corners 8"/>
          <p:cNvSpPr/>
          <p:nvPr/>
        </p:nvSpPr>
        <p:spPr bwMode="auto">
          <a:xfrm>
            <a:off x="1016711" y="201998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Research Methods</a:t>
            </a:r>
            <a:endParaRPr/>
          </a:p>
        </p:txBody>
      </p:sp>
      <p:sp>
        <p:nvSpPr>
          <p:cNvPr id="4" name="Rectangle: Rounded Corners 3"/>
          <p:cNvSpPr/>
          <p:nvPr/>
        </p:nvSpPr>
        <p:spPr bwMode="auto">
          <a:xfrm>
            <a:off x="108209" y="201998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>
                    <a:lumMod val="95000"/>
                    <a:lumOff val="5000"/>
                  </a:schemeClr>
                </a:solidFill>
              </a:rPr>
              <a:t>Bio-inspired AI</a:t>
            </a:r>
            <a:endParaRPr/>
          </a:p>
        </p:txBody>
      </p:sp>
      <p:sp>
        <p:nvSpPr>
          <p:cNvPr id="11" name="Rectangle: Rounded Corners 10"/>
          <p:cNvSpPr/>
          <p:nvPr/>
        </p:nvSpPr>
        <p:spPr bwMode="auto">
          <a:xfrm>
            <a:off x="2833715" y="201236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Intelligent Robotics</a:t>
            </a:r>
            <a:endParaRPr/>
          </a:p>
        </p:txBody>
      </p:sp>
      <p:sp>
        <p:nvSpPr>
          <p:cNvPr id="12" name="Rectangle: Rounded Corners 11"/>
          <p:cNvSpPr/>
          <p:nvPr/>
        </p:nvSpPr>
        <p:spPr bwMode="auto">
          <a:xfrm>
            <a:off x="3742218" y="2012362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25" name="Rectangle: Rounded Corners 24"/>
          <p:cNvSpPr/>
          <p:nvPr/>
        </p:nvSpPr>
        <p:spPr bwMode="auto">
          <a:xfrm>
            <a:off x="107505" y="265700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Neural Networks</a:t>
            </a:r>
            <a:endParaRPr/>
          </a:p>
        </p:txBody>
      </p:sp>
      <p:sp>
        <p:nvSpPr>
          <p:cNvPr id="28" name="Rectangle: Rounded Corners 27"/>
          <p:cNvSpPr/>
          <p:nvPr/>
        </p:nvSpPr>
        <p:spPr bwMode="auto">
          <a:xfrm>
            <a:off x="1016711" y="264756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Machine Learning</a:t>
            </a:r>
            <a:endParaRPr/>
          </a:p>
        </p:txBody>
      </p:sp>
      <p:sp>
        <p:nvSpPr>
          <p:cNvPr id="30" name="Rectangle: Rounded Corners 29"/>
          <p:cNvSpPr/>
          <p:nvPr/>
        </p:nvSpPr>
        <p:spPr bwMode="auto">
          <a:xfrm>
            <a:off x="2014494" y="2645167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1" name="Rectangle: Rounded Corners 30"/>
          <p:cNvSpPr/>
          <p:nvPr/>
        </p:nvSpPr>
        <p:spPr bwMode="auto">
          <a:xfrm>
            <a:off x="2782308" y="2647032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2" name="Rectangle: Rounded Corners 31"/>
          <p:cNvSpPr/>
          <p:nvPr/>
        </p:nvSpPr>
        <p:spPr bwMode="auto">
          <a:xfrm>
            <a:off x="3512249" y="2663780"/>
            <a:ext cx="853029" cy="478693"/>
          </a:xfrm>
          <a:prstGeom prst="roundRect">
            <a:avLst>
              <a:gd name="adj" fmla="val 16667"/>
            </a:avLst>
          </a:prstGeom>
          <a:solidFill>
            <a:srgbClr val="C5D3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3" name="Rectangle: Rounded Corners 32"/>
          <p:cNvSpPr/>
          <p:nvPr/>
        </p:nvSpPr>
        <p:spPr bwMode="auto">
          <a:xfrm>
            <a:off x="107504" y="3287241"/>
            <a:ext cx="1762236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000">
                <a:solidFill>
                  <a:schemeClr val="tx2"/>
                </a:solidFill>
              </a:rPr>
              <a:t>Project</a:t>
            </a:r>
            <a:endParaRPr/>
          </a:p>
        </p:txBody>
      </p:sp>
      <p:sp>
        <p:nvSpPr>
          <p:cNvPr id="34" name="Rectangle: Rounded Corners 33"/>
          <p:cNvSpPr/>
          <p:nvPr/>
        </p:nvSpPr>
        <p:spPr bwMode="auto">
          <a:xfrm>
            <a:off x="1911550" y="3276260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5" name="Rectangle: Rounded Corners 34"/>
          <p:cNvSpPr/>
          <p:nvPr/>
        </p:nvSpPr>
        <p:spPr bwMode="auto">
          <a:xfrm>
            <a:off x="2585459" y="3276373"/>
            <a:ext cx="853029" cy="478693"/>
          </a:xfrm>
          <a:prstGeom prst="roundRect">
            <a:avLst>
              <a:gd name="adj" fmla="val 16667"/>
            </a:avLst>
          </a:prstGeom>
          <a:solidFill>
            <a:srgbClr val="C5D3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6" name="Rectangle: Rounded Corners 35"/>
          <p:cNvSpPr/>
          <p:nvPr/>
        </p:nvSpPr>
        <p:spPr bwMode="auto">
          <a:xfrm>
            <a:off x="3512249" y="3276201"/>
            <a:ext cx="853029" cy="478693"/>
          </a:xfrm>
          <a:prstGeom prst="roundRect">
            <a:avLst>
              <a:gd name="adj" fmla="val 16667"/>
            </a:avLst>
          </a:prstGeom>
          <a:solidFill>
            <a:srgbClr val="C5D3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7" name="Rectangle: Rounded Corners 36"/>
          <p:cNvSpPr/>
          <p:nvPr/>
        </p:nvSpPr>
        <p:spPr bwMode="auto">
          <a:xfrm>
            <a:off x="113994" y="3919661"/>
            <a:ext cx="4251283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800">
                <a:solidFill>
                  <a:schemeClr val="tx2"/>
                </a:solidFill>
              </a:rPr>
              <a:t>Thesis</a:t>
            </a:r>
            <a:endParaRPr/>
          </a:p>
        </p:txBody>
      </p:sp>
      <p:sp>
        <p:nvSpPr>
          <p:cNvPr id="16" name="Rectangle 15"/>
          <p:cNvSpPr/>
          <p:nvPr/>
        </p:nvSpPr>
        <p:spPr bwMode="auto">
          <a:xfrm>
            <a:off x="113994" y="1275606"/>
            <a:ext cx="353550" cy="593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TextBox 16"/>
          <p:cNvSpPr txBox="1"/>
          <p:nvPr/>
        </p:nvSpPr>
        <p:spPr bwMode="auto">
          <a:xfrm>
            <a:off x="467544" y="1174498"/>
            <a:ext cx="13051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050"/>
              <a:t>Mandatory Courses</a:t>
            </a:r>
            <a:endParaRPr/>
          </a:p>
        </p:txBody>
      </p:sp>
      <p:sp>
        <p:nvSpPr>
          <p:cNvPr id="2" name="Rectangle 1"/>
          <p:cNvSpPr/>
          <p:nvPr/>
        </p:nvSpPr>
        <p:spPr bwMode="auto">
          <a:xfrm>
            <a:off x="115578" y="1532662"/>
            <a:ext cx="353550" cy="5939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Box 2"/>
          <p:cNvSpPr txBox="1"/>
          <p:nvPr/>
        </p:nvSpPr>
        <p:spPr bwMode="auto">
          <a:xfrm>
            <a:off x="469128" y="1431554"/>
            <a:ext cx="9589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050"/>
              <a:t>Focus Options</a:t>
            </a:r>
            <a:endParaRPr/>
          </a:p>
        </p:txBody>
      </p:sp>
      <p:sp>
        <p:nvSpPr>
          <p:cNvPr id="6" name="Rectangle 5"/>
          <p:cNvSpPr/>
          <p:nvPr/>
        </p:nvSpPr>
        <p:spPr bwMode="auto">
          <a:xfrm>
            <a:off x="115578" y="1756174"/>
            <a:ext cx="353550" cy="59394"/>
          </a:xfrm>
          <a:prstGeom prst="rect">
            <a:avLst/>
          </a:prstGeom>
          <a:solidFill>
            <a:srgbClr val="C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 bwMode="auto">
          <a:xfrm>
            <a:off x="469128" y="1655066"/>
            <a:ext cx="6623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050"/>
              <a:t>Electives</a:t>
            </a:r>
            <a:endParaRPr/>
          </a:p>
        </p:txBody>
      </p:sp>
      <p:sp>
        <p:nvSpPr>
          <p:cNvPr id="62" name="Rectangle 61"/>
          <p:cNvSpPr/>
          <p:nvPr/>
        </p:nvSpPr>
        <p:spPr bwMode="auto">
          <a:xfrm>
            <a:off x="982695" y="2590373"/>
            <a:ext cx="919119" cy="588279"/>
          </a:xfrm>
          <a:prstGeom prst="rect">
            <a:avLst/>
          </a:prstGeom>
          <a:noFill/>
          <a:ln w="19050">
            <a:solidFill>
              <a:srgbClr val="4CAF50"/>
            </a:solidFill>
            <a:prstDash val="sysDash"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228204"/>
              </p:ext>
            </p:extLst>
          </p:nvPr>
        </p:nvGraphicFramePr>
        <p:xfrm>
          <a:off x="4716016" y="1319710"/>
          <a:ext cx="4363438" cy="103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1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17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944">
                <a:tc gridSpan="2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2000" b="1"/>
                        <a:t>Machine Learning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0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200"/>
                        <a:t>Lecture: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 sz="1200"/>
                        <a:t>Prof. Dr. Sören Laue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200" dirty="0"/>
                        <a:t>Exercises:</a:t>
                      </a:r>
                      <a:endParaRPr dirty="0"/>
                    </a:p>
                    <a:p>
                      <a:pPr>
                        <a:defRPr/>
                      </a:pPr>
                      <a:r>
                        <a:rPr lang="en-US" sz="1200" b="1" dirty="0"/>
                        <a:t>Alhassan Abdelhalim + Hanna </a:t>
                      </a:r>
                      <a:r>
                        <a:rPr lang="en-US" sz="1200" b="1" dirty="0" err="1"/>
                        <a:t>Herasimchyk</a:t>
                      </a:r>
                      <a:r>
                        <a:rPr lang="en-US" sz="1200" dirty="0"/>
                        <a:t> + Robin </a:t>
                      </a:r>
                      <a:r>
                        <a:rPr lang="en-US" sz="1200" dirty="0" err="1"/>
                        <a:t>Labryga</a:t>
                      </a:r>
                      <a:r>
                        <a:rPr lang="en-US" sz="1200" dirty="0"/>
                        <a:t>  </a:t>
                      </a:r>
                      <a:endParaRPr dirty="0"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 bwMode="auto">
          <a:xfrm>
            <a:off x="8028384" y="2399615"/>
            <a:ext cx="888275" cy="182879"/>
          </a:xfrm>
          <a:prstGeom prst="rect">
            <a:avLst/>
          </a:prstGeom>
          <a:solidFill>
            <a:srgbClr val="FF8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200" b="1"/>
              <a:t>9 ECTS</a:t>
            </a:r>
            <a:endParaRPr/>
          </a:p>
        </p:txBody>
      </p:sp>
      <p:sp>
        <p:nvSpPr>
          <p:cNvPr id="15" name="Textplatzhalter 2"/>
          <p:cNvSpPr>
            <a:spLocks noGrp="1"/>
          </p:cNvSpPr>
          <p:nvPr>
            <p:ph type="body" sz="quarter" idx="16"/>
          </p:nvPr>
        </p:nvSpPr>
        <p:spPr bwMode="auto">
          <a:xfrm>
            <a:off x="4572000" y="2787775"/>
            <a:ext cx="4507454" cy="2051845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solidFill>
                  <a:schemeClr val="tx1"/>
                </a:solidFill>
              </a:rPr>
              <a:t>The most demanding yet most rewarding IAS course</a:t>
            </a:r>
            <a:endParaRPr dirty="0"/>
          </a:p>
          <a:p>
            <a:pPr>
              <a:defRPr/>
            </a:pPr>
            <a:r>
              <a:rPr lang="en-US" sz="1200" dirty="0"/>
              <a:t>Divided into 4 parts: Regression, supervised learning, unsupervised learning and Neural Networks</a:t>
            </a:r>
            <a:endParaRPr lang="en-US" sz="12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1200" dirty="0">
                <a:solidFill>
                  <a:schemeClr val="tx1"/>
                </a:solidFill>
              </a:rPr>
              <a:t>Sören explains exceptionally good. The exercises and the quizzes complement the lectures and are exam-relevant</a:t>
            </a:r>
            <a:endParaRPr dirty="0"/>
          </a:p>
          <a:p>
            <a:pPr>
              <a:defRPr/>
            </a:pPr>
            <a:r>
              <a:rPr lang="en-US" sz="1200" dirty="0"/>
              <a:t>You will feel you have really learned something</a:t>
            </a:r>
            <a:endParaRPr dirty="0"/>
          </a:p>
        </p:txBody>
      </p:sp>
      <p:grpSp>
        <p:nvGrpSpPr>
          <p:cNvPr id="26" name="Group 25"/>
          <p:cNvGrpSpPr>
            <a:grpSpLocks noChangeAspect="1"/>
          </p:cNvGrpSpPr>
          <p:nvPr/>
        </p:nvGrpSpPr>
        <p:grpSpPr bwMode="auto">
          <a:xfrm>
            <a:off x="4792485" y="2399614"/>
            <a:ext cx="888275" cy="182880"/>
            <a:chOff x="4355976" y="2103698"/>
            <a:chExt cx="2448272" cy="504056"/>
          </a:xfrm>
        </p:grpSpPr>
        <p:sp>
          <p:nvSpPr>
            <p:cNvPr id="27" name="Rectangle: Rounded Corners 26"/>
            <p:cNvSpPr/>
            <p:nvPr/>
          </p:nvSpPr>
          <p:spPr bwMode="auto">
            <a:xfrm>
              <a:off x="4355976" y="2103698"/>
              <a:ext cx="2448272" cy="504056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9" name="Star: 5 Points 28"/>
            <p:cNvSpPr/>
            <p:nvPr/>
          </p:nvSpPr>
          <p:spPr bwMode="auto">
            <a:xfrm>
              <a:off x="4468382" y="2170455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8" name="Star: 5 Points 37"/>
            <p:cNvSpPr/>
            <p:nvPr/>
          </p:nvSpPr>
          <p:spPr bwMode="auto">
            <a:xfrm>
              <a:off x="4935274" y="21681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9" name="Star: 5 Points 38"/>
            <p:cNvSpPr/>
            <p:nvPr/>
          </p:nvSpPr>
          <p:spPr bwMode="auto">
            <a:xfrm>
              <a:off x="5402166" y="21680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0" name="Star: 5 Points 39"/>
            <p:cNvSpPr/>
            <p:nvPr/>
          </p:nvSpPr>
          <p:spPr bwMode="auto">
            <a:xfrm>
              <a:off x="5869058" y="2165823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1" name="Star: 5 Points 40"/>
            <p:cNvSpPr/>
            <p:nvPr/>
          </p:nvSpPr>
          <p:spPr bwMode="auto">
            <a:xfrm>
              <a:off x="6335949" y="2164854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EFB28C97-271A-C58F-CAAF-639BA2E05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701008" y="2233958"/>
            <a:ext cx="2148425" cy="19308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>
              <a:defRPr/>
            </a:pPr>
            <a:r>
              <a:rPr lang="en-US"/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05.10.2026</a:t>
            </a:r>
            <a:endParaRPr dirty="0"/>
          </a:p>
        </p:txBody>
      </p:sp>
      <p:sp>
        <p:nvSpPr>
          <p:cNvPr id="10" name="Rectangle: Rounded Corners 9"/>
          <p:cNvSpPr/>
          <p:nvPr/>
        </p:nvSpPr>
        <p:spPr bwMode="auto">
          <a:xfrm>
            <a:off x="1925212" y="2019641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900">
                <a:solidFill>
                  <a:schemeClr val="tx2"/>
                </a:solidFill>
              </a:rPr>
              <a:t>Software Architecture</a:t>
            </a:r>
            <a:endParaRPr/>
          </a:p>
        </p:txBody>
      </p:sp>
      <p:sp>
        <p:nvSpPr>
          <p:cNvPr id="9" name="Rectangle: Rounded Corners 8"/>
          <p:cNvSpPr/>
          <p:nvPr/>
        </p:nvSpPr>
        <p:spPr bwMode="auto">
          <a:xfrm>
            <a:off x="1016711" y="201998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Research Methods</a:t>
            </a:r>
            <a:endParaRPr/>
          </a:p>
        </p:txBody>
      </p:sp>
      <p:sp>
        <p:nvSpPr>
          <p:cNvPr id="4" name="Rectangle: Rounded Corners 3"/>
          <p:cNvSpPr/>
          <p:nvPr/>
        </p:nvSpPr>
        <p:spPr bwMode="auto">
          <a:xfrm>
            <a:off x="108209" y="201998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>
                    <a:lumMod val="95000"/>
                    <a:lumOff val="5000"/>
                  </a:schemeClr>
                </a:solidFill>
              </a:rPr>
              <a:t>Bio-inspired AI</a:t>
            </a:r>
            <a:endParaRPr/>
          </a:p>
        </p:txBody>
      </p:sp>
      <p:sp>
        <p:nvSpPr>
          <p:cNvPr id="11" name="Rectangle: Rounded Corners 10"/>
          <p:cNvSpPr/>
          <p:nvPr/>
        </p:nvSpPr>
        <p:spPr bwMode="auto">
          <a:xfrm>
            <a:off x="2833715" y="201236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Intelligent Robotics</a:t>
            </a:r>
            <a:endParaRPr/>
          </a:p>
        </p:txBody>
      </p:sp>
      <p:sp>
        <p:nvSpPr>
          <p:cNvPr id="12" name="Rectangle: Rounded Corners 11"/>
          <p:cNvSpPr/>
          <p:nvPr/>
        </p:nvSpPr>
        <p:spPr bwMode="auto">
          <a:xfrm>
            <a:off x="3742218" y="2012362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25" name="Rectangle: Rounded Corners 24"/>
          <p:cNvSpPr/>
          <p:nvPr/>
        </p:nvSpPr>
        <p:spPr bwMode="auto">
          <a:xfrm>
            <a:off x="107505" y="265700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Neural Networks</a:t>
            </a:r>
            <a:endParaRPr/>
          </a:p>
        </p:txBody>
      </p:sp>
      <p:sp>
        <p:nvSpPr>
          <p:cNvPr id="28" name="Rectangle: Rounded Corners 27"/>
          <p:cNvSpPr/>
          <p:nvPr/>
        </p:nvSpPr>
        <p:spPr bwMode="auto">
          <a:xfrm>
            <a:off x="1016711" y="264756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Machine Learning</a:t>
            </a:r>
            <a:endParaRPr/>
          </a:p>
        </p:txBody>
      </p:sp>
      <p:sp>
        <p:nvSpPr>
          <p:cNvPr id="30" name="Rectangle: Rounded Corners 29"/>
          <p:cNvSpPr/>
          <p:nvPr/>
        </p:nvSpPr>
        <p:spPr bwMode="auto">
          <a:xfrm>
            <a:off x="2014494" y="2645167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1" name="Rectangle: Rounded Corners 30"/>
          <p:cNvSpPr/>
          <p:nvPr/>
        </p:nvSpPr>
        <p:spPr bwMode="auto">
          <a:xfrm>
            <a:off x="2782308" y="2647032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2" name="Rectangle: Rounded Corners 31"/>
          <p:cNvSpPr/>
          <p:nvPr/>
        </p:nvSpPr>
        <p:spPr bwMode="auto">
          <a:xfrm>
            <a:off x="3512249" y="2663780"/>
            <a:ext cx="853029" cy="478693"/>
          </a:xfrm>
          <a:prstGeom prst="roundRect">
            <a:avLst>
              <a:gd name="adj" fmla="val 16667"/>
            </a:avLst>
          </a:prstGeom>
          <a:solidFill>
            <a:srgbClr val="C5D3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3" name="Rectangle: Rounded Corners 32"/>
          <p:cNvSpPr/>
          <p:nvPr/>
        </p:nvSpPr>
        <p:spPr bwMode="auto">
          <a:xfrm>
            <a:off x="107504" y="3287241"/>
            <a:ext cx="1762236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000">
                <a:solidFill>
                  <a:schemeClr val="tx2"/>
                </a:solidFill>
              </a:rPr>
              <a:t>Project</a:t>
            </a:r>
            <a:endParaRPr/>
          </a:p>
        </p:txBody>
      </p:sp>
      <p:sp>
        <p:nvSpPr>
          <p:cNvPr id="34" name="Rectangle: Rounded Corners 33"/>
          <p:cNvSpPr/>
          <p:nvPr/>
        </p:nvSpPr>
        <p:spPr bwMode="auto">
          <a:xfrm>
            <a:off x="1911550" y="3276260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5" name="Rectangle: Rounded Corners 34"/>
          <p:cNvSpPr/>
          <p:nvPr/>
        </p:nvSpPr>
        <p:spPr bwMode="auto">
          <a:xfrm>
            <a:off x="2585459" y="3276373"/>
            <a:ext cx="853029" cy="478693"/>
          </a:xfrm>
          <a:prstGeom prst="roundRect">
            <a:avLst>
              <a:gd name="adj" fmla="val 16667"/>
            </a:avLst>
          </a:prstGeom>
          <a:solidFill>
            <a:srgbClr val="C5D3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6" name="Rectangle: Rounded Corners 35"/>
          <p:cNvSpPr/>
          <p:nvPr/>
        </p:nvSpPr>
        <p:spPr bwMode="auto">
          <a:xfrm>
            <a:off x="3512249" y="3276201"/>
            <a:ext cx="853029" cy="478693"/>
          </a:xfrm>
          <a:prstGeom prst="roundRect">
            <a:avLst>
              <a:gd name="adj" fmla="val 16667"/>
            </a:avLst>
          </a:prstGeom>
          <a:solidFill>
            <a:srgbClr val="C5D3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7" name="Rectangle: Rounded Corners 36"/>
          <p:cNvSpPr/>
          <p:nvPr/>
        </p:nvSpPr>
        <p:spPr bwMode="auto">
          <a:xfrm>
            <a:off x="113994" y="3919661"/>
            <a:ext cx="4251283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800">
                <a:solidFill>
                  <a:schemeClr val="tx2"/>
                </a:solidFill>
              </a:rPr>
              <a:t>Thesis</a:t>
            </a:r>
            <a:endParaRPr/>
          </a:p>
        </p:txBody>
      </p:sp>
      <p:sp>
        <p:nvSpPr>
          <p:cNvPr id="16" name="Rectangle 15"/>
          <p:cNvSpPr/>
          <p:nvPr/>
        </p:nvSpPr>
        <p:spPr bwMode="auto">
          <a:xfrm>
            <a:off x="113994" y="1275606"/>
            <a:ext cx="353550" cy="593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TextBox 16"/>
          <p:cNvSpPr txBox="1"/>
          <p:nvPr/>
        </p:nvSpPr>
        <p:spPr bwMode="auto">
          <a:xfrm>
            <a:off x="467544" y="1174498"/>
            <a:ext cx="13051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050"/>
              <a:t>Mandatory Courses</a:t>
            </a:r>
            <a:endParaRPr/>
          </a:p>
        </p:txBody>
      </p:sp>
      <p:sp>
        <p:nvSpPr>
          <p:cNvPr id="2" name="Rectangle 1"/>
          <p:cNvSpPr/>
          <p:nvPr/>
        </p:nvSpPr>
        <p:spPr bwMode="auto">
          <a:xfrm>
            <a:off x="115578" y="1532662"/>
            <a:ext cx="353550" cy="5939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Box 2"/>
          <p:cNvSpPr txBox="1"/>
          <p:nvPr/>
        </p:nvSpPr>
        <p:spPr bwMode="auto">
          <a:xfrm>
            <a:off x="469128" y="1431554"/>
            <a:ext cx="9589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050"/>
              <a:t>Focus Options</a:t>
            </a:r>
            <a:endParaRPr/>
          </a:p>
        </p:txBody>
      </p:sp>
      <p:sp>
        <p:nvSpPr>
          <p:cNvPr id="6" name="Rectangle 5"/>
          <p:cNvSpPr/>
          <p:nvPr/>
        </p:nvSpPr>
        <p:spPr bwMode="auto">
          <a:xfrm>
            <a:off x="115578" y="1756174"/>
            <a:ext cx="353550" cy="59394"/>
          </a:xfrm>
          <a:prstGeom prst="rect">
            <a:avLst/>
          </a:prstGeom>
          <a:solidFill>
            <a:srgbClr val="C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 bwMode="auto">
          <a:xfrm>
            <a:off x="469128" y="1655066"/>
            <a:ext cx="6623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050"/>
              <a:t>Electives</a:t>
            </a:r>
            <a:endParaRPr/>
          </a:p>
        </p:txBody>
      </p:sp>
      <p:sp>
        <p:nvSpPr>
          <p:cNvPr id="62" name="Rectangle 61"/>
          <p:cNvSpPr/>
          <p:nvPr/>
        </p:nvSpPr>
        <p:spPr bwMode="auto">
          <a:xfrm>
            <a:off x="63576" y="3232398"/>
            <a:ext cx="1847975" cy="588279"/>
          </a:xfrm>
          <a:prstGeom prst="rect">
            <a:avLst/>
          </a:prstGeom>
          <a:noFill/>
          <a:ln w="19050">
            <a:solidFill>
              <a:srgbClr val="4CAF50"/>
            </a:solidFill>
            <a:prstDash val="sysDash"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716016" y="1319710"/>
          <a:ext cx="4363438" cy="914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36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7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944">
                <a:tc gridSpan="2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2000" b="1"/>
                        <a:t>Project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08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en-US" sz="1200"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en-US" sz="1200"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 bwMode="auto">
          <a:xfrm>
            <a:off x="7974628" y="2076108"/>
            <a:ext cx="888275" cy="182879"/>
          </a:xfrm>
          <a:prstGeom prst="rect">
            <a:avLst/>
          </a:prstGeom>
          <a:solidFill>
            <a:srgbClr val="FF8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200" b="1"/>
              <a:t>12 ECTS</a:t>
            </a:r>
            <a:endParaRPr/>
          </a:p>
        </p:txBody>
      </p:sp>
      <p:sp>
        <p:nvSpPr>
          <p:cNvPr id="15" name="Textplatzhalter 2"/>
          <p:cNvSpPr>
            <a:spLocks noGrp="1"/>
          </p:cNvSpPr>
          <p:nvPr>
            <p:ph type="body" sz="quarter" idx="16"/>
          </p:nvPr>
        </p:nvSpPr>
        <p:spPr bwMode="auto">
          <a:xfrm>
            <a:off x="4572000" y="2787775"/>
            <a:ext cx="4507454" cy="2051845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solidFill>
                  <a:schemeClr val="tx1"/>
                </a:solidFill>
              </a:rPr>
              <a:t>Can last 1 semester or 2 semesters</a:t>
            </a:r>
            <a:endParaRPr dirty="0"/>
          </a:p>
          <a:p>
            <a:pPr>
              <a:defRPr/>
            </a:pPr>
            <a:r>
              <a:rPr lang="en-US" sz="1200" dirty="0"/>
              <a:t>In small or large groups, depending on the projects</a:t>
            </a:r>
            <a:endParaRPr lang="en-US" sz="12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1200" dirty="0">
                <a:solidFill>
                  <a:schemeClr val="tx1"/>
                </a:solidFill>
              </a:rPr>
              <a:t>Some of the projects are really popular. Some are not</a:t>
            </a:r>
          </a:p>
          <a:p>
            <a:pPr>
              <a:defRPr/>
            </a:pPr>
            <a:r>
              <a:rPr lang="en-US" sz="1200" dirty="0">
                <a:solidFill>
                  <a:schemeClr val="tx1"/>
                </a:solidFill>
              </a:rPr>
              <a:t>Can be registered in the winter semester or the summer semester</a:t>
            </a:r>
          </a:p>
          <a:p>
            <a:pPr>
              <a:defRPr/>
            </a:pPr>
            <a:r>
              <a:rPr lang="en-US" sz="1200" dirty="0">
                <a:solidFill>
                  <a:schemeClr val="tx1"/>
                </a:solidFill>
              </a:rPr>
              <a:t>There are more projects in the summer semester than in the winter semester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>
              <a:defRPr/>
            </a:pPr>
            <a:r>
              <a:rPr lang="en-US"/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05.10.2026</a:t>
            </a:r>
            <a:endParaRPr dirty="0"/>
          </a:p>
        </p:txBody>
      </p:sp>
      <p:sp>
        <p:nvSpPr>
          <p:cNvPr id="10" name="Rectangle: Rounded Corners 9"/>
          <p:cNvSpPr/>
          <p:nvPr/>
        </p:nvSpPr>
        <p:spPr bwMode="auto">
          <a:xfrm>
            <a:off x="1925212" y="2019641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900">
                <a:solidFill>
                  <a:schemeClr val="tx2"/>
                </a:solidFill>
              </a:rPr>
              <a:t>Software Architecture</a:t>
            </a:r>
            <a:endParaRPr/>
          </a:p>
        </p:txBody>
      </p:sp>
      <p:sp>
        <p:nvSpPr>
          <p:cNvPr id="9" name="Rectangle: Rounded Corners 8"/>
          <p:cNvSpPr/>
          <p:nvPr/>
        </p:nvSpPr>
        <p:spPr bwMode="auto">
          <a:xfrm>
            <a:off x="1016711" y="201998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Research Methods</a:t>
            </a:r>
            <a:endParaRPr/>
          </a:p>
        </p:txBody>
      </p:sp>
      <p:sp>
        <p:nvSpPr>
          <p:cNvPr id="4" name="Rectangle: Rounded Corners 3"/>
          <p:cNvSpPr/>
          <p:nvPr/>
        </p:nvSpPr>
        <p:spPr bwMode="auto">
          <a:xfrm>
            <a:off x="108209" y="201998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>
                    <a:lumMod val="95000"/>
                    <a:lumOff val="5000"/>
                  </a:schemeClr>
                </a:solidFill>
              </a:rPr>
              <a:t>Bio-inspired AI</a:t>
            </a:r>
            <a:endParaRPr/>
          </a:p>
        </p:txBody>
      </p:sp>
      <p:sp>
        <p:nvSpPr>
          <p:cNvPr id="11" name="Rectangle: Rounded Corners 10"/>
          <p:cNvSpPr/>
          <p:nvPr/>
        </p:nvSpPr>
        <p:spPr bwMode="auto">
          <a:xfrm>
            <a:off x="2833715" y="201236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Intelligent Robotics</a:t>
            </a:r>
            <a:endParaRPr/>
          </a:p>
        </p:txBody>
      </p:sp>
      <p:sp>
        <p:nvSpPr>
          <p:cNvPr id="12" name="Rectangle: Rounded Corners 11"/>
          <p:cNvSpPr/>
          <p:nvPr/>
        </p:nvSpPr>
        <p:spPr bwMode="auto">
          <a:xfrm>
            <a:off x="3742218" y="2012362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25" name="Rectangle: Rounded Corners 24"/>
          <p:cNvSpPr/>
          <p:nvPr/>
        </p:nvSpPr>
        <p:spPr bwMode="auto">
          <a:xfrm>
            <a:off x="107505" y="265700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Neural Networks</a:t>
            </a:r>
            <a:endParaRPr/>
          </a:p>
        </p:txBody>
      </p:sp>
      <p:sp>
        <p:nvSpPr>
          <p:cNvPr id="28" name="Rectangle: Rounded Corners 27"/>
          <p:cNvSpPr/>
          <p:nvPr/>
        </p:nvSpPr>
        <p:spPr bwMode="auto">
          <a:xfrm>
            <a:off x="1016711" y="2647562"/>
            <a:ext cx="853029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Machine Learning</a:t>
            </a:r>
            <a:endParaRPr/>
          </a:p>
        </p:txBody>
      </p:sp>
      <p:sp>
        <p:nvSpPr>
          <p:cNvPr id="30" name="Rectangle: Rounded Corners 29"/>
          <p:cNvSpPr/>
          <p:nvPr/>
        </p:nvSpPr>
        <p:spPr bwMode="auto">
          <a:xfrm>
            <a:off x="2014494" y="2645167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1" name="Rectangle: Rounded Corners 30"/>
          <p:cNvSpPr/>
          <p:nvPr/>
        </p:nvSpPr>
        <p:spPr bwMode="auto">
          <a:xfrm>
            <a:off x="2782308" y="2647032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2" name="Rectangle: Rounded Corners 31"/>
          <p:cNvSpPr/>
          <p:nvPr/>
        </p:nvSpPr>
        <p:spPr bwMode="auto">
          <a:xfrm>
            <a:off x="3512249" y="2663780"/>
            <a:ext cx="853029" cy="478693"/>
          </a:xfrm>
          <a:prstGeom prst="roundRect">
            <a:avLst>
              <a:gd name="adj" fmla="val 16667"/>
            </a:avLst>
          </a:prstGeom>
          <a:solidFill>
            <a:srgbClr val="C5D3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3" name="Rectangle: Rounded Corners 32"/>
          <p:cNvSpPr/>
          <p:nvPr/>
        </p:nvSpPr>
        <p:spPr bwMode="auto">
          <a:xfrm>
            <a:off x="107504" y="3287241"/>
            <a:ext cx="1762236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000">
                <a:solidFill>
                  <a:schemeClr val="tx2"/>
                </a:solidFill>
              </a:rPr>
              <a:t>Project</a:t>
            </a:r>
            <a:endParaRPr/>
          </a:p>
        </p:txBody>
      </p:sp>
      <p:sp>
        <p:nvSpPr>
          <p:cNvPr id="34" name="Rectangle: Rounded Corners 33"/>
          <p:cNvSpPr/>
          <p:nvPr/>
        </p:nvSpPr>
        <p:spPr bwMode="auto">
          <a:xfrm>
            <a:off x="1911550" y="3276260"/>
            <a:ext cx="623060" cy="47869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Focus Option</a:t>
            </a:r>
            <a:endParaRPr/>
          </a:p>
        </p:txBody>
      </p:sp>
      <p:sp>
        <p:nvSpPr>
          <p:cNvPr id="35" name="Rectangle: Rounded Corners 34"/>
          <p:cNvSpPr/>
          <p:nvPr/>
        </p:nvSpPr>
        <p:spPr bwMode="auto">
          <a:xfrm>
            <a:off x="2585459" y="3276373"/>
            <a:ext cx="853029" cy="478693"/>
          </a:xfrm>
          <a:prstGeom prst="roundRect">
            <a:avLst>
              <a:gd name="adj" fmla="val 16667"/>
            </a:avLst>
          </a:prstGeom>
          <a:solidFill>
            <a:srgbClr val="C5D3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6" name="Rectangle: Rounded Corners 35"/>
          <p:cNvSpPr/>
          <p:nvPr/>
        </p:nvSpPr>
        <p:spPr bwMode="auto">
          <a:xfrm>
            <a:off x="3512249" y="3276201"/>
            <a:ext cx="853029" cy="478693"/>
          </a:xfrm>
          <a:prstGeom prst="roundRect">
            <a:avLst>
              <a:gd name="adj" fmla="val 16667"/>
            </a:avLst>
          </a:prstGeom>
          <a:solidFill>
            <a:srgbClr val="C5D3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>
                <a:solidFill>
                  <a:schemeClr val="tx2"/>
                </a:solidFill>
              </a:rPr>
              <a:t>Extension Option</a:t>
            </a:r>
            <a:endParaRPr/>
          </a:p>
        </p:txBody>
      </p:sp>
      <p:sp>
        <p:nvSpPr>
          <p:cNvPr id="37" name="Rectangle: Rounded Corners 36"/>
          <p:cNvSpPr/>
          <p:nvPr/>
        </p:nvSpPr>
        <p:spPr bwMode="auto">
          <a:xfrm>
            <a:off x="113994" y="3919661"/>
            <a:ext cx="4251283" cy="478693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800">
                <a:solidFill>
                  <a:schemeClr val="tx2"/>
                </a:solidFill>
              </a:rPr>
              <a:t>Thesis</a:t>
            </a:r>
            <a:endParaRPr/>
          </a:p>
        </p:txBody>
      </p:sp>
      <p:sp>
        <p:nvSpPr>
          <p:cNvPr id="16" name="Rectangle 15"/>
          <p:cNvSpPr/>
          <p:nvPr/>
        </p:nvSpPr>
        <p:spPr bwMode="auto">
          <a:xfrm>
            <a:off x="113994" y="1275606"/>
            <a:ext cx="353550" cy="593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TextBox 16"/>
          <p:cNvSpPr txBox="1"/>
          <p:nvPr/>
        </p:nvSpPr>
        <p:spPr bwMode="auto">
          <a:xfrm>
            <a:off x="467544" y="1174498"/>
            <a:ext cx="13051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050"/>
              <a:t>Mandatory Courses</a:t>
            </a:r>
            <a:endParaRPr/>
          </a:p>
        </p:txBody>
      </p:sp>
      <p:sp>
        <p:nvSpPr>
          <p:cNvPr id="2" name="Rectangle 1"/>
          <p:cNvSpPr/>
          <p:nvPr/>
        </p:nvSpPr>
        <p:spPr bwMode="auto">
          <a:xfrm>
            <a:off x="115578" y="1532662"/>
            <a:ext cx="353550" cy="5939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Box 2"/>
          <p:cNvSpPr txBox="1"/>
          <p:nvPr/>
        </p:nvSpPr>
        <p:spPr bwMode="auto">
          <a:xfrm>
            <a:off x="469128" y="1431554"/>
            <a:ext cx="9589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050"/>
              <a:t>Focus Options</a:t>
            </a:r>
            <a:endParaRPr/>
          </a:p>
        </p:txBody>
      </p:sp>
      <p:sp>
        <p:nvSpPr>
          <p:cNvPr id="6" name="Rectangle 5"/>
          <p:cNvSpPr/>
          <p:nvPr/>
        </p:nvSpPr>
        <p:spPr bwMode="auto">
          <a:xfrm>
            <a:off x="115578" y="1756174"/>
            <a:ext cx="353550" cy="59394"/>
          </a:xfrm>
          <a:prstGeom prst="rect">
            <a:avLst/>
          </a:prstGeom>
          <a:solidFill>
            <a:srgbClr val="C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 bwMode="auto">
          <a:xfrm>
            <a:off x="469128" y="1655066"/>
            <a:ext cx="6623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050"/>
              <a:t>Electives</a:t>
            </a:r>
            <a:endParaRPr/>
          </a:p>
        </p:txBody>
      </p:sp>
      <p:sp>
        <p:nvSpPr>
          <p:cNvPr id="62" name="Rectangle 61"/>
          <p:cNvSpPr/>
          <p:nvPr/>
        </p:nvSpPr>
        <p:spPr bwMode="auto">
          <a:xfrm>
            <a:off x="49470" y="3867894"/>
            <a:ext cx="4378514" cy="588279"/>
          </a:xfrm>
          <a:prstGeom prst="rect">
            <a:avLst/>
          </a:prstGeom>
          <a:noFill/>
          <a:ln w="19050">
            <a:solidFill>
              <a:srgbClr val="4CAF50"/>
            </a:solidFill>
            <a:prstDash val="sysDash"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716016" y="1319710"/>
          <a:ext cx="4363438" cy="914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36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7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944">
                <a:tc gridSpan="2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2000" b="1"/>
                        <a:t>Master Thesis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08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en-US" sz="1200"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en-US" sz="1200"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platzhalter 2"/>
          <p:cNvSpPr>
            <a:spLocks noGrp="1"/>
          </p:cNvSpPr>
          <p:nvPr>
            <p:ph type="body" sz="quarter" idx="16"/>
          </p:nvPr>
        </p:nvSpPr>
        <p:spPr bwMode="auto">
          <a:xfrm>
            <a:off x="4572000" y="2787775"/>
            <a:ext cx="4507454" cy="2051845"/>
          </a:xfrm>
        </p:spPr>
        <p:txBody>
          <a:bodyPr/>
          <a:lstStyle/>
          <a:p>
            <a:pPr>
              <a:defRPr/>
            </a:pPr>
            <a:r>
              <a:rPr lang="en-US" sz="1200">
                <a:solidFill>
                  <a:schemeClr val="tx1"/>
                </a:solidFill>
              </a:rPr>
              <a:t>Last 6 months from your date of registration</a:t>
            </a:r>
            <a:endParaRPr/>
          </a:p>
          <a:p>
            <a:pPr>
              <a:defRPr/>
            </a:pPr>
            <a:r>
              <a:rPr lang="en-US" sz="1200"/>
              <a:t>Prequisite: already completed 72 ECTS</a:t>
            </a:r>
            <a:endParaRPr lang="en-US" sz="120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1200">
                <a:solidFill>
                  <a:schemeClr val="tx1"/>
                </a:solidFill>
              </a:rPr>
              <a:t>Can register at ANY TIME. Not necessarily at the beginning of the semester </a:t>
            </a:r>
            <a:endParaRPr/>
          </a:p>
          <a:p>
            <a:pPr>
              <a:defRPr/>
            </a:pPr>
            <a:r>
              <a:rPr lang="en-US" sz="1200">
                <a:solidFill>
                  <a:schemeClr val="tx1"/>
                </a:solidFill>
              </a:rPr>
              <a:t>Can submit your thesis at ANY TIME after registration. Not necessarily to wait for your submission deadline</a:t>
            </a:r>
            <a:endParaRPr/>
          </a:p>
        </p:txBody>
      </p:sp>
      <p:sp>
        <p:nvSpPr>
          <p:cNvPr id="15" name="Rectangle 14"/>
          <p:cNvSpPr/>
          <p:nvPr/>
        </p:nvSpPr>
        <p:spPr bwMode="auto">
          <a:xfrm>
            <a:off x="7974628" y="2076108"/>
            <a:ext cx="888275" cy="182879"/>
          </a:xfrm>
          <a:prstGeom prst="rect">
            <a:avLst/>
          </a:prstGeom>
          <a:solidFill>
            <a:srgbClr val="FF8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200" b="1"/>
              <a:t>30 ECTS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>
              <a:defRPr/>
            </a:pPr>
            <a:r>
              <a:rPr lang="en-US"/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05.10.2026</a:t>
            </a:r>
            <a:endParaRPr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80158" y="1740486"/>
          <a:ext cx="2635658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7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7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858">
                <a:tc gridSpan="2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200" b="1"/>
                        <a:t>Knowledge Processing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4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900"/>
                        <a:t>Lecture: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 sz="900"/>
                        <a:t>Dr. Matthias Kerzel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900"/>
                        <a:t>Exercises: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 sz="900" b="0"/>
                        <a:t>Dr. Cornelius Weber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 bwMode="auto">
          <a:xfrm>
            <a:off x="2040737" y="2479042"/>
            <a:ext cx="560728" cy="1371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050">
                <a:solidFill>
                  <a:srgbClr val="272727"/>
                </a:solidFill>
              </a:rPr>
              <a:t>6 ECTS</a:t>
            </a:r>
            <a:endParaRPr/>
          </a:p>
        </p:txBody>
      </p:sp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280158" y="3219822"/>
          <a:ext cx="2635658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7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7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858">
                <a:tc gridSpan="2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200" b="1"/>
                        <a:t>Optimization for Machine Learning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4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900"/>
                        <a:t>Lecture: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 sz="900"/>
                        <a:t>Prof. Dr. Sören Laue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900"/>
                        <a:t>Exercises: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 sz="900" b="1"/>
                        <a:t>Hanna Herasimchyk</a:t>
                      </a:r>
                      <a:r>
                        <a:rPr lang="en-US" sz="900"/>
                        <a:t> </a:t>
                      </a:r>
                      <a:endParaRPr lang="en-US" sz="900" b="1"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96" name="Group 95"/>
          <p:cNvGrpSpPr>
            <a:grpSpLocks noChangeAspect="1"/>
          </p:cNvGrpSpPr>
          <p:nvPr/>
        </p:nvGrpSpPr>
        <p:grpSpPr bwMode="auto">
          <a:xfrm>
            <a:off x="395535" y="3967178"/>
            <a:ext cx="666206" cy="137160"/>
            <a:chOff x="4355976" y="2103698"/>
            <a:chExt cx="2448272" cy="504056"/>
          </a:xfrm>
        </p:grpSpPr>
        <p:sp>
          <p:nvSpPr>
            <p:cNvPr id="97" name="Rectangle: Rounded Corners 96"/>
            <p:cNvSpPr/>
            <p:nvPr/>
          </p:nvSpPr>
          <p:spPr bwMode="auto">
            <a:xfrm>
              <a:off x="4355976" y="2103698"/>
              <a:ext cx="2448272" cy="504056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8" name="Star: 5 Points 97"/>
            <p:cNvSpPr/>
            <p:nvPr/>
          </p:nvSpPr>
          <p:spPr bwMode="auto">
            <a:xfrm>
              <a:off x="4468382" y="2170455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98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9" name="Star: 5 Points 98"/>
            <p:cNvSpPr/>
            <p:nvPr/>
          </p:nvSpPr>
          <p:spPr bwMode="auto">
            <a:xfrm>
              <a:off x="4935274" y="21681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98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0" name="Star: 5 Points 99"/>
            <p:cNvSpPr/>
            <p:nvPr/>
          </p:nvSpPr>
          <p:spPr bwMode="auto">
            <a:xfrm>
              <a:off x="5402166" y="21680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98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1" name="Star: 5 Points 100"/>
            <p:cNvSpPr/>
            <p:nvPr/>
          </p:nvSpPr>
          <p:spPr bwMode="auto">
            <a:xfrm>
              <a:off x="5869058" y="2165823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98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2" name="Star: 5 Points 101"/>
            <p:cNvSpPr/>
            <p:nvPr/>
          </p:nvSpPr>
          <p:spPr bwMode="auto">
            <a:xfrm>
              <a:off x="6335949" y="2164854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03" name="Group 102"/>
          <p:cNvGrpSpPr>
            <a:grpSpLocks noChangeAspect="1"/>
          </p:cNvGrpSpPr>
          <p:nvPr/>
        </p:nvGrpSpPr>
        <p:grpSpPr bwMode="auto">
          <a:xfrm>
            <a:off x="389757" y="2479042"/>
            <a:ext cx="666206" cy="137160"/>
            <a:chOff x="4355976" y="2103698"/>
            <a:chExt cx="2448272" cy="504056"/>
          </a:xfrm>
        </p:grpSpPr>
        <p:sp>
          <p:nvSpPr>
            <p:cNvPr id="104" name="Rectangle: Rounded Corners 103"/>
            <p:cNvSpPr/>
            <p:nvPr/>
          </p:nvSpPr>
          <p:spPr bwMode="auto">
            <a:xfrm>
              <a:off x="4355976" y="2103698"/>
              <a:ext cx="2448272" cy="504056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5" name="Star: 5 Points 104"/>
            <p:cNvSpPr/>
            <p:nvPr/>
          </p:nvSpPr>
          <p:spPr bwMode="auto">
            <a:xfrm>
              <a:off x="4468382" y="2170455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CDDC39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6" name="Star: 5 Points 105"/>
            <p:cNvSpPr/>
            <p:nvPr/>
          </p:nvSpPr>
          <p:spPr bwMode="auto">
            <a:xfrm>
              <a:off x="4935274" y="21681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CDDC39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7" name="Star: 5 Points 106"/>
            <p:cNvSpPr/>
            <p:nvPr/>
          </p:nvSpPr>
          <p:spPr bwMode="auto">
            <a:xfrm>
              <a:off x="5402166" y="21680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8" name="Star: 5 Points 107"/>
            <p:cNvSpPr/>
            <p:nvPr/>
          </p:nvSpPr>
          <p:spPr bwMode="auto">
            <a:xfrm>
              <a:off x="5869058" y="2165823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9" name="Star: 5 Points 108"/>
            <p:cNvSpPr/>
            <p:nvPr/>
          </p:nvSpPr>
          <p:spPr bwMode="auto">
            <a:xfrm>
              <a:off x="6335949" y="2164854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11" name="Rectangle 110"/>
          <p:cNvSpPr/>
          <p:nvPr/>
        </p:nvSpPr>
        <p:spPr bwMode="auto">
          <a:xfrm>
            <a:off x="2040737" y="3967178"/>
            <a:ext cx="560728" cy="1371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050">
                <a:solidFill>
                  <a:srgbClr val="272727"/>
                </a:solidFill>
              </a:rPr>
              <a:t>6 ECTS</a:t>
            </a:r>
            <a:endParaRPr/>
          </a:p>
        </p:txBody>
      </p:sp>
      <p:graphicFrame>
        <p:nvGraphicFramePr>
          <p:cNvPr id="112" name="Table 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415586"/>
              </p:ext>
            </p:extLst>
          </p:nvPr>
        </p:nvGraphicFramePr>
        <p:xfrm>
          <a:off x="6171958" y="1765078"/>
          <a:ext cx="2709614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858">
                <a:tc gridSpan="2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200" b="1"/>
                        <a:t>Computer Vision 1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4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900"/>
                        <a:t>Lecture: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 sz="900"/>
                        <a:t>Prof. Dr. Simone Frintrop</a:t>
                      </a: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900" dirty="0"/>
                        <a:t>Exercises:</a:t>
                      </a:r>
                      <a:endParaRPr dirty="0"/>
                    </a:p>
                    <a:p>
                      <a:pPr>
                        <a:defRPr/>
                      </a:pPr>
                      <a:r>
                        <a:rPr lang="en-US" sz="900" b="1" dirty="0"/>
                        <a:t>Emre </a:t>
                      </a:r>
                      <a:r>
                        <a:rPr lang="en-US" sz="900" b="1" u="none" dirty="0" err="1"/>
                        <a:t>Gülsoylu</a:t>
                      </a:r>
                      <a:r>
                        <a:rPr lang="en-US" sz="900" b="1" u="none" dirty="0"/>
                        <a:t> </a:t>
                      </a:r>
                      <a:endParaRPr lang="en-US" sz="900" b="0" u="none" dirty="0"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3" name="Rectangle 112"/>
          <p:cNvSpPr/>
          <p:nvPr/>
        </p:nvSpPr>
        <p:spPr bwMode="auto">
          <a:xfrm>
            <a:off x="7941646" y="2562100"/>
            <a:ext cx="560728" cy="1371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050">
                <a:solidFill>
                  <a:srgbClr val="272727"/>
                </a:solidFill>
              </a:rPr>
              <a:t>6 ECTS</a:t>
            </a:r>
            <a:endParaRPr/>
          </a:p>
        </p:txBody>
      </p:sp>
      <p:graphicFrame>
        <p:nvGraphicFramePr>
          <p:cNvPr id="114" name="Table 1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726473"/>
              </p:ext>
            </p:extLst>
          </p:nvPr>
        </p:nvGraphicFramePr>
        <p:xfrm>
          <a:off x="6173488" y="3257769"/>
          <a:ext cx="2709614" cy="624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858">
                <a:tc gridSpan="2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1" dirty="0"/>
                        <a:t>User Interface Software and Technology</a:t>
                      </a:r>
                      <a:endParaRPr dirty="0"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4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900"/>
                        <a:t>Lecture: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 sz="900"/>
                        <a:t>Prof. Dr. Frank Steinicke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900" dirty="0"/>
                        <a:t>Exercises:</a:t>
                      </a:r>
                      <a:endParaRPr dirty="0"/>
                    </a:p>
                    <a:p>
                      <a:pPr>
                        <a:defRPr/>
                      </a:pPr>
                      <a:r>
                        <a:rPr lang="en-US" sz="900" b="0" dirty="0"/>
                        <a:t>Dr. Sebastian Rings</a:t>
                      </a:r>
                      <a:endParaRPr dirty="0"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9" name="Rectangle 128"/>
          <p:cNvSpPr/>
          <p:nvPr/>
        </p:nvSpPr>
        <p:spPr bwMode="auto">
          <a:xfrm>
            <a:off x="7934068" y="4005125"/>
            <a:ext cx="560728" cy="1371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050">
                <a:solidFill>
                  <a:srgbClr val="272727"/>
                </a:solidFill>
              </a:rPr>
              <a:t>6 ECTS</a:t>
            </a:r>
            <a:endParaRPr/>
          </a:p>
        </p:txBody>
      </p:sp>
      <p:grpSp>
        <p:nvGrpSpPr>
          <p:cNvPr id="130" name="Group 129"/>
          <p:cNvGrpSpPr>
            <a:grpSpLocks noChangeAspect="1"/>
          </p:cNvGrpSpPr>
          <p:nvPr/>
        </p:nvGrpSpPr>
        <p:grpSpPr bwMode="auto">
          <a:xfrm>
            <a:off x="6306160" y="2562100"/>
            <a:ext cx="667712" cy="137160"/>
            <a:chOff x="4355976" y="2103698"/>
            <a:chExt cx="2448272" cy="504056"/>
          </a:xfrm>
        </p:grpSpPr>
        <p:sp>
          <p:nvSpPr>
            <p:cNvPr id="131" name="Rectangle: Rounded Corners 130"/>
            <p:cNvSpPr/>
            <p:nvPr/>
          </p:nvSpPr>
          <p:spPr bwMode="auto">
            <a:xfrm>
              <a:off x="4355976" y="2103698"/>
              <a:ext cx="2448272" cy="504056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2" name="Star: 5 Points 131"/>
            <p:cNvSpPr/>
            <p:nvPr/>
          </p:nvSpPr>
          <p:spPr bwMode="auto">
            <a:xfrm>
              <a:off x="4468382" y="2170455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3" name="Star: 5 Points 132"/>
            <p:cNvSpPr/>
            <p:nvPr/>
          </p:nvSpPr>
          <p:spPr bwMode="auto">
            <a:xfrm>
              <a:off x="4935274" y="21681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4" name="Star: 5 Points 133"/>
            <p:cNvSpPr/>
            <p:nvPr/>
          </p:nvSpPr>
          <p:spPr bwMode="auto">
            <a:xfrm>
              <a:off x="5402166" y="21680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5" name="Star: 5 Points 134"/>
            <p:cNvSpPr/>
            <p:nvPr/>
          </p:nvSpPr>
          <p:spPr bwMode="auto">
            <a:xfrm>
              <a:off x="5869058" y="2165823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6" name="Star: 5 Points 135"/>
            <p:cNvSpPr/>
            <p:nvPr/>
          </p:nvSpPr>
          <p:spPr bwMode="auto">
            <a:xfrm>
              <a:off x="6335949" y="2164854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37" name="Group 136"/>
          <p:cNvGrpSpPr>
            <a:grpSpLocks noChangeAspect="1"/>
          </p:cNvGrpSpPr>
          <p:nvPr/>
        </p:nvGrpSpPr>
        <p:grpSpPr bwMode="auto">
          <a:xfrm>
            <a:off x="6339475" y="3996834"/>
            <a:ext cx="666206" cy="137160"/>
            <a:chOff x="4355976" y="2103698"/>
            <a:chExt cx="2448272" cy="504056"/>
          </a:xfrm>
        </p:grpSpPr>
        <p:sp>
          <p:nvSpPr>
            <p:cNvPr id="138" name="Rectangle: Rounded Corners 137"/>
            <p:cNvSpPr/>
            <p:nvPr/>
          </p:nvSpPr>
          <p:spPr bwMode="auto">
            <a:xfrm>
              <a:off x="4355976" y="2103698"/>
              <a:ext cx="2448272" cy="504056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9" name="Star: 5 Points 138"/>
            <p:cNvSpPr/>
            <p:nvPr/>
          </p:nvSpPr>
          <p:spPr bwMode="auto">
            <a:xfrm>
              <a:off x="4468382" y="2170455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FF00"/>
            </a:solidFill>
            <a:ln>
              <a:solidFill>
                <a:schemeClr val="tx1"/>
              </a:solidFill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40" name="Star: 5 Points 139"/>
            <p:cNvSpPr/>
            <p:nvPr/>
          </p:nvSpPr>
          <p:spPr bwMode="auto">
            <a:xfrm>
              <a:off x="4935274" y="21681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FF00"/>
            </a:solidFill>
            <a:ln>
              <a:solidFill>
                <a:schemeClr val="tx1"/>
              </a:solidFill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41" name="Star: 5 Points 140"/>
            <p:cNvSpPr/>
            <p:nvPr/>
          </p:nvSpPr>
          <p:spPr bwMode="auto">
            <a:xfrm>
              <a:off x="5402166" y="21680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FF00"/>
            </a:solidFill>
            <a:ln>
              <a:solidFill>
                <a:schemeClr val="tx1"/>
              </a:solidFill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42" name="Star: 5 Points 141"/>
            <p:cNvSpPr/>
            <p:nvPr/>
          </p:nvSpPr>
          <p:spPr bwMode="auto">
            <a:xfrm>
              <a:off x="5869058" y="2165823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43" name="Star: 5 Points 142"/>
            <p:cNvSpPr/>
            <p:nvPr/>
          </p:nvSpPr>
          <p:spPr bwMode="auto">
            <a:xfrm>
              <a:off x="6335949" y="2164854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E4BB522-CC1D-AB37-5A04-6BE7D3DDCC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977282"/>
              </p:ext>
            </p:extLst>
          </p:nvPr>
        </p:nvGraphicFramePr>
        <p:xfrm>
          <a:off x="3216775" y="2441956"/>
          <a:ext cx="2709614" cy="624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858">
                <a:tc gridSpan="2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1" dirty="0"/>
                        <a:t>Trustworthy Artificial Intelligence</a:t>
                      </a:r>
                      <a:endParaRPr dirty="0"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4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900" dirty="0"/>
                        <a:t>Lecture:</a:t>
                      </a:r>
                      <a:endParaRPr dirty="0"/>
                    </a:p>
                    <a:p>
                      <a:pPr>
                        <a:defRPr/>
                      </a:pPr>
                      <a:r>
                        <a:rPr lang="en-US" sz="900" dirty="0"/>
                        <a:t>Prof. Dr. Anne Lauscher</a:t>
                      </a:r>
                      <a:endParaRPr dirty="0"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900" dirty="0"/>
                        <a:t>Exercises:</a:t>
                      </a:r>
                      <a:endParaRPr dirty="0"/>
                    </a:p>
                    <a:p>
                      <a:pPr>
                        <a:defRPr/>
                      </a:pPr>
                      <a:r>
                        <a:rPr lang="en-US" sz="900" b="0" dirty="0"/>
                        <a:t>Pranav Agrawal</a:t>
                      </a:r>
                      <a:endParaRPr dirty="0"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6C31E10-F66E-1E43-A0F2-1414E7F377A9}"/>
              </a:ext>
            </a:extLst>
          </p:cNvPr>
          <p:cNvSpPr/>
          <p:nvPr/>
        </p:nvSpPr>
        <p:spPr bwMode="auto">
          <a:xfrm>
            <a:off x="4977355" y="3189312"/>
            <a:ext cx="560728" cy="1371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050">
                <a:solidFill>
                  <a:srgbClr val="272727"/>
                </a:solidFill>
              </a:rPr>
              <a:t>6 ECTS</a:t>
            </a:r>
            <a:endParaRPr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584405E-B51C-AB0B-636E-D1F2FC51ED9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382762" y="3181021"/>
            <a:ext cx="666206" cy="137160"/>
            <a:chOff x="4355976" y="2103698"/>
            <a:chExt cx="2448272" cy="50405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BEC3716-8A14-744D-31C3-F58F3FA66E5F}"/>
                </a:ext>
              </a:extLst>
            </p:cNvPr>
            <p:cNvSpPr/>
            <p:nvPr/>
          </p:nvSpPr>
          <p:spPr bwMode="auto">
            <a:xfrm>
              <a:off x="4355976" y="2103698"/>
              <a:ext cx="2448272" cy="504056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Star: 5 Points 7">
              <a:extLst>
                <a:ext uri="{FF2B5EF4-FFF2-40B4-BE49-F238E27FC236}">
                  <a16:creationId xmlns:a16="http://schemas.microsoft.com/office/drawing/2014/main" id="{1FC5AED0-680B-D1F7-6BAB-AD63359E847E}"/>
                </a:ext>
              </a:extLst>
            </p:cNvPr>
            <p:cNvSpPr/>
            <p:nvPr/>
          </p:nvSpPr>
          <p:spPr bwMode="auto">
            <a:xfrm>
              <a:off x="4468382" y="2170455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FF00"/>
            </a:solidFill>
            <a:ln>
              <a:solidFill>
                <a:schemeClr val="tx1"/>
              </a:solidFill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Star: 5 Points 8">
              <a:extLst>
                <a:ext uri="{FF2B5EF4-FFF2-40B4-BE49-F238E27FC236}">
                  <a16:creationId xmlns:a16="http://schemas.microsoft.com/office/drawing/2014/main" id="{CCD2AB81-EFDB-9194-D817-BDC936181D5D}"/>
                </a:ext>
              </a:extLst>
            </p:cNvPr>
            <p:cNvSpPr/>
            <p:nvPr/>
          </p:nvSpPr>
          <p:spPr bwMode="auto">
            <a:xfrm>
              <a:off x="4935274" y="21681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FF00"/>
            </a:solidFill>
            <a:ln>
              <a:solidFill>
                <a:schemeClr val="tx1"/>
              </a:solidFill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Star: 5 Points 9">
              <a:extLst>
                <a:ext uri="{FF2B5EF4-FFF2-40B4-BE49-F238E27FC236}">
                  <a16:creationId xmlns:a16="http://schemas.microsoft.com/office/drawing/2014/main" id="{4E904F7F-6A82-83E3-CF37-BEA8497EACA0}"/>
                </a:ext>
              </a:extLst>
            </p:cNvPr>
            <p:cNvSpPr/>
            <p:nvPr/>
          </p:nvSpPr>
          <p:spPr bwMode="auto">
            <a:xfrm>
              <a:off x="5402166" y="21680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FF00"/>
            </a:solidFill>
            <a:ln>
              <a:solidFill>
                <a:schemeClr val="tx1"/>
              </a:solidFill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Star: 5 Points 10">
              <a:extLst>
                <a:ext uri="{FF2B5EF4-FFF2-40B4-BE49-F238E27FC236}">
                  <a16:creationId xmlns:a16="http://schemas.microsoft.com/office/drawing/2014/main" id="{E749B9B0-1A98-67D8-2726-B1B25D1DCADF}"/>
                </a:ext>
              </a:extLst>
            </p:cNvPr>
            <p:cNvSpPr/>
            <p:nvPr/>
          </p:nvSpPr>
          <p:spPr bwMode="auto">
            <a:xfrm>
              <a:off x="5869058" y="2165823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Star: 5 Points 11">
              <a:extLst>
                <a:ext uri="{FF2B5EF4-FFF2-40B4-BE49-F238E27FC236}">
                  <a16:creationId xmlns:a16="http://schemas.microsoft.com/office/drawing/2014/main" id="{AF40E004-C78A-4FA4-9740-00A33BCDDA2A}"/>
                </a:ext>
              </a:extLst>
            </p:cNvPr>
            <p:cNvSpPr/>
            <p:nvPr/>
          </p:nvSpPr>
          <p:spPr bwMode="auto">
            <a:xfrm>
              <a:off x="6335949" y="2164854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A11830E9-7C8E-AC42-3150-77B49128B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998001" y="2210252"/>
            <a:ext cx="1051454" cy="9449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>
              <a:defRPr/>
            </a:pPr>
            <a:r>
              <a:rPr lang="en-US"/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05.10.2026</a:t>
            </a:r>
            <a:endParaRPr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102081"/>
              </p:ext>
            </p:extLst>
          </p:nvPr>
        </p:nvGraphicFramePr>
        <p:xfrm>
          <a:off x="280158" y="1250154"/>
          <a:ext cx="2635658" cy="7543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7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7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858">
                <a:tc gridSpan="2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50" b="1"/>
                        <a:t>Statistical Methods of Language Technology</a:t>
                      </a:r>
                      <a:endParaRPr lang="en-US" sz="1200" b="1"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4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900"/>
                        <a:t>Lecture: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 sz="900"/>
                        <a:t>Prof. Dr. Chris Biemann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900" dirty="0"/>
                        <a:t>Exercises:</a:t>
                      </a:r>
                      <a:endParaRPr dirty="0"/>
                    </a:p>
                    <a:p>
                      <a:pPr>
                        <a:defRPr/>
                      </a:pPr>
                      <a:r>
                        <a:rPr lang="en-US" sz="900" b="0" dirty="0"/>
                        <a:t>Saba Anwar + Xintong Wang</a:t>
                      </a:r>
                      <a:endParaRPr dirty="0"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 bwMode="auto">
          <a:xfrm>
            <a:off x="2040737" y="1988710"/>
            <a:ext cx="560728" cy="1371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050">
                <a:solidFill>
                  <a:srgbClr val="272727"/>
                </a:solidFill>
              </a:rPr>
              <a:t>6 ECTS</a:t>
            </a:r>
            <a:endParaRPr/>
          </a:p>
        </p:txBody>
      </p:sp>
      <p:graphicFrame>
        <p:nvGraphicFramePr>
          <p:cNvPr id="94" name="Table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585835"/>
              </p:ext>
            </p:extLst>
          </p:nvPr>
        </p:nvGraphicFramePr>
        <p:xfrm>
          <a:off x="267287" y="3820451"/>
          <a:ext cx="2635658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3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858">
                <a:tc gridSpan="2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200" b="1"/>
                        <a:t>Speech Signal Processing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4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900"/>
                        <a:t>Lecture: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 sz="900"/>
                        <a:t>Prof. Dr. Timo Gerkmann</a:t>
                      </a: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900" dirty="0"/>
                        <a:t>Exercises:</a:t>
                      </a:r>
                      <a:endParaRPr dirty="0"/>
                    </a:p>
                    <a:p>
                      <a:pPr>
                        <a:defRPr/>
                      </a:pPr>
                      <a:r>
                        <a:rPr lang="en-US" sz="900" b="0" i="0" dirty="0"/>
                        <a:t>….</a:t>
                      </a:r>
                      <a:endParaRPr lang="en-US" sz="900" b="1" dirty="0"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96" name="Group 95"/>
          <p:cNvGrpSpPr>
            <a:grpSpLocks noChangeAspect="1"/>
          </p:cNvGrpSpPr>
          <p:nvPr/>
        </p:nvGrpSpPr>
        <p:grpSpPr bwMode="auto">
          <a:xfrm>
            <a:off x="382664" y="4567807"/>
            <a:ext cx="666206" cy="137160"/>
            <a:chOff x="4355976" y="2103698"/>
            <a:chExt cx="2448272" cy="504056"/>
          </a:xfrm>
        </p:grpSpPr>
        <p:sp>
          <p:nvSpPr>
            <p:cNvPr id="97" name="Rectangle: Rounded Corners 96"/>
            <p:cNvSpPr/>
            <p:nvPr/>
          </p:nvSpPr>
          <p:spPr bwMode="auto">
            <a:xfrm>
              <a:off x="4355976" y="2103698"/>
              <a:ext cx="2448272" cy="504056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8" name="Star: 5 Points 97"/>
            <p:cNvSpPr/>
            <p:nvPr/>
          </p:nvSpPr>
          <p:spPr bwMode="auto">
            <a:xfrm>
              <a:off x="4468382" y="2170455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98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9" name="Star: 5 Points 98"/>
            <p:cNvSpPr/>
            <p:nvPr/>
          </p:nvSpPr>
          <p:spPr bwMode="auto">
            <a:xfrm>
              <a:off x="4935274" y="21681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98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0" name="Star: 5 Points 99"/>
            <p:cNvSpPr/>
            <p:nvPr/>
          </p:nvSpPr>
          <p:spPr bwMode="auto">
            <a:xfrm>
              <a:off x="5402166" y="21680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98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1" name="Star: 5 Points 100"/>
            <p:cNvSpPr/>
            <p:nvPr/>
          </p:nvSpPr>
          <p:spPr bwMode="auto">
            <a:xfrm>
              <a:off x="5869058" y="2165823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98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2" name="Star: 5 Points 101"/>
            <p:cNvSpPr/>
            <p:nvPr/>
          </p:nvSpPr>
          <p:spPr bwMode="auto">
            <a:xfrm>
              <a:off x="6335949" y="2164854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11" name="Rectangle 110"/>
          <p:cNvSpPr/>
          <p:nvPr/>
        </p:nvSpPr>
        <p:spPr bwMode="auto">
          <a:xfrm>
            <a:off x="2027866" y="4567807"/>
            <a:ext cx="560728" cy="1371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050" dirty="0">
                <a:solidFill>
                  <a:srgbClr val="272727"/>
                </a:solidFill>
              </a:rPr>
              <a:t>6 ECTS</a:t>
            </a:r>
            <a:endParaRPr dirty="0"/>
          </a:p>
        </p:txBody>
      </p:sp>
      <p:graphicFrame>
        <p:nvGraphicFramePr>
          <p:cNvPr id="112" name="Table 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804033"/>
              </p:ext>
            </p:extLst>
          </p:nvPr>
        </p:nvGraphicFramePr>
        <p:xfrm>
          <a:off x="6378247" y="1250154"/>
          <a:ext cx="2709614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858">
                <a:tc gridSpan="2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200" b="1"/>
                        <a:t>Computer Vision 2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4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900"/>
                        <a:t>Lecture: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 sz="900"/>
                        <a:t>Prof. Dr. Simone Frintrop</a:t>
                      </a: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900" dirty="0"/>
                        <a:t>Exercises:</a:t>
                      </a:r>
                      <a:endParaRPr dirty="0"/>
                    </a:p>
                    <a:p>
                      <a:pPr>
                        <a:defRPr/>
                      </a:pPr>
                      <a:r>
                        <a:rPr lang="en-US" sz="900" b="1" dirty="0"/>
                        <a:t>Emre </a:t>
                      </a:r>
                      <a:r>
                        <a:rPr lang="en-US" sz="900" b="1" u="none" dirty="0" err="1"/>
                        <a:t>Gülsoylu</a:t>
                      </a:r>
                      <a:endParaRPr lang="en-US" sz="900" b="1" u="none" dirty="0"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3" name="Rectangle 112"/>
          <p:cNvSpPr/>
          <p:nvPr/>
        </p:nvSpPr>
        <p:spPr bwMode="auto">
          <a:xfrm>
            <a:off x="8147935" y="2047176"/>
            <a:ext cx="560728" cy="1371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050">
                <a:solidFill>
                  <a:srgbClr val="272727"/>
                </a:solidFill>
              </a:rPr>
              <a:t>6 ECTS</a:t>
            </a:r>
            <a:endParaRPr/>
          </a:p>
        </p:txBody>
      </p:sp>
      <p:graphicFrame>
        <p:nvGraphicFramePr>
          <p:cNvPr id="114" name="Table 1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157132"/>
              </p:ext>
            </p:extLst>
          </p:nvPr>
        </p:nvGraphicFramePr>
        <p:xfrm>
          <a:off x="6378669" y="3820451"/>
          <a:ext cx="2709614" cy="624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858">
                <a:tc gridSpan="2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1"/>
                        <a:t>Robot Technology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4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900"/>
                        <a:t>Lecture: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 sz="900"/>
                        <a:t>Jasper + Niklas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900"/>
                        <a:t>Exercises: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 sz="900" b="0"/>
                        <a:t>TAMS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15" name="Group 114"/>
          <p:cNvGrpSpPr>
            <a:grpSpLocks noChangeAspect="1"/>
          </p:cNvGrpSpPr>
          <p:nvPr/>
        </p:nvGrpSpPr>
        <p:grpSpPr bwMode="auto">
          <a:xfrm>
            <a:off x="6494047" y="4567808"/>
            <a:ext cx="666206" cy="137160"/>
            <a:chOff x="4355976" y="2103698"/>
            <a:chExt cx="2448272" cy="504056"/>
          </a:xfrm>
        </p:grpSpPr>
        <p:sp>
          <p:nvSpPr>
            <p:cNvPr id="116" name="Rectangle: Rounded Corners 115"/>
            <p:cNvSpPr/>
            <p:nvPr/>
          </p:nvSpPr>
          <p:spPr bwMode="auto">
            <a:xfrm>
              <a:off x="4355976" y="2103698"/>
              <a:ext cx="2448272" cy="504056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7" name="Star: 5 Points 116"/>
            <p:cNvSpPr/>
            <p:nvPr/>
          </p:nvSpPr>
          <p:spPr bwMode="auto">
            <a:xfrm>
              <a:off x="4468382" y="2170455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98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8" name="Star: 5 Points 117"/>
            <p:cNvSpPr/>
            <p:nvPr/>
          </p:nvSpPr>
          <p:spPr bwMode="auto">
            <a:xfrm>
              <a:off x="4935274" y="21681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98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9" name="Star: 5 Points 118"/>
            <p:cNvSpPr/>
            <p:nvPr/>
          </p:nvSpPr>
          <p:spPr bwMode="auto">
            <a:xfrm>
              <a:off x="5402166" y="21680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98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0" name="Star: 5 Points 119"/>
            <p:cNvSpPr/>
            <p:nvPr/>
          </p:nvSpPr>
          <p:spPr bwMode="auto">
            <a:xfrm>
              <a:off x="5869058" y="2165823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98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1" name="Star: 5 Points 120"/>
            <p:cNvSpPr/>
            <p:nvPr/>
          </p:nvSpPr>
          <p:spPr bwMode="auto">
            <a:xfrm>
              <a:off x="6335949" y="2164854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29" name="Rectangle 128"/>
          <p:cNvSpPr/>
          <p:nvPr/>
        </p:nvSpPr>
        <p:spPr bwMode="auto">
          <a:xfrm>
            <a:off x="8139249" y="4567808"/>
            <a:ext cx="560728" cy="1371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050">
                <a:solidFill>
                  <a:srgbClr val="272727"/>
                </a:solidFill>
              </a:rPr>
              <a:t>6 ECTS</a:t>
            </a:r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394454"/>
              </p:ext>
            </p:extLst>
          </p:nvPr>
        </p:nvGraphicFramePr>
        <p:xfrm>
          <a:off x="3321033" y="1614803"/>
          <a:ext cx="2635658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7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7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858">
                <a:tc gridSpan="2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200" b="1"/>
                        <a:t>Database and Information Systems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4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900"/>
                        <a:t>Lecture: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 sz="900"/>
                        <a:t>Dr. Annett Ungethüm</a:t>
                      </a: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900" dirty="0"/>
                        <a:t>Exercises:</a:t>
                      </a:r>
                      <a:endParaRPr dirty="0"/>
                    </a:p>
                    <a:p>
                      <a:pPr>
                        <a:defRPr/>
                      </a:pPr>
                      <a:r>
                        <a:rPr lang="en-US" sz="900" b="0" i="0" dirty="0"/>
                        <a:t>…</a:t>
                      </a:r>
                      <a:endParaRPr lang="en-US" sz="900" b="1" dirty="0"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2"/>
          <p:cNvGrpSpPr>
            <a:grpSpLocks noChangeAspect="1"/>
          </p:cNvGrpSpPr>
          <p:nvPr/>
        </p:nvGrpSpPr>
        <p:grpSpPr bwMode="auto">
          <a:xfrm>
            <a:off x="3436409" y="2362159"/>
            <a:ext cx="666206" cy="137160"/>
            <a:chOff x="4355976" y="2103698"/>
            <a:chExt cx="2448272" cy="504056"/>
          </a:xfrm>
        </p:grpSpPr>
        <p:sp>
          <p:nvSpPr>
            <p:cNvPr id="4" name="Rectangle: Rounded Corners 3"/>
            <p:cNvSpPr/>
            <p:nvPr/>
          </p:nvSpPr>
          <p:spPr bwMode="auto">
            <a:xfrm>
              <a:off x="4355976" y="2103698"/>
              <a:ext cx="2448272" cy="504056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" name="Star: 5 Points 5"/>
            <p:cNvSpPr/>
            <p:nvPr/>
          </p:nvSpPr>
          <p:spPr bwMode="auto">
            <a:xfrm>
              <a:off x="4468382" y="2170455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98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Star: 5 Points 7"/>
            <p:cNvSpPr/>
            <p:nvPr/>
          </p:nvSpPr>
          <p:spPr bwMode="auto">
            <a:xfrm>
              <a:off x="4935274" y="21681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98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Star: 5 Points 8"/>
            <p:cNvSpPr/>
            <p:nvPr/>
          </p:nvSpPr>
          <p:spPr bwMode="auto">
            <a:xfrm>
              <a:off x="5402166" y="21680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98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Star: 5 Points 9"/>
            <p:cNvSpPr/>
            <p:nvPr/>
          </p:nvSpPr>
          <p:spPr bwMode="auto">
            <a:xfrm>
              <a:off x="5869058" y="2165823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98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Star: 5 Points 10"/>
            <p:cNvSpPr/>
            <p:nvPr/>
          </p:nvSpPr>
          <p:spPr bwMode="auto">
            <a:xfrm>
              <a:off x="6335949" y="2164854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2" name="Rectangle 11"/>
          <p:cNvSpPr/>
          <p:nvPr/>
        </p:nvSpPr>
        <p:spPr bwMode="auto">
          <a:xfrm>
            <a:off x="5081612" y="2362159"/>
            <a:ext cx="560728" cy="1371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050">
                <a:solidFill>
                  <a:srgbClr val="272727"/>
                </a:solidFill>
              </a:rPr>
              <a:t>9 ECTS</a:t>
            </a:r>
            <a:endParaRPr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auto">
          <a:xfrm>
            <a:off x="6421128" y="2044035"/>
            <a:ext cx="666206" cy="137160"/>
            <a:chOff x="4355976" y="2103698"/>
            <a:chExt cx="2448272" cy="504056"/>
          </a:xfrm>
        </p:grpSpPr>
        <p:sp>
          <p:nvSpPr>
            <p:cNvPr id="16" name="Rectangle: Rounded Corners 15"/>
            <p:cNvSpPr/>
            <p:nvPr/>
          </p:nvSpPr>
          <p:spPr bwMode="auto">
            <a:xfrm>
              <a:off x="4355976" y="2103698"/>
              <a:ext cx="2448272" cy="504056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Star: 5 Points 16"/>
            <p:cNvSpPr/>
            <p:nvPr/>
          </p:nvSpPr>
          <p:spPr bwMode="auto">
            <a:xfrm>
              <a:off x="4468382" y="2170455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FF00"/>
            </a:solidFill>
            <a:ln>
              <a:solidFill>
                <a:schemeClr val="tx1"/>
              </a:solidFill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8" name="Star: 5 Points 17"/>
            <p:cNvSpPr/>
            <p:nvPr/>
          </p:nvSpPr>
          <p:spPr bwMode="auto">
            <a:xfrm>
              <a:off x="4935274" y="21681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FF00"/>
            </a:solidFill>
            <a:ln>
              <a:solidFill>
                <a:schemeClr val="tx1"/>
              </a:solidFill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5" name="Star: 5 Points 24"/>
            <p:cNvSpPr/>
            <p:nvPr/>
          </p:nvSpPr>
          <p:spPr bwMode="auto">
            <a:xfrm>
              <a:off x="5402166" y="21680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FF00"/>
            </a:solidFill>
            <a:ln>
              <a:solidFill>
                <a:schemeClr val="tx1"/>
              </a:solidFill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8" name="Star: 5 Points 27"/>
            <p:cNvSpPr/>
            <p:nvPr/>
          </p:nvSpPr>
          <p:spPr bwMode="auto">
            <a:xfrm>
              <a:off x="5869058" y="2165823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0" name="Star: 5 Points 29"/>
            <p:cNvSpPr/>
            <p:nvPr/>
          </p:nvSpPr>
          <p:spPr bwMode="auto">
            <a:xfrm>
              <a:off x="6335949" y="2164854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62FEB24-B1BE-8416-ADBA-6829B3A18B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62158"/>
              </p:ext>
            </p:extLst>
          </p:nvPr>
        </p:nvGraphicFramePr>
        <p:xfrm>
          <a:off x="3321033" y="3436902"/>
          <a:ext cx="2635658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7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7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858">
                <a:tc gridSpan="2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200" b="1" dirty="0"/>
                        <a:t>Pervasive Computing</a:t>
                      </a:r>
                      <a:endParaRPr lang="ar-EG" dirty="0"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4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900" dirty="0"/>
                        <a:t>Lecture:</a:t>
                      </a:r>
                      <a:endParaRPr lang="en-US" dirty="0"/>
                    </a:p>
                    <a:p>
                      <a:pPr>
                        <a:defRPr/>
                      </a:pPr>
                      <a:r>
                        <a:rPr lang="en-US" sz="900" dirty="0"/>
                        <a:t>Prof. Dr Janick Edinger</a:t>
                      </a: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900" dirty="0"/>
                        <a:t>Seminar:</a:t>
                      </a:r>
                      <a:endParaRPr lang="en-US" dirty="0"/>
                    </a:p>
                    <a:p>
                      <a:pPr>
                        <a:defRPr/>
                      </a:pPr>
                      <a:r>
                        <a:rPr lang="en-US" sz="900" b="1" i="0" dirty="0"/>
                        <a:t>Lennart Bengtson</a:t>
                      </a:r>
                      <a:endParaRPr lang="en-US" sz="900" b="1" dirty="0"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Rectangle 32">
            <a:extLst>
              <a:ext uri="{FF2B5EF4-FFF2-40B4-BE49-F238E27FC236}">
                <a16:creationId xmlns:a16="http://schemas.microsoft.com/office/drawing/2014/main" id="{54AA303C-A303-16C9-E067-D8D1D74AED69}"/>
              </a:ext>
            </a:extLst>
          </p:cNvPr>
          <p:cNvSpPr/>
          <p:nvPr/>
        </p:nvSpPr>
        <p:spPr bwMode="auto">
          <a:xfrm>
            <a:off x="5081612" y="4184258"/>
            <a:ext cx="560728" cy="1371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050" dirty="0">
                <a:solidFill>
                  <a:srgbClr val="272727"/>
                </a:solidFill>
              </a:rPr>
              <a:t>6 ECTS</a:t>
            </a:r>
            <a:endParaRPr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DF36D72-5570-F584-1D52-5AE246198F8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407602" y="4172403"/>
            <a:ext cx="666206" cy="137160"/>
            <a:chOff x="4355976" y="2103698"/>
            <a:chExt cx="2448272" cy="50405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7B7BD153-B202-5035-D666-9E4F439E7619}"/>
                </a:ext>
              </a:extLst>
            </p:cNvPr>
            <p:cNvSpPr/>
            <p:nvPr/>
          </p:nvSpPr>
          <p:spPr bwMode="auto">
            <a:xfrm>
              <a:off x="4355976" y="2103698"/>
              <a:ext cx="2448272" cy="504056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" name="Star: 5 Points 35">
              <a:extLst>
                <a:ext uri="{FF2B5EF4-FFF2-40B4-BE49-F238E27FC236}">
                  <a16:creationId xmlns:a16="http://schemas.microsoft.com/office/drawing/2014/main" id="{745AE89F-3FFB-ADA7-6635-EEC8D703FEEE}"/>
                </a:ext>
              </a:extLst>
            </p:cNvPr>
            <p:cNvSpPr/>
            <p:nvPr/>
          </p:nvSpPr>
          <p:spPr bwMode="auto">
            <a:xfrm>
              <a:off x="4468382" y="2170455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CDDC39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7" name="Star: 5 Points 36">
              <a:extLst>
                <a:ext uri="{FF2B5EF4-FFF2-40B4-BE49-F238E27FC236}">
                  <a16:creationId xmlns:a16="http://schemas.microsoft.com/office/drawing/2014/main" id="{FFDBB9E3-4BBF-2708-8A1C-547AF1E094DB}"/>
                </a:ext>
              </a:extLst>
            </p:cNvPr>
            <p:cNvSpPr/>
            <p:nvPr/>
          </p:nvSpPr>
          <p:spPr bwMode="auto">
            <a:xfrm>
              <a:off x="4935274" y="21681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CDDC39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2" name="Star: 5 Points 41">
              <a:extLst>
                <a:ext uri="{FF2B5EF4-FFF2-40B4-BE49-F238E27FC236}">
                  <a16:creationId xmlns:a16="http://schemas.microsoft.com/office/drawing/2014/main" id="{CAB8DB56-6563-56BC-CE13-12BE5471D8A5}"/>
                </a:ext>
              </a:extLst>
            </p:cNvPr>
            <p:cNvSpPr/>
            <p:nvPr/>
          </p:nvSpPr>
          <p:spPr bwMode="auto">
            <a:xfrm>
              <a:off x="5402166" y="21680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3" name="Star: 5 Points 42">
              <a:extLst>
                <a:ext uri="{FF2B5EF4-FFF2-40B4-BE49-F238E27FC236}">
                  <a16:creationId xmlns:a16="http://schemas.microsoft.com/office/drawing/2014/main" id="{C961A146-19FB-8AE1-9BE9-A8AF58ABD54D}"/>
                </a:ext>
              </a:extLst>
            </p:cNvPr>
            <p:cNvSpPr/>
            <p:nvPr/>
          </p:nvSpPr>
          <p:spPr bwMode="auto">
            <a:xfrm>
              <a:off x="5869058" y="2165823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4" name="Star: 5 Points 43">
              <a:extLst>
                <a:ext uri="{FF2B5EF4-FFF2-40B4-BE49-F238E27FC236}">
                  <a16:creationId xmlns:a16="http://schemas.microsoft.com/office/drawing/2014/main" id="{D806E499-6358-9228-D401-A1D9160A47C5}"/>
                </a:ext>
              </a:extLst>
            </p:cNvPr>
            <p:cNvSpPr/>
            <p:nvPr/>
          </p:nvSpPr>
          <p:spPr bwMode="auto">
            <a:xfrm>
              <a:off x="6335949" y="2164854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99EF57C-B6BF-DF34-4CBB-61CB7E3AC0A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32262" y="1992096"/>
            <a:ext cx="666206" cy="137160"/>
            <a:chOff x="4355976" y="2103698"/>
            <a:chExt cx="2448272" cy="504056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293589D1-EF05-10F7-A8D5-BEA718729430}"/>
                </a:ext>
              </a:extLst>
            </p:cNvPr>
            <p:cNvSpPr/>
            <p:nvPr/>
          </p:nvSpPr>
          <p:spPr bwMode="auto">
            <a:xfrm>
              <a:off x="4355976" y="2103698"/>
              <a:ext cx="2448272" cy="504056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2" name="Star: 5 Points 21">
              <a:extLst>
                <a:ext uri="{FF2B5EF4-FFF2-40B4-BE49-F238E27FC236}">
                  <a16:creationId xmlns:a16="http://schemas.microsoft.com/office/drawing/2014/main" id="{2F0E8E79-14C8-6971-66F7-F408C4E55CD9}"/>
                </a:ext>
              </a:extLst>
            </p:cNvPr>
            <p:cNvSpPr/>
            <p:nvPr/>
          </p:nvSpPr>
          <p:spPr bwMode="auto">
            <a:xfrm>
              <a:off x="4468382" y="2170455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98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3" name="Star: 5 Points 22">
              <a:extLst>
                <a:ext uri="{FF2B5EF4-FFF2-40B4-BE49-F238E27FC236}">
                  <a16:creationId xmlns:a16="http://schemas.microsoft.com/office/drawing/2014/main" id="{C9E7A8F7-9D8F-C0B5-7933-E20A5A745AC0}"/>
                </a:ext>
              </a:extLst>
            </p:cNvPr>
            <p:cNvSpPr/>
            <p:nvPr/>
          </p:nvSpPr>
          <p:spPr bwMode="auto">
            <a:xfrm>
              <a:off x="4935274" y="21681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98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4" name="Star: 5 Points 23">
              <a:extLst>
                <a:ext uri="{FF2B5EF4-FFF2-40B4-BE49-F238E27FC236}">
                  <a16:creationId xmlns:a16="http://schemas.microsoft.com/office/drawing/2014/main" id="{BE642224-1A68-6F15-2C95-7C93CDB89ECD}"/>
                </a:ext>
              </a:extLst>
            </p:cNvPr>
            <p:cNvSpPr/>
            <p:nvPr/>
          </p:nvSpPr>
          <p:spPr bwMode="auto">
            <a:xfrm>
              <a:off x="5402166" y="2168089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98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D4E80465-5ACC-FFF9-F0E2-F0CF52E2D112}"/>
                </a:ext>
              </a:extLst>
            </p:cNvPr>
            <p:cNvSpPr/>
            <p:nvPr/>
          </p:nvSpPr>
          <p:spPr bwMode="auto">
            <a:xfrm>
              <a:off x="5869058" y="2165823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solidFill>
              <a:srgbClr val="FF98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2" name="Star: 5 Points 31">
              <a:extLst>
                <a:ext uri="{FF2B5EF4-FFF2-40B4-BE49-F238E27FC236}">
                  <a16:creationId xmlns:a16="http://schemas.microsoft.com/office/drawing/2014/main" id="{475887D0-9EC7-55FC-255F-94BB02EA4C11}"/>
                </a:ext>
              </a:extLst>
            </p:cNvPr>
            <p:cNvSpPr/>
            <p:nvPr/>
          </p:nvSpPr>
          <p:spPr bwMode="auto">
            <a:xfrm>
              <a:off x="6335949" y="2164854"/>
              <a:ext cx="378417" cy="343388"/>
            </a:xfrm>
            <a:prstGeom prst="star5">
              <a:avLst>
                <a:gd name="adj" fmla="val 14454"/>
                <a:gd name="hf" fmla="val 105146"/>
                <a:gd name="vf" fmla="val 11055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7FBAD4AC-2431-F990-6626-D6DEFBAA0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116690" y="1801774"/>
            <a:ext cx="1008349" cy="90621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F1A8C89-A15A-A1D4-DEC3-FA92F7A2D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044790" y="2069255"/>
            <a:ext cx="1008349" cy="90621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4FFD800-26B0-B8ED-221E-0AAAB7A2F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067825" y="3841995"/>
            <a:ext cx="1008349" cy="9062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srgbClr val="3B515B"/>
                </a:solidFill>
                <a:latin typeface="TheSans UHH"/>
                <a:cs typeface="Arial"/>
              </a:rPr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 dirty="0">
                <a:ln>
                  <a:noFill/>
                </a:ln>
                <a:solidFill>
                  <a:srgbClr val="3B515B"/>
                </a:solidFill>
                <a:latin typeface="TheSans UHH"/>
                <a:cs typeface="Arial"/>
              </a:rPr>
              <a:t>05.10.2026</a:t>
            </a:r>
            <a:endParaRPr dirty="0"/>
          </a:p>
        </p:txBody>
      </p:sp>
      <p:sp>
        <p:nvSpPr>
          <p:cNvPr id="11" name="Titel 1"/>
          <p:cNvSpPr>
            <a:spLocks noGrp="1"/>
          </p:cNvSpPr>
          <p:nvPr>
            <p:ph type="title"/>
          </p:nvPr>
        </p:nvSpPr>
        <p:spPr bwMode="auto">
          <a:xfrm>
            <a:off x="214768" y="1203598"/>
            <a:ext cx="8533695" cy="503882"/>
          </a:xfrm>
        </p:spPr>
        <p:txBody>
          <a:bodyPr/>
          <a:lstStyle/>
          <a:p>
            <a:pPr>
              <a:defRPr/>
            </a:pPr>
            <a:r>
              <a:rPr lang="en-US"/>
              <a:t>Independent Study</a:t>
            </a:r>
            <a:endParaRPr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6"/>
          </p:nvPr>
        </p:nvSpPr>
        <p:spPr bwMode="auto">
          <a:xfrm>
            <a:off x="214311" y="1779662"/>
            <a:ext cx="8534151" cy="2879651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2"/>
                </a:solidFill>
              </a:rPr>
              <a:t>3 or 6 credits (Either in Focus option or extension option)</a:t>
            </a:r>
            <a:endParaRPr dirty="0"/>
          </a:p>
          <a:p>
            <a:pPr>
              <a:defRPr/>
            </a:pPr>
            <a:r>
              <a:rPr lang="en-US" dirty="0">
                <a:solidFill>
                  <a:schemeClr val="tx2"/>
                </a:solidFill>
              </a:rPr>
              <a:t>Not registered in </a:t>
            </a:r>
            <a:r>
              <a:rPr lang="en-US" dirty="0" err="1">
                <a:solidFill>
                  <a:schemeClr val="tx2"/>
                </a:solidFill>
              </a:rPr>
              <a:t>STiNE</a:t>
            </a:r>
            <a:r>
              <a:rPr lang="en-US" dirty="0">
                <a:solidFill>
                  <a:schemeClr val="tx2"/>
                </a:solidFill>
              </a:rPr>
              <a:t>. Has a special </a:t>
            </a:r>
            <a:r>
              <a:rPr lang="en-US" dirty="0" err="1">
                <a:solidFill>
                  <a:schemeClr val="tx2"/>
                </a:solidFill>
              </a:rPr>
              <a:t>registariton</a:t>
            </a:r>
            <a:r>
              <a:rPr lang="en-US" dirty="0">
                <a:solidFill>
                  <a:schemeClr val="tx2"/>
                </a:solidFill>
              </a:rPr>
              <a:t> procedure</a:t>
            </a:r>
            <a:endParaRPr dirty="0"/>
          </a:p>
          <a:p>
            <a:pPr>
              <a:defRPr/>
            </a:pPr>
            <a:r>
              <a:rPr lang="en-US" dirty="0">
                <a:solidFill>
                  <a:schemeClr val="tx2"/>
                </a:solidFill>
              </a:rPr>
              <a:t>Can have up to 6 credits in Focus option. 9 in Total</a:t>
            </a:r>
            <a:endParaRPr dirty="0"/>
          </a:p>
          <a:p>
            <a:pPr>
              <a:defRPr/>
            </a:pPr>
            <a:r>
              <a:rPr lang="en-US" dirty="0">
                <a:solidFill>
                  <a:schemeClr val="tx2"/>
                </a:solidFill>
              </a:rPr>
              <a:t>Can be done in </a:t>
            </a:r>
            <a:r>
              <a:rPr lang="en-US" b="1" dirty="0">
                <a:solidFill>
                  <a:srgbClr val="FF0000"/>
                </a:solidFill>
              </a:rPr>
              <a:t>ANY RESEARCH GROUP</a:t>
            </a:r>
            <a:endParaRPr lang="en-US" dirty="0">
              <a:solidFill>
                <a:schemeClr val="tx2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2"/>
                </a:solidFill>
              </a:rPr>
              <a:t> Must be approved by the IAS committee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srgbClr val="3B515B"/>
                </a:solidFill>
                <a:latin typeface="TheSans UHH"/>
                <a:cs typeface="Arial"/>
              </a:rPr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 dirty="0">
                <a:ln>
                  <a:noFill/>
                </a:ln>
                <a:solidFill>
                  <a:srgbClr val="3B515B"/>
                </a:solidFill>
                <a:latin typeface="TheSans UHH"/>
                <a:cs typeface="Arial"/>
              </a:rPr>
              <a:t>05.10.2026</a:t>
            </a:r>
            <a:endParaRPr dirty="0"/>
          </a:p>
        </p:txBody>
      </p:sp>
      <p:sp>
        <p:nvSpPr>
          <p:cNvPr id="11" name="Titel 1"/>
          <p:cNvSpPr>
            <a:spLocks noGrp="1"/>
          </p:cNvSpPr>
          <p:nvPr>
            <p:ph type="title"/>
          </p:nvPr>
        </p:nvSpPr>
        <p:spPr bwMode="auto">
          <a:xfrm>
            <a:off x="214768" y="1203598"/>
            <a:ext cx="8533695" cy="503882"/>
          </a:xfrm>
        </p:spPr>
        <p:txBody>
          <a:bodyPr/>
          <a:lstStyle/>
          <a:p>
            <a:pPr>
              <a:defRPr/>
            </a:pPr>
            <a:r>
              <a:rPr lang="en-US"/>
              <a:t>Extension Options</a:t>
            </a:r>
            <a:endParaRPr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6"/>
          </p:nvPr>
        </p:nvSpPr>
        <p:spPr bwMode="auto">
          <a:xfrm>
            <a:off x="214311" y="1779662"/>
            <a:ext cx="8534151" cy="2879651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2"/>
                </a:solidFill>
              </a:rPr>
              <a:t>Need 15 credits in total</a:t>
            </a:r>
            <a:endParaRPr dirty="0"/>
          </a:p>
          <a:p>
            <a:pPr>
              <a:defRPr/>
            </a:pPr>
            <a:r>
              <a:rPr lang="en-US" dirty="0">
                <a:solidFill>
                  <a:schemeClr val="tx2"/>
                </a:solidFill>
              </a:rPr>
              <a:t>Can be:</a:t>
            </a:r>
            <a:endParaRPr dirty="0"/>
          </a:p>
          <a:p>
            <a:pPr lvl="1">
              <a:defRPr/>
            </a:pPr>
            <a:r>
              <a:rPr lang="en-US" dirty="0">
                <a:solidFill>
                  <a:schemeClr val="tx2"/>
                </a:solidFill>
              </a:rPr>
              <a:t>regular courses (Other Informatics courses or CISPA courses)</a:t>
            </a:r>
            <a:endParaRPr dirty="0"/>
          </a:p>
          <a:p>
            <a:pPr marL="180000" lvl="1" indent="0">
              <a:buNone/>
              <a:defRPr/>
            </a:pP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	(Technically, you can take whatever you want and argue why it makes sense 	to register it. Then it‘s up to the student office to decide if you can register)</a:t>
            </a:r>
            <a:endParaRPr dirty="0"/>
          </a:p>
          <a:p>
            <a:pPr lvl="1">
              <a:defRPr/>
            </a:pPr>
            <a:r>
              <a:rPr lang="en-US" dirty="0">
                <a:solidFill>
                  <a:schemeClr val="tx2"/>
                </a:solidFill>
              </a:rPr>
              <a:t>University-specific courses (Public lectures,… </a:t>
            </a:r>
            <a:r>
              <a:rPr lang="en-US" dirty="0" err="1">
                <a:solidFill>
                  <a:schemeClr val="tx2"/>
                </a:solidFill>
              </a:rPr>
              <a:t>etc</a:t>
            </a:r>
            <a:r>
              <a:rPr lang="en-US" dirty="0">
                <a:solidFill>
                  <a:schemeClr val="tx2"/>
                </a:solidFill>
              </a:rPr>
              <a:t>)</a:t>
            </a:r>
            <a:endParaRPr dirty="0"/>
          </a:p>
          <a:p>
            <a:pPr lvl="1">
              <a:defRPr/>
            </a:pPr>
            <a:r>
              <a:rPr lang="en-US" dirty="0">
                <a:solidFill>
                  <a:schemeClr val="tx2"/>
                </a:solidFill>
              </a:rPr>
              <a:t>Language classes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srgbClr val="3B515B"/>
                </a:solidFill>
                <a:latin typeface="TheSans UHH"/>
                <a:cs typeface="Arial"/>
              </a:rPr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 dirty="0">
                <a:ln>
                  <a:noFill/>
                </a:ln>
                <a:solidFill>
                  <a:srgbClr val="3B515B"/>
                </a:solidFill>
                <a:latin typeface="TheSans UHH"/>
                <a:cs typeface="Arial"/>
              </a:rPr>
              <a:t>05.10.2026</a:t>
            </a:r>
            <a:endParaRPr dirty="0"/>
          </a:p>
        </p:txBody>
      </p:sp>
      <p:sp>
        <p:nvSpPr>
          <p:cNvPr id="11" name="Titel 1"/>
          <p:cNvSpPr>
            <a:spLocks noGrp="1"/>
          </p:cNvSpPr>
          <p:nvPr>
            <p:ph type="title"/>
          </p:nvPr>
        </p:nvSpPr>
        <p:spPr bwMode="auto">
          <a:xfrm>
            <a:off x="214768" y="1203598"/>
            <a:ext cx="8533695" cy="503882"/>
          </a:xfrm>
        </p:spPr>
        <p:txBody>
          <a:bodyPr/>
          <a:lstStyle/>
          <a:p>
            <a:pPr>
              <a:defRPr/>
            </a:pPr>
            <a:r>
              <a:rPr lang="en-US" dirty="0"/>
              <a:t>Extension Options</a:t>
            </a:r>
            <a:endParaRPr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6"/>
          </p:nvPr>
        </p:nvSpPr>
        <p:spPr bwMode="auto">
          <a:xfrm>
            <a:off x="214311" y="1779662"/>
            <a:ext cx="8534151" cy="2879651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2"/>
                </a:solidFill>
              </a:rPr>
              <a:t>Need 15 credits in total</a:t>
            </a:r>
            <a:endParaRPr dirty="0"/>
          </a:p>
          <a:p>
            <a:pPr>
              <a:defRPr/>
            </a:pPr>
            <a:r>
              <a:rPr lang="en-US" dirty="0">
                <a:solidFill>
                  <a:schemeClr val="tx2"/>
                </a:solidFill>
              </a:rPr>
              <a:t>Can be:</a:t>
            </a:r>
            <a:endParaRPr dirty="0"/>
          </a:p>
          <a:p>
            <a:pPr lvl="1">
              <a:defRPr/>
            </a:pPr>
            <a:r>
              <a:rPr lang="en-US" dirty="0">
                <a:solidFill>
                  <a:schemeClr val="tx2"/>
                </a:solidFill>
              </a:rPr>
              <a:t>regular courses (Other Informatics courses or CISPA courses)</a:t>
            </a:r>
            <a:endParaRPr dirty="0"/>
          </a:p>
          <a:p>
            <a:pPr marL="180000" lvl="1" indent="0">
              <a:buNone/>
              <a:defRPr/>
            </a:pP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	(Technically, you can take whatever you want and argue why it makes sense 	to register it. Then it‘s up to the student office to decide if you can register)</a:t>
            </a:r>
            <a:endParaRPr dirty="0"/>
          </a:p>
          <a:p>
            <a:pPr lvl="1">
              <a:defRPr/>
            </a:pPr>
            <a:r>
              <a:rPr lang="en-US" dirty="0">
                <a:solidFill>
                  <a:schemeClr val="tx2"/>
                </a:solidFill>
              </a:rPr>
              <a:t>University-specific courses (Public lectures,… </a:t>
            </a:r>
            <a:r>
              <a:rPr lang="en-US" dirty="0" err="1">
                <a:solidFill>
                  <a:schemeClr val="tx2"/>
                </a:solidFill>
              </a:rPr>
              <a:t>etc</a:t>
            </a:r>
            <a:r>
              <a:rPr lang="en-US" dirty="0">
                <a:solidFill>
                  <a:schemeClr val="tx2"/>
                </a:solidFill>
              </a:rPr>
              <a:t>)</a:t>
            </a:r>
            <a:endParaRPr dirty="0"/>
          </a:p>
          <a:p>
            <a:pPr lvl="1">
              <a:defRPr/>
            </a:pPr>
            <a:r>
              <a:rPr lang="en-US" b="1" dirty="0">
                <a:solidFill>
                  <a:srgbClr val="FF0000"/>
                </a:solidFill>
              </a:rPr>
              <a:t>Language classes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srgbClr val="3B515B"/>
                </a:solidFill>
                <a:latin typeface="TheSans UHH"/>
                <a:cs typeface="Arial"/>
              </a:rPr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 dirty="0">
                <a:ln>
                  <a:noFill/>
                </a:ln>
                <a:solidFill>
                  <a:srgbClr val="3B515B"/>
                </a:solidFill>
                <a:latin typeface="TheSans UHH"/>
                <a:cs typeface="Arial"/>
              </a:rPr>
              <a:t>05.10.2026</a:t>
            </a:r>
            <a:endParaRPr dirty="0"/>
          </a:p>
        </p:txBody>
      </p:sp>
      <p:sp>
        <p:nvSpPr>
          <p:cNvPr id="11" name="Titel 1"/>
          <p:cNvSpPr>
            <a:spLocks noGrp="1"/>
          </p:cNvSpPr>
          <p:nvPr>
            <p:ph type="title"/>
          </p:nvPr>
        </p:nvSpPr>
        <p:spPr bwMode="auto">
          <a:xfrm>
            <a:off x="214768" y="1203598"/>
            <a:ext cx="8533695" cy="503882"/>
          </a:xfrm>
        </p:spPr>
        <p:txBody>
          <a:bodyPr/>
          <a:lstStyle/>
          <a:p>
            <a:pPr>
              <a:defRPr/>
            </a:pPr>
            <a:r>
              <a:rPr lang="en-US"/>
              <a:t>Language classes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182327" y="1779662"/>
            <a:ext cx="3744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 err="1"/>
              <a:t>Algemeinesprache</a:t>
            </a:r>
            <a:r>
              <a:rPr lang="en-US" b="1" dirty="0"/>
              <a:t> (Hamburger VHS)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 bwMode="auto">
          <a:xfrm>
            <a:off x="5098942" y="1779662"/>
            <a:ext cx="3744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/>
              <a:t>Language Center (</a:t>
            </a:r>
            <a:r>
              <a:rPr lang="en-US" b="1" dirty="0" err="1"/>
              <a:t>Sprachzentrum</a:t>
            </a:r>
            <a:r>
              <a:rPr lang="en-US" b="1" dirty="0"/>
              <a:t>)</a:t>
            </a:r>
            <a:endParaRPr dirty="0"/>
          </a:p>
        </p:txBody>
      </p:sp>
      <p:cxnSp>
        <p:nvCxnSpPr>
          <p:cNvPr id="12" name="Straight Connector 11"/>
          <p:cNvCxnSpPr>
            <a:cxnSpLocks/>
          </p:cNvCxnSpPr>
          <p:nvPr/>
        </p:nvCxnSpPr>
        <p:spPr bwMode="auto">
          <a:xfrm>
            <a:off x="4481616" y="1635646"/>
            <a:ext cx="0" cy="2952502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 bwMode="auto">
          <a:xfrm>
            <a:off x="4610509" y="1635646"/>
            <a:ext cx="0" cy="2952502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 bwMode="auto">
          <a:xfrm>
            <a:off x="1" y="2283718"/>
            <a:ext cx="44816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en-US" sz="1400" dirty="0"/>
              <a:t>To easily find them, google “</a:t>
            </a:r>
            <a:r>
              <a:rPr lang="en-US" sz="1400" b="1" dirty="0"/>
              <a:t>DAF A1 A2 Uni Hamburg</a:t>
            </a:r>
            <a:r>
              <a:rPr lang="en-US" sz="1400" dirty="0"/>
              <a:t>”</a:t>
            </a:r>
            <a:endParaRPr dirty="0"/>
          </a:p>
          <a:p>
            <a:pPr marL="285750" indent="-285750">
              <a:buFont typeface="Arial"/>
              <a:buChar char="•"/>
              <a:defRPr/>
            </a:pPr>
            <a:r>
              <a:rPr lang="en-US" sz="1400" dirty="0"/>
              <a:t>Offers German classes from A1 till A2</a:t>
            </a:r>
            <a:endParaRPr dirty="0"/>
          </a:p>
          <a:p>
            <a:pPr marL="285750" indent="-285750">
              <a:buFont typeface="Arial"/>
              <a:buChar char="•"/>
              <a:defRPr/>
            </a:pPr>
            <a:r>
              <a:rPr lang="en-US" sz="1400" dirty="0"/>
              <a:t>Offers 13 other language classes from A1 to B</a:t>
            </a:r>
            <a:endParaRPr dirty="0"/>
          </a:p>
          <a:p>
            <a:pPr marL="285750" indent="-285750">
              <a:buFont typeface="Arial"/>
              <a:buChar char="•"/>
              <a:defRPr/>
            </a:pPr>
            <a:r>
              <a:rPr lang="en-US" sz="1400" dirty="0"/>
              <a:t>You get Credits!</a:t>
            </a:r>
            <a:endParaRPr dirty="0"/>
          </a:p>
          <a:p>
            <a:pPr marL="285750" indent="-285750">
              <a:buFont typeface="Arial"/>
              <a:buChar char="•"/>
              <a:defRPr/>
            </a:pPr>
            <a:r>
              <a:rPr lang="en-US" sz="1400" b="1" dirty="0">
                <a:solidFill>
                  <a:srgbClr val="FF0000"/>
                </a:solidFill>
              </a:rPr>
              <a:t>Can’t register from </a:t>
            </a:r>
            <a:r>
              <a:rPr lang="en-US" sz="1400" b="1" dirty="0" err="1">
                <a:solidFill>
                  <a:srgbClr val="FF0000"/>
                </a:solidFill>
              </a:rPr>
              <a:t>STiNE</a:t>
            </a:r>
            <a:r>
              <a:rPr lang="en-US" sz="1400" dirty="0"/>
              <a:t>.</a:t>
            </a:r>
            <a:endParaRPr dirty="0"/>
          </a:p>
          <a:p>
            <a:pPr marL="285750" indent="-285750">
              <a:buFont typeface="Arial"/>
              <a:buChar char="•"/>
              <a:defRPr/>
            </a:pPr>
            <a:r>
              <a:rPr lang="en-US" sz="1400" dirty="0"/>
              <a:t>You register in their website, do the course and obtain a certificate after passing the course. You send it to the student office to get credits</a:t>
            </a:r>
            <a:endParaRPr dirty="0"/>
          </a:p>
          <a:p>
            <a:pPr marL="285750" indent="-285750">
              <a:buFont typeface="Arial"/>
              <a:buChar char="•"/>
              <a:defRPr/>
            </a:pPr>
            <a:r>
              <a:rPr lang="en-US" sz="1400" dirty="0"/>
              <a:t>Check their registration window. Places are limited!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400" dirty="0"/>
              <a:t>Registration starts from October 9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 bwMode="auto">
          <a:xfrm>
            <a:off x="4662386" y="2283717"/>
            <a:ext cx="448161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en-US" sz="1400" dirty="0"/>
              <a:t>To easily find them, google “</a:t>
            </a:r>
            <a:r>
              <a:rPr lang="en-US" sz="1400" b="1" dirty="0"/>
              <a:t>DAF Uni Hamburg</a:t>
            </a:r>
            <a:r>
              <a:rPr lang="en-US" sz="1400" dirty="0"/>
              <a:t>”</a:t>
            </a:r>
            <a:endParaRPr dirty="0"/>
          </a:p>
          <a:p>
            <a:pPr marL="285750" indent="-285750">
              <a:buFont typeface="Arial"/>
              <a:buChar char="•"/>
              <a:defRPr/>
            </a:pPr>
            <a:r>
              <a:rPr lang="en-US" sz="1400" dirty="0"/>
              <a:t>Offers German classes from B1 till C1</a:t>
            </a:r>
            <a:endParaRPr dirty="0"/>
          </a:p>
          <a:p>
            <a:pPr marL="285750" indent="-285750">
              <a:buFont typeface="Arial"/>
              <a:buChar char="•"/>
              <a:defRPr/>
            </a:pPr>
            <a:r>
              <a:rPr lang="en-US" sz="1400" dirty="0"/>
              <a:t>Offers 8 other language classes. </a:t>
            </a:r>
            <a:endParaRPr dirty="0"/>
          </a:p>
          <a:p>
            <a:pPr marL="285750" indent="-285750">
              <a:buFont typeface="Arial"/>
              <a:buChar char="•"/>
              <a:defRPr/>
            </a:pPr>
            <a:r>
              <a:rPr lang="en-US" sz="1400" dirty="0"/>
              <a:t>You get Credits!</a:t>
            </a:r>
            <a:endParaRPr dirty="0"/>
          </a:p>
          <a:p>
            <a:pPr marL="285750" indent="-285750">
              <a:buFont typeface="Arial"/>
              <a:buChar char="•"/>
              <a:defRPr/>
            </a:pPr>
            <a:r>
              <a:rPr lang="en-US" sz="1400" b="1" dirty="0">
                <a:solidFill>
                  <a:srgbClr val="00B050"/>
                </a:solidFill>
              </a:rPr>
              <a:t>You DO register in </a:t>
            </a:r>
            <a:r>
              <a:rPr lang="en-US" sz="1400" b="1" dirty="0" err="1">
                <a:solidFill>
                  <a:srgbClr val="00B050"/>
                </a:solidFill>
              </a:rPr>
              <a:t>STiNE</a:t>
            </a:r>
            <a:r>
              <a:rPr lang="en-US" sz="1400" dirty="0"/>
              <a:t>.</a:t>
            </a:r>
            <a:endParaRPr dirty="0"/>
          </a:p>
          <a:p>
            <a:pPr marL="285750" indent="-285750">
              <a:buFont typeface="Arial"/>
              <a:buChar char="•"/>
              <a:defRPr/>
            </a:pPr>
            <a:r>
              <a:rPr lang="en-US" sz="1400" dirty="0"/>
              <a:t>That means you get your schedule, your notes and everything in </a:t>
            </a:r>
            <a:r>
              <a:rPr lang="en-US" sz="1400" dirty="0" err="1"/>
              <a:t>STiNE</a:t>
            </a:r>
            <a:endParaRPr lang="en-US" sz="1400" dirty="0"/>
          </a:p>
          <a:p>
            <a:pPr marL="285750" indent="-285750">
              <a:buFont typeface="Arial"/>
              <a:buChar char="•"/>
              <a:defRPr/>
            </a:pPr>
            <a:r>
              <a:rPr lang="en-US" sz="1400" dirty="0"/>
              <a:t>Registration times are the same as </a:t>
            </a:r>
            <a:r>
              <a:rPr lang="en-US" sz="1400" dirty="0" err="1"/>
              <a:t>STiNE</a:t>
            </a:r>
            <a:r>
              <a:rPr lang="en-US" sz="1400" dirty="0"/>
              <a:t> </a:t>
            </a:r>
            <a:endParaRPr dirty="0"/>
          </a:p>
          <a:p>
            <a:pPr marL="285750" indent="-285750">
              <a:buFont typeface="Arial"/>
              <a:buChar char="•"/>
              <a:defRPr/>
            </a:pPr>
            <a:r>
              <a:rPr lang="en-US" sz="1400" dirty="0"/>
              <a:t>Meaning if you have already prior knowledge and want to start with B1 or higher, You can still register by tomorrow!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087AF2-47E5-7A01-30E7-BFE674761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380312" y="4134889"/>
            <a:ext cx="1008349" cy="9062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260913-2FC3-BF86-1ECA-A09463AB0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014660" y="4134889"/>
            <a:ext cx="1008349" cy="9062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9C8195-3676-B381-E821-B210AACB8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765059" y="3997967"/>
            <a:ext cx="1008349" cy="9062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562F63-39D0-D712-4C7C-7A4B5AC22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319462" y="3511757"/>
            <a:ext cx="1008349" cy="9062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DBE1E3-1A93-3644-2C00-27455AE7C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209530" y="2382819"/>
            <a:ext cx="1008349" cy="90621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30FE7AE-3BB6-42CA-0028-AAC890C81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430295" y="2872401"/>
            <a:ext cx="1008349" cy="9062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4" grpId="0" build="p"/>
      <p:bldP spid="15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srgbClr val="3B515B"/>
                </a:solidFill>
                <a:latin typeface="TheSans UHH"/>
                <a:cs typeface="Arial"/>
              </a:rPr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 dirty="0">
                <a:ln>
                  <a:noFill/>
                </a:ln>
                <a:solidFill>
                  <a:srgbClr val="3B515B"/>
                </a:solidFill>
                <a:latin typeface="TheSans UHH"/>
                <a:cs typeface="Arial"/>
              </a:rPr>
              <a:t>05.10.2026</a:t>
            </a:r>
            <a:endParaRPr dirty="0"/>
          </a:p>
        </p:txBody>
      </p:sp>
      <p:sp>
        <p:nvSpPr>
          <p:cNvPr id="11" name="Titel 1"/>
          <p:cNvSpPr>
            <a:spLocks noGrp="1"/>
          </p:cNvSpPr>
          <p:nvPr>
            <p:ph type="title"/>
          </p:nvPr>
        </p:nvSpPr>
        <p:spPr bwMode="auto">
          <a:xfrm>
            <a:off x="214768" y="1203598"/>
            <a:ext cx="8533695" cy="503882"/>
          </a:xfrm>
        </p:spPr>
        <p:txBody>
          <a:bodyPr/>
          <a:lstStyle/>
          <a:p>
            <a:pPr>
              <a:defRPr/>
            </a:pPr>
            <a:r>
              <a:rPr lang="en-US"/>
              <a:t>Agenda</a:t>
            </a:r>
            <a:endParaRPr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6"/>
          </p:nvPr>
        </p:nvSpPr>
        <p:spPr bwMode="auto">
          <a:xfrm>
            <a:off x="214311" y="1779662"/>
            <a:ext cx="8534151" cy="2879651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4CAF50"/>
                </a:solidFill>
              </a:rPr>
              <a:t>Introduction</a:t>
            </a:r>
            <a:endParaRPr/>
          </a:p>
          <a:p>
            <a:pPr>
              <a:defRPr/>
            </a:pPr>
            <a:r>
              <a:rPr lang="en-US">
                <a:solidFill>
                  <a:srgbClr val="00B050"/>
                </a:solidFill>
              </a:rPr>
              <a:t>How do Modules at Informatik work? </a:t>
            </a:r>
            <a:endParaRPr/>
          </a:p>
          <a:p>
            <a:pPr>
              <a:defRPr/>
            </a:pPr>
            <a:r>
              <a:rPr lang="en-US">
                <a:solidFill>
                  <a:srgbClr val="00B050"/>
                </a:solidFill>
              </a:rPr>
              <a:t>Courses</a:t>
            </a:r>
            <a:endParaRPr/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If I had known…</a:t>
            </a:r>
            <a:endParaRPr/>
          </a:p>
          <a:p>
            <a:pPr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srgbClr val="3B515B"/>
                </a:solidFill>
                <a:latin typeface="TheSans UHH"/>
                <a:cs typeface="Arial"/>
              </a:rPr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 dirty="0">
                <a:ln>
                  <a:noFill/>
                </a:ln>
                <a:solidFill>
                  <a:srgbClr val="3B515B"/>
                </a:solidFill>
                <a:latin typeface="TheSans UHH"/>
                <a:cs typeface="Arial"/>
              </a:rPr>
              <a:t>05.10.2026</a:t>
            </a:r>
            <a:endParaRPr dirty="0"/>
          </a:p>
        </p:txBody>
      </p:sp>
      <p:sp>
        <p:nvSpPr>
          <p:cNvPr id="11" name="Titel 1"/>
          <p:cNvSpPr>
            <a:spLocks noGrp="1"/>
          </p:cNvSpPr>
          <p:nvPr>
            <p:ph type="title"/>
          </p:nvPr>
        </p:nvSpPr>
        <p:spPr bwMode="auto">
          <a:xfrm>
            <a:off x="214768" y="1203598"/>
            <a:ext cx="8533695" cy="503882"/>
          </a:xfrm>
        </p:spPr>
        <p:txBody>
          <a:bodyPr/>
          <a:lstStyle/>
          <a:p>
            <a:pPr>
              <a:defRPr/>
            </a:pPr>
            <a:r>
              <a:rPr lang="en-US"/>
              <a:t>Agenda</a:t>
            </a:r>
            <a:endParaRPr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6"/>
          </p:nvPr>
        </p:nvSpPr>
        <p:spPr bwMode="auto">
          <a:xfrm>
            <a:off x="214311" y="1779662"/>
            <a:ext cx="8534151" cy="2879651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4CAF50"/>
                </a:solidFill>
              </a:rPr>
              <a:t>Introduction</a:t>
            </a:r>
            <a:endParaRPr/>
          </a:p>
          <a:p>
            <a:pPr>
              <a:defRPr/>
            </a:pPr>
            <a:r>
              <a:rPr lang="en-US">
                <a:solidFill>
                  <a:srgbClr val="00B050"/>
                </a:solidFill>
              </a:rPr>
              <a:t>How do Modules at Informatik work? </a:t>
            </a:r>
            <a:endParaRPr/>
          </a:p>
          <a:p>
            <a:pPr>
              <a:defRPr/>
            </a:pPr>
            <a:r>
              <a:rPr lang="en-US">
                <a:solidFill>
                  <a:srgbClr val="00B050"/>
                </a:solidFill>
              </a:rPr>
              <a:t>Courses</a:t>
            </a:r>
            <a:endParaRPr/>
          </a:p>
          <a:p>
            <a:pPr>
              <a:defRPr/>
            </a:pPr>
            <a:r>
              <a:rPr lang="en-US" b="1">
                <a:solidFill>
                  <a:srgbClr val="FF0000"/>
                </a:solidFill>
              </a:rPr>
              <a:t>If I had known…</a:t>
            </a:r>
            <a:endParaRPr/>
          </a:p>
          <a:p>
            <a:pPr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srgbClr val="3B515B"/>
                </a:solidFill>
                <a:latin typeface="TheSans UHH"/>
                <a:cs typeface="Arial"/>
              </a:rPr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 dirty="0">
                <a:ln>
                  <a:noFill/>
                </a:ln>
                <a:solidFill>
                  <a:srgbClr val="3B515B"/>
                </a:solidFill>
                <a:latin typeface="TheSans UHH"/>
                <a:cs typeface="Arial"/>
              </a:rPr>
              <a:t>05.10.2026</a:t>
            </a:r>
            <a:endParaRPr dirty="0"/>
          </a:p>
        </p:txBody>
      </p:sp>
      <p:sp>
        <p:nvSpPr>
          <p:cNvPr id="11" name="Titel 1"/>
          <p:cNvSpPr>
            <a:spLocks noGrp="1"/>
          </p:cNvSpPr>
          <p:nvPr>
            <p:ph type="title"/>
          </p:nvPr>
        </p:nvSpPr>
        <p:spPr bwMode="auto">
          <a:xfrm>
            <a:off x="214768" y="1203598"/>
            <a:ext cx="8533695" cy="503882"/>
          </a:xfrm>
        </p:spPr>
        <p:txBody>
          <a:bodyPr/>
          <a:lstStyle/>
          <a:p>
            <a:pPr>
              <a:defRPr/>
            </a:pPr>
            <a:r>
              <a:rPr lang="en-US"/>
              <a:t>If I had known…</a:t>
            </a:r>
            <a:endParaRPr/>
          </a:p>
        </p:txBody>
      </p:sp>
      <p:sp>
        <p:nvSpPr>
          <p:cNvPr id="2" name="Textplatzhalter 2"/>
          <p:cNvSpPr>
            <a:spLocks noGrp="1"/>
          </p:cNvSpPr>
          <p:nvPr>
            <p:ph type="body" sz="quarter" idx="16"/>
          </p:nvPr>
        </p:nvSpPr>
        <p:spPr bwMode="auto">
          <a:xfrm>
            <a:off x="214311" y="1779662"/>
            <a:ext cx="8534151" cy="2879651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2"/>
                </a:solidFill>
              </a:rPr>
              <a:t>You do NOT need to finish exactly in 2 years</a:t>
            </a:r>
            <a:endParaRPr dirty="0"/>
          </a:p>
          <a:p>
            <a:pPr>
              <a:defRPr/>
            </a:pPr>
            <a:r>
              <a:rPr lang="en-US" dirty="0">
                <a:solidFill>
                  <a:schemeClr val="tx2"/>
                </a:solidFill>
              </a:rPr>
              <a:t>If your goal is to stay in Germany, learning German is a MUST so don’t stop even you fulfill the credits. Take more language classes if you can</a:t>
            </a:r>
            <a:endParaRPr dirty="0"/>
          </a:p>
          <a:p>
            <a:pPr>
              <a:defRPr/>
            </a:pPr>
            <a:r>
              <a:rPr lang="en-US" dirty="0">
                <a:solidFill>
                  <a:schemeClr val="tx2"/>
                </a:solidFill>
              </a:rPr>
              <a:t>You can do an internship in companies as a student. It’s worth it! </a:t>
            </a:r>
            <a:endParaRPr dirty="0"/>
          </a:p>
          <a:p>
            <a:pPr>
              <a:defRPr/>
            </a:pPr>
            <a:r>
              <a:rPr lang="en-US" dirty="0">
                <a:solidFill>
                  <a:schemeClr val="tx2"/>
                </a:solidFill>
              </a:rPr>
              <a:t>Think also about doing a semester abroad. You can and you will get credits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984004" y="4767263"/>
            <a:ext cx="3175992" cy="273844"/>
          </a:xfrm>
        </p:spPr>
        <p:txBody>
          <a:bodyPr/>
          <a:lstStyle/>
          <a:p>
            <a:pPr>
              <a:defRPr/>
            </a:pPr>
            <a:r>
              <a:rPr lang="en-US"/>
              <a:t>IAS Course Guidance</a:t>
            </a:r>
            <a:endParaRPr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323850" y="4767263"/>
            <a:ext cx="2133600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05.10.2026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 bwMode="auto">
          <a:xfrm>
            <a:off x="251520" y="1131590"/>
            <a:ext cx="48859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/>
              <a:t>Questions? </a:t>
            </a:r>
            <a:endParaRPr lang="en-GB" sz="4800"/>
          </a:p>
        </p:txBody>
      </p:sp>
      <p:sp>
        <p:nvSpPr>
          <p:cNvPr id="11" name="TextBox 10"/>
          <p:cNvSpPr txBox="1"/>
          <p:nvPr/>
        </p:nvSpPr>
        <p:spPr bwMode="auto">
          <a:xfrm>
            <a:off x="4932040" y="1934419"/>
            <a:ext cx="3672408" cy="249299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>
            <a:spAutoFit/>
          </a:bodyPr>
          <a:lstStyle/>
          <a:p>
            <a:pPr>
              <a:defRPr/>
            </a:pPr>
            <a:endParaRPr lang="en-US" sz="1200" b="0" i="0" u="none" strike="noStrike" cap="none" spc="0">
              <a:ln>
                <a:noFill/>
              </a:ln>
              <a:solidFill>
                <a:srgbClr val="EFEFEF"/>
              </a:solidFill>
              <a:latin typeface="PT Serif"/>
            </a:endParaRPr>
          </a:p>
          <a:p>
            <a:pPr>
              <a:defRPr/>
            </a:pPr>
            <a:r>
              <a:rPr lang="en-US" sz="4000" b="0" i="0" u="none" strike="noStrike" cap="none" spc="0">
                <a:ln>
                  <a:noFill/>
                </a:ln>
                <a:solidFill>
                  <a:srgbClr val="EFEFEF"/>
                </a:solidFill>
                <a:latin typeface="PT Serif"/>
              </a:rPr>
              <a:t>“I like dumb questions</a:t>
            </a:r>
            <a:r>
              <a:rPr lang="en-US" sz="2400" b="0" i="0" u="none" strike="noStrike" cap="none" spc="0">
                <a:ln>
                  <a:noFill/>
                </a:ln>
                <a:solidFill>
                  <a:srgbClr val="EFEFEF"/>
                </a:solidFill>
                <a:latin typeface="PT Serif"/>
              </a:rPr>
              <a:t>.</a:t>
            </a:r>
            <a:r>
              <a:rPr lang="en-US" sz="4400" b="0" i="0" u="none" strike="noStrike" cap="none" spc="0">
                <a:ln>
                  <a:noFill/>
                </a:ln>
                <a:solidFill>
                  <a:srgbClr val="EFEFEF"/>
                </a:solidFill>
                <a:latin typeface="PT Serif"/>
              </a:rPr>
              <a:t>”</a:t>
            </a:r>
            <a:r>
              <a:rPr lang="en-US" sz="2400" b="0" i="0" u="none" strike="noStrike" cap="none" spc="0">
                <a:ln>
                  <a:noFill/>
                </a:ln>
                <a:solidFill>
                  <a:srgbClr val="EFEFEF"/>
                </a:solidFill>
                <a:latin typeface="PT Serif"/>
              </a:rPr>
              <a:t> </a:t>
            </a:r>
            <a:endParaRPr/>
          </a:p>
          <a:p>
            <a:pPr>
              <a:defRPr/>
            </a:pPr>
            <a:endParaRPr lang="en-US" sz="2400" b="0" i="0" u="none" strike="noStrike" cap="none" spc="0">
              <a:ln>
                <a:noFill/>
              </a:ln>
              <a:solidFill>
                <a:srgbClr val="EFEFEF"/>
              </a:solidFill>
              <a:latin typeface="PT Serif"/>
            </a:endParaRPr>
          </a:p>
          <a:p>
            <a:pPr>
              <a:defRPr/>
            </a:pPr>
            <a:r>
              <a:rPr lang="en-US" sz="1400" b="1" i="1" u="none" strike="noStrike" cap="none" spc="0">
                <a:ln>
                  <a:noFill/>
                </a:ln>
                <a:solidFill>
                  <a:srgbClr val="8BAB42">
                    <a:lumMod val="60000"/>
                    <a:lumOff val="40000"/>
                  </a:srgbClr>
                </a:solidFill>
                <a:latin typeface="PT Serif"/>
              </a:rPr>
              <a:t>- Alhassan Abdelhalim</a:t>
            </a:r>
            <a:endParaRPr/>
          </a:p>
          <a:p>
            <a:pPr>
              <a:defRPr/>
            </a:pPr>
            <a:endParaRPr lang="en-GB"/>
          </a:p>
        </p:txBody>
      </p:sp>
      <p:sp>
        <p:nvSpPr>
          <p:cNvPr id="2" name="Textplatzhalter 2"/>
          <p:cNvSpPr>
            <a:spLocks noGrp="1"/>
          </p:cNvSpPr>
          <p:nvPr>
            <p:ph type="body" sz="quarter" idx="16"/>
          </p:nvPr>
        </p:nvSpPr>
        <p:spPr bwMode="auto">
          <a:xfrm>
            <a:off x="251520" y="2057621"/>
            <a:ext cx="4572000" cy="64807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sz="1600">
                <a:solidFill>
                  <a:schemeClr val="tx2"/>
                </a:solidFill>
              </a:rPr>
              <a:t>Do you hate asking questions in public? 👉👈</a:t>
            </a:r>
            <a:endParaRPr/>
          </a:p>
        </p:txBody>
      </p:sp>
      <p:sp>
        <p:nvSpPr>
          <p:cNvPr id="6" name="Textplatzhalter 2"/>
          <p:cNvSpPr txBox="1"/>
          <p:nvPr/>
        </p:nvSpPr>
        <p:spPr bwMode="auto">
          <a:xfrm>
            <a:off x="323850" y="2642701"/>
            <a:ext cx="3443282" cy="648072"/>
          </a:xfrm>
          <a:prstGeom prst="rect">
            <a:avLst/>
          </a:prstGeom>
        </p:spPr>
        <p:txBody>
          <a:bodyPr vert="horz"/>
          <a:lstStyle>
            <a:lvl1pPr marL="180000" indent="-180000" algn="l" defTabSz="457200">
              <a:spcBef>
                <a:spcPts val="1450"/>
              </a:spcBef>
              <a:buClr>
                <a:schemeClr val="tx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1pPr>
            <a:lvl2pPr marL="360000" indent="-180000" algn="l" defTabSz="457200">
              <a:spcBef>
                <a:spcPts val="0"/>
              </a:spcBef>
              <a:buClr>
                <a:schemeClr val="bg2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2pPr>
            <a:lvl3pPr marL="540000" indent="-180000" algn="l" defTabSz="457200">
              <a:spcBef>
                <a:spcPts val="0"/>
              </a:spcBef>
              <a:buClr>
                <a:schemeClr val="bg2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3pPr>
            <a:lvl4pPr marL="180000" indent="-180000" algn="l" defTabSz="457200">
              <a:spcBef>
                <a:spcPts val="0"/>
              </a:spcBef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ea typeface="+mn-ea"/>
                <a:cs typeface="TheSans UHH Regular"/>
              </a:defRPr>
            </a:lvl4pPr>
            <a:lvl5pPr marL="180000" indent="-180000" algn="l" defTabSz="457200">
              <a:spcBef>
                <a:spcPts val="0"/>
              </a:spcBef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ea typeface="+mn-ea"/>
                <a:cs typeface="TheSans UHH Regular"/>
              </a:defRPr>
            </a:lvl5pPr>
            <a:lvl6pPr marL="25146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/>
              <a:buNone/>
              <a:defRPr/>
            </a:pPr>
            <a:r>
              <a:rPr lang="en-US" b="1" dirty="0">
                <a:solidFill>
                  <a:schemeClr val="tx2"/>
                </a:solidFill>
              </a:rPr>
              <a:t>Then email me gladly!</a:t>
            </a:r>
            <a:endParaRPr dirty="0"/>
          </a:p>
          <a:p>
            <a:pPr marL="0" indent="0">
              <a:buFont typeface="Wingdings"/>
              <a:buNone/>
              <a:defRPr/>
            </a:pPr>
            <a:r>
              <a:rPr lang="en-US" sz="1600" u="sng" dirty="0">
                <a:solidFill>
                  <a:srgbClr val="00B0F0"/>
                </a:solidFill>
              </a:rPr>
              <a:t>alhassan.abdelhalim@uni-hamburg.de</a:t>
            </a:r>
            <a:endParaRPr dirty="0"/>
          </a:p>
        </p:txBody>
      </p:sp>
      <p:sp>
        <p:nvSpPr>
          <p:cNvPr id="8" name="Textplatzhalter 2"/>
          <p:cNvSpPr txBox="1"/>
          <p:nvPr/>
        </p:nvSpPr>
        <p:spPr bwMode="auto">
          <a:xfrm>
            <a:off x="395536" y="3597103"/>
            <a:ext cx="3443282" cy="648072"/>
          </a:xfrm>
          <a:prstGeom prst="rect">
            <a:avLst/>
          </a:prstGeom>
        </p:spPr>
        <p:txBody>
          <a:bodyPr vert="horz"/>
          <a:lstStyle>
            <a:lvl1pPr marL="180000" indent="-180000" algn="l" defTabSz="457200">
              <a:spcBef>
                <a:spcPts val="1450"/>
              </a:spcBef>
              <a:buClr>
                <a:schemeClr val="tx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1pPr>
            <a:lvl2pPr marL="360000" indent="-180000" algn="l" defTabSz="457200">
              <a:spcBef>
                <a:spcPts val="0"/>
              </a:spcBef>
              <a:buClr>
                <a:schemeClr val="bg2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2pPr>
            <a:lvl3pPr marL="540000" indent="-180000" algn="l" defTabSz="457200">
              <a:spcBef>
                <a:spcPts val="0"/>
              </a:spcBef>
              <a:buClr>
                <a:schemeClr val="bg2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"/>
                <a:ea typeface="+mn-ea"/>
                <a:cs typeface="TheSans UHH"/>
              </a:defRPr>
            </a:lvl3pPr>
            <a:lvl4pPr marL="180000" indent="-180000" algn="l" defTabSz="457200">
              <a:spcBef>
                <a:spcPts val="0"/>
              </a:spcBef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ea typeface="+mn-ea"/>
                <a:cs typeface="TheSans UHH Regular"/>
              </a:defRPr>
            </a:lvl4pPr>
            <a:lvl5pPr marL="180000" indent="-180000" algn="l" defTabSz="457200">
              <a:spcBef>
                <a:spcPts val="0"/>
              </a:spcBef>
              <a:buClr>
                <a:schemeClr val="accent1"/>
              </a:buClr>
              <a:buFont typeface="Wingdings"/>
              <a:buChar char="§"/>
              <a:defRPr sz="2000">
                <a:solidFill>
                  <a:srgbClr val="3B515B"/>
                </a:solidFill>
                <a:latin typeface="TheSans UHH Regular"/>
                <a:ea typeface="+mn-ea"/>
                <a:cs typeface="TheSans UHH Regular"/>
              </a:defRPr>
            </a:lvl5pPr>
            <a:lvl6pPr marL="25146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/>
              <a:buNone/>
              <a:defRPr/>
            </a:pPr>
            <a:r>
              <a:rPr lang="en-US" b="1" dirty="0">
                <a:solidFill>
                  <a:schemeClr val="tx2"/>
                </a:solidFill>
              </a:rPr>
              <a:t>Or visit! </a:t>
            </a:r>
            <a:br>
              <a:rPr lang="en-US" sz="1600" dirty="0">
                <a:solidFill>
                  <a:schemeClr val="tx2"/>
                </a:solidFill>
              </a:rPr>
            </a:br>
            <a:r>
              <a:rPr lang="en-US" sz="1600" b="1" dirty="0">
                <a:solidFill>
                  <a:schemeClr val="tx2"/>
                </a:solidFill>
              </a:rPr>
              <a:t>10-755</a:t>
            </a:r>
            <a:r>
              <a:rPr lang="en-US" sz="1600" dirty="0">
                <a:solidFill>
                  <a:schemeClr val="tx2"/>
                </a:solidFill>
              </a:rPr>
              <a:t> at Bu56b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w="http://schemas.openxmlformats.org/wordprocessingml/2006/main"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_Folienmaster_neu">
  <a:themeElements>
    <a:clrScheme name="Benutzerdefiniert 1">
      <a:dk1>
        <a:srgbClr val="3B515B"/>
      </a:dk1>
      <a:lt1>
        <a:srgbClr val="FFFFFF"/>
      </a:lt1>
      <a:dk2>
        <a:srgbClr val="000000"/>
      </a:dk2>
      <a:lt2>
        <a:srgbClr val="B6BFC3"/>
      </a:lt2>
      <a:accent1>
        <a:srgbClr val="E2001A"/>
      </a:accent1>
      <a:accent2>
        <a:srgbClr val="0271BB"/>
      </a:accent2>
      <a:accent3>
        <a:srgbClr val="3B515B"/>
      </a:accent3>
      <a:accent4>
        <a:srgbClr val="F07F8C"/>
      </a:accent4>
      <a:accent5>
        <a:srgbClr val="80B8DD"/>
      </a:accent5>
      <a:accent6>
        <a:srgbClr val="9DA8AD"/>
      </a:accent6>
      <a:hlink>
        <a:srgbClr val="0271BB"/>
      </a:hlink>
      <a:folHlink>
        <a:srgbClr val="80B8DD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2"/>
        </a:solidFill>
        <a:ln>
          <a:noFill/>
        </a:ln>
      </a:spPr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 w="38100" cmpd="sng">
          <a:solidFill>
            <a:schemeClr val="bg2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2343</Words>
  <Application>Microsoft Office PowerPoint</Application>
  <DocSecurity>0</DocSecurity>
  <PresentationFormat>On-screen Show (16:9)</PresentationFormat>
  <Paragraphs>649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1" baseType="lpstr">
      <vt:lpstr>TheSans UHH</vt:lpstr>
      <vt:lpstr>TheSans UHH Bold Caps</vt:lpstr>
      <vt:lpstr>Arial</vt:lpstr>
      <vt:lpstr>Cambria Math</vt:lpstr>
      <vt:lpstr>TheSans UHH Bold Caps</vt:lpstr>
      <vt:lpstr>Wingdings</vt:lpstr>
      <vt:lpstr>PT Serif</vt:lpstr>
      <vt:lpstr>Chiller</vt:lpstr>
      <vt:lpstr>TheSans UHH Regular</vt:lpstr>
      <vt:lpstr>Bauhaus 93</vt:lpstr>
      <vt:lpstr>ADLaM Display</vt:lpstr>
      <vt:lpstr>2_Folienmaster_neu</vt:lpstr>
      <vt:lpstr>IAS Course Guidance</vt:lpstr>
      <vt:lpstr>Agenda</vt:lpstr>
      <vt:lpstr>Agenda</vt:lpstr>
      <vt:lpstr>Introduction (About me)</vt:lpstr>
      <vt:lpstr>Introduction (About me)</vt:lpstr>
      <vt:lpstr>Introduction (About me)</vt:lpstr>
      <vt:lpstr>Introduction (About me)</vt:lpstr>
      <vt:lpstr>Introduction (About me)</vt:lpstr>
      <vt:lpstr>Introduction (About me)</vt:lpstr>
      <vt:lpstr>PowerPoint Presentation</vt:lpstr>
      <vt:lpstr>PowerPoint Presentation</vt:lpstr>
      <vt:lpstr>Agenda</vt:lpstr>
      <vt:lpstr>Agenda</vt:lpstr>
      <vt:lpstr>How do Modules at Informatik work? </vt:lpstr>
      <vt:lpstr>How do Modules at Informatik work? </vt:lpstr>
      <vt:lpstr>Agenda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Independent Study</vt:lpstr>
      <vt:lpstr>Extension Options</vt:lpstr>
      <vt:lpstr>Extension Options</vt:lpstr>
      <vt:lpstr>Language classes</vt:lpstr>
      <vt:lpstr>Agenda</vt:lpstr>
      <vt:lpstr>Agenda</vt:lpstr>
      <vt:lpstr>If I had known…</vt:lpstr>
      <vt:lpstr>PowerPoint Presentation</vt:lpstr>
    </vt:vector>
  </TitlesOfParts>
  <Manager/>
  <Company>Universität Hamburg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Autorenname</dc:creator>
  <cp:keywords/>
  <dc:description/>
  <cp:lastModifiedBy>Alhassan Ahmed Said Abdelhalim</cp:lastModifiedBy>
  <cp:revision>458</cp:revision>
  <dcterms:created xsi:type="dcterms:W3CDTF">2017-11-14T09:58:03Z</dcterms:created>
  <dcterms:modified xsi:type="dcterms:W3CDTF">2026-10-05T17:09:16Z</dcterms:modified>
  <cp:category/>
  <dc:identifier/>
  <cp:contentStatus/>
  <dc:language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prache">
    <vt:lpwstr>Deutsch</vt:lpwstr>
  </property>
</Properties>
</file>