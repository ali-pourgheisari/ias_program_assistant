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jpe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2.jpeg" ContentType="image/jpe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74" r:id="rIdAdded20"/>
    <p:sldId id="267" r:id="rId19"/>
    <p:sldId id="268" r:id="rId20"/>
    <p:sldId id="275" r:id="rIdAdded19"/>
    <p:sldId id="269" r:id="rId21"/>
    <p:sldId id="270" r:id="rId22"/>
    <p:sldId id="271" r:id="rId23"/>
    <p:sldId id="272" r:id="rId24"/>
    <p:sldId id="273" r:id="rId2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chemeClr val="accent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4CACB"/>
          </a:solidFill>
        </a:fill>
      </a:tcStyle>
    </a:wholeTbl>
    <a:band2H>
      <a:tcTxStyle b="def" i="def"/>
      <a:tcStyle>
        <a:tcBdr/>
        <a:fill>
          <a:solidFill>
            <a:srgbClr val="FAE6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chemeClr val="accent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CFD0"/>
          </a:solidFill>
        </a:fill>
      </a:tcStyle>
    </a:wholeTbl>
    <a:band2H>
      <a:tcTxStyle b="def" i="def"/>
      <a:tcStyle>
        <a:tcBdr/>
        <a:fill>
          <a:solidFill>
            <a:srgbClr val="E7E8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chemeClr val="accent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1E2"/>
          </a:solidFill>
        </a:fill>
      </a:tcStyle>
    </a:wholeTbl>
    <a:band2H>
      <a:tcTxStyle b="def" i="def"/>
      <a:tcStyle>
        <a:tcBdr/>
        <a:fill>
          <a:solidFill>
            <a:srgbClr val="EFF1F1"/>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chemeClr val="accent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8E9"/>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chemeClr val="accent3"/>
      </a:tcTxStyle>
      <a:tcStyle>
        <a:tcBdr>
          <a:left>
            <a:ln w="12700" cap="flat">
              <a:noFill/>
              <a:miter lim="400000"/>
            </a:ln>
          </a:left>
          <a:right>
            <a:ln w="12700" cap="flat">
              <a:noFill/>
              <a:miter lim="400000"/>
            </a:ln>
          </a:right>
          <a:top>
            <a:ln w="50800" cap="flat">
              <a:solidFill>
                <a:schemeClr val="accent3"/>
              </a:solidFill>
              <a:prstDash val="solid"/>
              <a:round/>
            </a:ln>
          </a:top>
          <a:bottom>
            <a:ln w="25400" cap="flat">
              <a:solidFill>
                <a:schemeClr val="accent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chemeClr val="accent3"/>
              </a:solidFill>
              <a:prstDash val="solid"/>
              <a:round/>
            </a:ln>
          </a:top>
          <a:bottom>
            <a:ln w="25400" cap="flat">
              <a:solidFill>
                <a:schemeClr val="accent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chemeClr val="accent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CFD0"/>
          </a:solidFill>
        </a:fill>
      </a:tcStyle>
    </a:wholeTbl>
    <a:band2H>
      <a:tcTxStyle b="def" i="def"/>
      <a:tcStyle>
        <a:tcBdr/>
        <a:fill>
          <a:solidFill>
            <a:srgbClr val="E7E8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2708684C-4D16-4618-839F-0558EEFCDFE6}" styleName="">
    <a:tblBg/>
    <a:wholeTbl>
      <a:tcTxStyle b="off" i="off">
        <a:font>
          <a:latin typeface="Calibri"/>
          <a:ea typeface="Calibri"/>
          <a:cs typeface="Calibri"/>
        </a:font>
        <a:schemeClr val="accent3"/>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solidFill>
            <a:schemeClr val="accent3">
              <a:alpha val="20000"/>
            </a:schemeClr>
          </a:solidFill>
        </a:fill>
      </a:tcStyle>
    </a:wholeTbl>
    <a:band2H>
      <a:tcTxStyle b="def" i="def"/>
      <a:tcStyle>
        <a:tcBdr/>
        <a:fill>
          <a:solidFill>
            <a:srgbClr val="FFFFFF"/>
          </a:solidFill>
        </a:fill>
      </a:tcStyle>
    </a:band2H>
    <a:firstCol>
      <a:tcTxStyle b="on" i="off">
        <a:font>
          <a:latin typeface="Calibri"/>
          <a:ea typeface="Calibri"/>
          <a:cs typeface="Calibri"/>
        </a:font>
        <a:schemeClr val="accent3"/>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solidFill>
            <a:schemeClr val="accent3">
              <a:alpha val="20000"/>
            </a:schemeClr>
          </a:solidFill>
        </a:fill>
      </a:tcStyle>
    </a:firstCol>
    <a:lastRow>
      <a:tcTxStyle b="on" i="off">
        <a:font>
          <a:latin typeface="Calibri"/>
          <a:ea typeface="Calibri"/>
          <a:cs typeface="Calibri"/>
        </a:font>
        <a:schemeClr val="accent3"/>
      </a:tcTxStyle>
      <a:tcStyle>
        <a:tcBdr>
          <a:left>
            <a:ln w="12700" cap="flat">
              <a:solidFill>
                <a:schemeClr val="accent3"/>
              </a:solidFill>
              <a:prstDash val="solid"/>
              <a:round/>
            </a:ln>
          </a:left>
          <a:right>
            <a:ln w="12700" cap="flat">
              <a:solidFill>
                <a:schemeClr val="accent3"/>
              </a:solidFill>
              <a:prstDash val="solid"/>
              <a:round/>
            </a:ln>
          </a:right>
          <a:top>
            <a:ln w="50800" cap="flat">
              <a:solidFill>
                <a:schemeClr val="accent3"/>
              </a:solidFill>
              <a:prstDash val="solid"/>
              <a:round/>
            </a:ln>
          </a:top>
          <a:bottom>
            <a:ln w="127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noFill/>
        </a:fill>
      </a:tcStyle>
    </a:lastRow>
    <a:firstRow>
      <a:tcTxStyle b="on" i="off">
        <a:font>
          <a:latin typeface="Calibri"/>
          <a:ea typeface="Calibri"/>
          <a:cs typeface="Calibri"/>
        </a:font>
        <a:schemeClr val="accent3"/>
      </a:tcTxStyle>
      <a:tcStyle>
        <a:tcBdr>
          <a:left>
            <a:ln w="12700" cap="flat">
              <a:solidFill>
                <a:schemeClr val="accent3"/>
              </a:solidFill>
              <a:prstDash val="solid"/>
              <a:round/>
            </a:ln>
          </a:left>
          <a:right>
            <a:ln w="12700" cap="flat">
              <a:solidFill>
                <a:schemeClr val="accent3"/>
              </a:solidFill>
              <a:prstDash val="solid"/>
              <a:round/>
            </a:ln>
          </a:right>
          <a:top>
            <a:ln w="12700" cap="flat">
              <a:solidFill>
                <a:schemeClr val="accent3"/>
              </a:solidFill>
              <a:prstDash val="solid"/>
              <a:round/>
            </a:ln>
          </a:top>
          <a:bottom>
            <a:ln w="25400" cap="flat">
              <a:solidFill>
                <a:schemeClr val="accent3"/>
              </a:solidFill>
              <a:prstDash val="solid"/>
              <a:round/>
            </a:ln>
          </a:bottom>
          <a:insideH>
            <a:ln w="12700" cap="flat">
              <a:solidFill>
                <a:schemeClr val="accent3"/>
              </a:solidFill>
              <a:prstDash val="solid"/>
              <a:round/>
            </a:ln>
          </a:insideH>
          <a:insideV>
            <a:ln w="12700" cap="flat">
              <a:solidFill>
                <a:schemeClr val="accent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Added20" Type="http://schemas.openxmlformats.org/officeDocument/2006/relationships/slide" Target="slides/slide20.xml"/><Relationship Id="rIdAdded19"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9" name="Shape 179"/>
          <p:cNvSpPr/>
          <p:nvPr>
            <p:ph type="sldImg"/>
          </p:nvPr>
        </p:nvSpPr>
        <p:spPr>
          <a:xfrm>
            <a:off x="1143000" y="685800"/>
            <a:ext cx="4572000" cy="3429000"/>
          </a:xfrm>
          <a:prstGeom prst="rect">
            <a:avLst/>
          </a:prstGeom>
        </p:spPr>
        <p:txBody>
          <a:bodyPr/>
          <a:lstStyle/>
          <a:p>
            <a:pPr/>
          </a:p>
        </p:txBody>
      </p:sp>
      <p:sp>
        <p:nvSpPr>
          <p:cNvPr id="180" name="Shape 18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r>
              <a:t>OPENING: You came here to build intelligent systems. Today is about making student life work too.</a:t>
            </a:r>
          </a:p>
          <a:p>
            <a:pPr/>
          </a:p>
          <a:p>
            <a:pPr/>
            <a:r>
              <a:t>Timing: 1 minutes.</a:t>
            </a:r>
          </a:p>
          <a:p>
            <a:pPr/>
            <a:r>
              <a:t>Say: Welcome to IAS. Today we will look at situations that can get complicated during a master’s: working in a group, dealing with someone who has influence over your studies, and finding the right support. You will get the contacts afterwards, so there is no need to memorise office names.</a:t>
            </a:r>
          </a:p>
          <a:p>
            <a:pPr/>
          </a:p>
          <a:p>
            <a:pPr/>
            <a:r>
              <a:t>Presenter cue: glance at the slide, say the opening line, then explain in your own words. Participation is optional.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a:r>
              <a:t>OPENING: Three familiar situations: a group project, a difficult interaction, or a university system that refuses to cooperate. Which is least familiar to you?</a:t>
            </a:r>
          </a:p>
          <a:p>
            <a:pPr/>
          </a:p>
          <a:p>
            <a:pPr/>
            <a:r>
              <a:t>Timing: 2 minutes.</a:t>
            </a:r>
          </a:p>
          <a:p>
            <a:pPr/>
            <a:r>
              <a:t>Say: Which part of starting here feels least familiar? Take a quick show of hands. This will help me spend time on what is useful to you. We will use fictional examples, and you can pass on any discussion. Session plan: 23 minutes awareness and access, 6 minutes advice routes, 14 minutes study and IT support, 6 minutes routing and takeaways, 8 minutes questions, 3-minute buffer.</a:t>
            </a:r>
          </a:p>
          <a:p>
            <a:pPr/>
          </a:p>
          <a:p>
            <a:pPr/>
            <a:r>
              <a:t>Presenter cue: glance at the slide, say the opening line, then explain in your own words. Participation is optional.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hape 204"/>
          <p:cNvSpPr/>
          <p:nvPr>
            <p:ph type="sldImg"/>
          </p:nvPr>
        </p:nvSpPr>
        <p:spPr>
          <a:prstGeom prst="rect">
            <a:avLst/>
          </a:prstGeom>
        </p:spPr>
        <p:txBody>
          <a:bodyPr/>
          <a:lstStyle/>
          <a:p>
            <a:pPr/>
          </a:p>
        </p:txBody>
      </p:sp>
      <p:sp>
        <p:nvSpPr>
          <p:cNvPr id="205" name="Shape 205"/>
          <p:cNvSpPr/>
          <p:nvPr>
            <p:ph type="body" sz="quarter" idx="1"/>
          </p:nvPr>
        </p:nvSpPr>
        <p:spPr>
          <a:prstGeom prst="rect">
            <a:avLst/>
          </a:prstGeom>
        </p:spPr>
        <p:txBody>
          <a:bodyPr/>
          <a:lstStyle/>
          <a:p>
            <a:pPr/>
            <a:r>
              <a:t>OPENING: One does not simply find a time everyone can meet. [Pause.] Teamwork gets easier when everyone can participate, raise concerns and find support.</a:t>
            </a:r>
          </a:p>
          <a:p>
            <a:pPr/>
          </a:p>
          <a:p>
            <a:pPr/>
            <a:r>
              <a:t>Timing: 2 minutes.</a:t>
            </a:r>
          </a:p>
          <a:p>
            <a:pPr/>
            <a:r>
              <a:t>Say: Awareness matters in academic life because participation and power are not always equal. A concern can be difficult to raise when another person grades your work or influences your opportunities. The useful question is what options you have and how others can support you. This is my adaptation for IAS, not a quotation from university policy. Source: https://www.uni-hamburg.de/en/antidiskriminierung/richtlinie.html</a:t>
            </a:r>
          </a:p>
          <a:p>
            <a:pPr/>
          </a:p>
          <a:p>
            <a:pPr/>
            <a:r>
              <a:t>Presenter cue: glance at the slide, say the opening line, then explain in your own words. Participation is optional.</a:t>
            </a:r>
          </a:p>
          <a:p>
            <a:pPr/>
          </a:p>
          <a:p>
            <a:pPr/>
            <a:r>
              <a:t>Meme image source: https://imgflip.com/memetemplate/One-Does-Not-Simply</a:t>
            </a:r>
          </a:p>
          <a:p>
            <a:pPr/>
            <a:r>
              <a:t>Caption adaptation: IAS first-semester orientation.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Timing: about 2 minutes, within the existing awareness section.</a:t>
            </a:r>
          </a:p>
          <a:p>
            <a:pPr/>
            <a:r>
              <a:t>Opening cue: Even your tutors struggled to schedule one meeting.</a:t>
            </a:r>
          </a:p>
          <a:p>
            <a:pPr/>
            <a:r>
              <a:t>Say: Before we give you advice about teamwork, here is our own tutor group trying to plan a meeting. We had 27 people in the chat. We picked Wednesday, then considered Thursday, then used a poll. The poll ended five–five. One person said both days worked, so they would not vote. Someone pointed out they could vote for both. [Pause.] Then, on the day itself, one person could arrive at two, while another had to leave at two. So the plan became tomorrow at one. [Pause.] If your project group struggles with this, you are in good company. A useful agreement is how you will choose a time and where you will record the final decision. Working together also means checking who can participate and making it possible to raise concerns. We will look at those next.</a:t>
            </a:r>
          </a:p>
          <a:p>
            <a:pPr/>
            <a:r>
              <a:t>Source: seven user-supplied tutor WhatsApp screenshots. Excerpts shortened and paraphrased, with consistent A/B/C labels. Names, phone numbers, profile photos, group name, exact dates and room details omitted. The 5–5 poll and arrival/departure conflict come from the supplied conversation. No claim that the meeting ultimately happened at the proposed time.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OPENING: The group chat says: as we agreed. You scroll back. There is no agreement. [Pause.] That is why we write down decisions and agree how the group will work.</a:t>
            </a:r>
          </a:p>
          <a:p>
            <a:pPr/>
          </a:p>
          <a:p>
            <a:pPr/>
            <a:r>
              <a:t>Timing: 2 minutes.</a:t>
            </a:r>
          </a:p>
          <a:p>
            <a:pPr/>
            <a:r>
              <a:t>Say: These are practical suggestions for your project teams. Agree them early, while the project is still going well. For example, when should someone reply to a message, and how will you record a decision made in a meeting? These are facilitator recommendations, not official IAS assessment rules. Course-specific requirements still come from the course team.</a:t>
            </a:r>
          </a:p>
          <a:p>
            <a:pPr/>
          </a:p>
          <a:p>
            <a:pPr/>
            <a:r>
              <a:t>Presenter cue: glance at the slide, say the opening line, then explain in your own words. Participation is optional.</a:t>
            </a:r>
          </a:p>
          <a:p>
            <a:pPr/>
          </a:p>
          <a:p>
            <a:pPr/>
            <a:r>
              <a:t>Meme image source: https://imgflip.com/memetemplate/53312603/Confused-Travolta</a:t>
            </a:r>
          </a:p>
          <a:p>
            <a:pPr/>
            <a:r>
              <a:t>Caption adaptation: IAS first-semester orientation.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Shape 267"/>
          <p:cNvSpPr/>
          <p:nvPr>
            <p:ph type="sldImg"/>
          </p:nvPr>
        </p:nvSpPr>
        <p:spPr>
          <a:prstGeom prst="rect">
            <a:avLst/>
          </a:prstGeom>
        </p:spPr>
        <p:txBody>
          <a:bodyPr/>
          <a:lstStyle/>
          <a:p>
            <a:pPr/>
          </a:p>
        </p:txBody>
      </p:sp>
      <p:sp>
        <p:nvSpPr>
          <p:cNvPr id="268" name="Shape 268"/>
          <p:cNvSpPr/>
          <p:nvPr>
            <p:ph type="body" sz="quarter" idx="1"/>
          </p:nvPr>
        </p:nvSpPr>
        <p:spPr>
          <a:prstGeom prst="rect">
            <a:avLst/>
          </a:prstGeom>
        </p:spPr>
        <p:txBody>
          <a:bodyPr/>
          <a:lstStyle/>
          <a:p>
            <a:pPr/>
            <a:r>
              <a:t>OPENING: Would you speak up as easily if this person decided your grade? [Pause. Explain why confidential advice can help.]</a:t>
            </a:r>
          </a:p>
          <a:p>
            <a:pPr/>
          </a:p>
          <a:p>
            <a:pPr/>
            <a:r>
              <a:t>Timing: 2 minutes.</a:t>
            </a:r>
          </a:p>
          <a:p>
            <a:pPr/>
            <a:r>
              <a:t>Say: Knowing your own limits does not automatically make speaking up easy. A power difference can change what feels possible. If the concern involves discrimination or harassment, the Antidiscrimination Center offers confidential advice about possible steps. For a purely academic disagreement, ask the IAS team or Academic Office which route fits. Sources: https://www.uni-hamburg.de/en/antidiskriminierung/richtlinie.html; https://www.uni-hamburg.de/en/antidiskriminierung/kontakt.html</a:t>
            </a:r>
          </a:p>
          <a:p>
            <a:pPr/>
          </a:p>
          <a:p>
            <a:pPr/>
            <a:r>
              <a:t>Presenter cue: glance at the slide, say the opening line, then explain in your own words. Participation is optional.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Shape 278"/>
          <p:cNvSpPr/>
          <p:nvPr>
            <p:ph type="sldImg"/>
          </p:nvPr>
        </p:nvSpPr>
        <p:spPr>
          <a:prstGeom prst="rect">
            <a:avLst/>
          </a:prstGeom>
        </p:spPr>
        <p:txBody>
          <a:bodyPr/>
          <a:lstStyle/>
          <a:p>
            <a:pPr/>
          </a:p>
        </p:txBody>
      </p:sp>
      <p:sp>
        <p:nvSpPr>
          <p:cNvPr id="279" name="Shape 279"/>
          <p:cNvSpPr/>
          <p:nvPr>
            <p:ph type="body" sz="quarter" idx="1"/>
          </p:nvPr>
        </p:nvSpPr>
        <p:spPr>
          <a:prstGeom prst="rect">
            <a:avLst/>
          </a:prstGeom>
        </p:spPr>
        <p:txBody>
          <a:bodyPr/>
          <a:lstStyle/>
          <a:p>
            <a:pPr/>
            <a:r>
              <a:t>OPENING: You only need one opening sentence: What would help you right now? [Pause. Let the person guide the support.]</a:t>
            </a:r>
          </a:p>
          <a:p>
            <a:pPr/>
          </a:p>
          <a:p>
            <a:pPr/>
            <a:r>
              <a:t>Timing: 2 minutes.</a:t>
            </a:r>
          </a:p>
          <a:p>
            <a:pPr/>
            <a:r>
              <a:t>Say: Your role as a classmate can be small and useful. Ask whether the person wants someone to listen, help finding advice, or company at an appointment. Let them make the decision. The original awareness principles remain here: take their experience seriously, offer support, share responsibility and centre their wishes. Peer support does not determine the outcome of a formal complaint. Sources: original awareness slides 5–9; https://www.uni-hamburg.de/en/antidiskriminierung/kontakt.html</a:t>
            </a:r>
          </a:p>
          <a:p>
            <a:pPr/>
          </a:p>
          <a:p>
            <a:pPr/>
            <a:r>
              <a:t>Presenter cue: glance at the slide, say the opening line, then explain in your own words. Participation is optional.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1" name="Shape 291"/>
          <p:cNvSpPr/>
          <p:nvPr>
            <p:ph type="sldImg"/>
          </p:nvPr>
        </p:nvSpPr>
        <p:spPr>
          <a:prstGeom prst="rect">
            <a:avLst/>
          </a:prstGeom>
        </p:spPr>
        <p:txBody>
          <a:bodyPr/>
          <a:lstStyle/>
          <a:p>
            <a:pPr/>
          </a:p>
        </p:txBody>
      </p:sp>
      <p:sp>
        <p:nvSpPr>
          <p:cNvPr id="292" name="Shape 292"/>
          <p:cNvSpPr/>
          <p:nvPr>
            <p:ph type="body" sz="quarter" idx="1"/>
          </p:nvPr>
        </p:nvSpPr>
        <p:spPr>
          <a:prstGeom prst="rect">
            <a:avLst/>
          </a:prstGeom>
        </p:spPr>
        <p:txBody>
          <a:bodyPr/>
          <a:lstStyle/>
          <a:p>
            <a:pPr/>
            <a:r>
              <a:t>OPENING: Sometimes the study conditions need adjusting. [Explain the advice route and point to the link.]</a:t>
            </a:r>
          </a:p>
          <a:p>
            <a:pPr/>
          </a:p>
          <a:p>
            <a:pPr/>
            <a:r>
              <a:t>Timing: 2 minutes.</a:t>
            </a:r>
          </a:p>
          <a:p>
            <a:pPr/>
            <a:r>
              <a:t>Say: Another part of awareness is access. Some students need different course or examination conditions because of a disability or chronic illness. The university has advice and an application process for individual adjustments, called Nachteilsausgleich. Ask the specialist office about your situation and the process. I cannot promise a particular adjustment or decide eligibility. Source: https://www.uni-hamburg.de/studieren-mit-beeintraechtigungen/im-studium/nachteilsausgleich.html</a:t>
            </a:r>
          </a:p>
          <a:p>
            <a:pPr/>
          </a:p>
          <a:p>
            <a:pPr/>
            <a:r>
              <a:t>Presenter cue: glance at the slide, say the opening line, then explain in your own words. Participation is optional.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5" name="Shape 305"/>
          <p:cNvSpPr/>
          <p:nvPr>
            <p:ph type="sldImg"/>
          </p:nvPr>
        </p:nvSpPr>
        <p:spPr>
          <a:prstGeom prst="rect">
            <a:avLst/>
          </a:prstGeom>
        </p:spPr>
        <p:txBody>
          <a:bodyPr/>
          <a:lstStyle/>
          <a:p>
            <a:pPr/>
          </a:p>
        </p:txBody>
      </p:sp>
      <p:sp>
        <p:nvSpPr>
          <p:cNvPr id="306" name="Shape 306"/>
          <p:cNvSpPr/>
          <p:nvPr>
            <p:ph type="body" sz="quarter" idx="1"/>
          </p:nvPr>
        </p:nvSpPr>
        <p:spPr>
          <a:prstGeom prst="rect">
            <a:avLst/>
          </a:prstGeom>
        </p:spPr>
        <p:txBody>
          <a:bodyPr/>
          <a:lstStyle/>
          <a:p>
            <a:pPr/>
            <a:r>
              <a:t>OPENING: If you want to start by talking to another student, these are two options.</a:t>
            </a:r>
          </a:p>
          <a:p>
            <a:pPr/>
          </a:p>
          <a:p>
            <a:pPr/>
            <a:r>
              <a:t>Timing: 2 minutes.</a:t>
            </a:r>
          </a:p>
          <a:p>
            <a:pPr/>
            <a:r>
              <a:t>FSR = Fachschaftsrat. General email: fsr@informatik.uni-hamburg.de. The confidential address is also listed by the FSR. Explain that students can contact FSR about difficulties with professors, student groups or university politics, as in the source. AStA is the university-wide students’ union. Ask the service about confidentiality before sharing sensitive details. Source: Awareness_Presentation _English.pptx slide 11; Source: 2023_ias_where_to_get_help.pptx slide 11. Sources: https://www2.informatik.uni-hamburg.de/fachschaft/wiki/index.php/Fachschaftsrat and https://www.uni-hamburg.de/en/antidiskriminierung .</a:t>
            </a:r>
          </a:p>
          <a:p>
            <a:pPr/>
          </a:p>
          <a:p>
            <a:pPr/>
            <a:r>
              <a:t>Presenter cue: glance at the slide, say the opening line, then explain in your own words. Participation is optional.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Shape 320"/>
          <p:cNvSpPr/>
          <p:nvPr>
            <p:ph type="sldImg"/>
          </p:nvPr>
        </p:nvSpPr>
        <p:spPr>
          <a:prstGeom prst="rect">
            <a:avLst/>
          </a:prstGeom>
        </p:spPr>
        <p:txBody>
          <a:bodyPr/>
          <a:lstStyle/>
          <a:p>
            <a:pPr/>
          </a:p>
        </p:txBody>
      </p:sp>
      <p:sp>
        <p:nvSpPr>
          <p:cNvPr id="321" name="Shape 321"/>
          <p:cNvSpPr/>
          <p:nvPr>
            <p:ph type="body" sz="quarter" idx="1"/>
          </p:nvPr>
        </p:nvSpPr>
        <p:spPr>
          <a:prstGeom prst="rect">
            <a:avLst/>
          </a:prstGeom>
        </p:spPr>
        <p:txBody>
          <a:bodyPr/>
          <a:lstStyle/>
          <a:p>
            <a:pPr/>
            <a:r>
              <a:t>OPENING: Getting advice and making a formal complaint are different decisions. [Explain the distinction and available routes.]</a:t>
            </a:r>
          </a:p>
          <a:p>
            <a:pPr/>
          </a:p>
          <a:p>
            <a:pPr/>
            <a:r>
              <a:t>Timing: 3 minutes.</a:t>
            </a:r>
          </a:p>
          <a:p>
            <a:pPr/>
            <a:r>
              <a:t>Say: These are distinct routes. The Antidiscrimination Center offers free, confidential advice in multiple languages. The formal student complaints office encourages all parties to describe the situation. Advice helps you consider options before deciding whether to complain. Exam complaints use a separate faculty route. Do not promise anonymity or an outcome in every formal process. Sources: https://www.uni-hamburg.de/en/antidiskriminierung/kontakt.html; https://www.uni-hamburg.de/en/campuscenter/beratung/beschwerdestellen/beschwerdestelle-studierende.html</a:t>
            </a:r>
          </a:p>
          <a:p>
            <a:pPr/>
          </a:p>
          <a:p>
            <a:pPr/>
            <a:r>
              <a:t>Presenter cue: glance at the slide, say the opening line, then explain in your own words. Participation is optional.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OPENING: Is your question about what to study, or about course and exam administration?</a:t>
            </a:r>
          </a:p>
          <a:p>
            <a:pPr/>
          </a:p>
          <a:p>
            <a:pPr/>
            <a:r>
              <a:t>Timing: 3 minutes.</a:t>
            </a:r>
          </a:p>
          <a:p>
            <a:pPr/>
            <a:r>
              <a:t>IAS contact on the department page: ias-team@informatik.uni-hamburg.de. Academic Office email: studienbuero.inf@uni-hamburg.de, with the student form currently requested as the primary route. Examples: choosing modules → IAS team; an exam entry or registration question → Academic Office. Source: 2023_ias_where_to_get_help.pptx slide 10. Sources: https://www.inf.uni-hamburg.de/studies/master/ias.html; https://www.inf.uni-hamburg.de/studies/orga/contact-form-students.html .</a:t>
            </a:r>
          </a:p>
          <a:p>
            <a:pPr/>
          </a:p>
          <a:p>
            <a:pPr/>
            <a:r>
              <a:t>Presenter cue: glance at the slide, say the opening line, then explain in your own words. Participation is optional.</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9" name="Shape 349"/>
          <p:cNvSpPr/>
          <p:nvPr>
            <p:ph type="sldImg"/>
          </p:nvPr>
        </p:nvSpPr>
        <p:spPr>
          <a:prstGeom prst="rect">
            <a:avLst/>
          </a:prstGeom>
        </p:spPr>
        <p:txBody>
          <a:bodyPr/>
          <a:lstStyle/>
          <a:p>
            <a:pPr/>
          </a:p>
        </p:txBody>
      </p:sp>
      <p:sp>
        <p:nvSpPr>
          <p:cNvPr id="350" name="Shape 350"/>
          <p:cNvSpPr/>
          <p:nvPr>
            <p:ph type="body" sz="quarter" idx="1"/>
          </p:nvPr>
        </p:nvSpPr>
        <p:spPr>
          <a:prstGeom prst="rect">
            <a:avLst/>
          </a:prstGeom>
        </p:spPr>
        <p:txBody>
          <a:bodyPr/>
          <a:lstStyle/>
          <a:p>
            <a:pPr/>
            <a:r>
              <a:t>OPENING: Settling into Hamburg comes with questions beyond your modules. [Point out the different services.]</a:t>
            </a:r>
          </a:p>
          <a:p>
            <a:pPr/>
          </a:p>
          <a:p>
            <a:pPr/>
            <a:r>
              <a:t>Timing: 2 minutes.</a:t>
            </a:r>
          </a:p>
          <a:p>
            <a:pPr/>
            <a:r>
              <a:t>Say: Campus Center handles central university administration. Residence permit advice has a dedicated International Student Support route. PIASTA is also useful for building a network outside IAS: it offers welcome activities, language exchange and study skills. Check the current programme for availability. Sources: https://www.uni-hamburg.de/en/piasta.html; https://www.uni-hamburg.de/en/campuscenter.html; https://www.uni-hamburg.de/en/internationales/studierende/incoming/studium-mit-abschluss/waehrend-des-studiums/aufenthaltstitel.html</a:t>
            </a:r>
          </a:p>
          <a:p>
            <a:pPr/>
          </a:p>
          <a:p>
            <a:pPr/>
            <a:r>
              <a:t>Presenter cue: glance at the slide, say the opening line, then explain in your own words. Participation is optional.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8" name="Shape 358"/>
          <p:cNvSpPr/>
          <p:nvPr>
            <p:ph type="sldImg"/>
          </p:nvPr>
        </p:nvSpPr>
        <p:spPr>
          <a:prstGeom prst="rect">
            <a:avLst/>
          </a:prstGeom>
        </p:spPr>
        <p:txBody>
          <a:bodyPr/>
          <a:lstStyle/>
          <a:p>
            <a:pPr/>
          </a:p>
        </p:txBody>
      </p:sp>
      <p:sp>
        <p:nvSpPr>
          <p:cNvPr id="359" name="Shape 359"/>
          <p:cNvSpPr/>
          <p:nvPr>
            <p:ph type="body" sz="quarter" idx="1"/>
          </p:nvPr>
        </p:nvSpPr>
        <p:spPr>
          <a:prstGeom prst="rect">
            <a:avLst/>
          </a:prstGeom>
        </p:spPr>
        <p:txBody>
          <a:bodyPr/>
          <a:lstStyle/>
          <a:p>
            <a:pPr/>
            <a:r>
              <a:t>OPENING: If pressure affects your studies, you can ask for professional support early. [No joke or public personal question here.]</a:t>
            </a:r>
          </a:p>
          <a:p>
            <a:pPr/>
          </a:p>
          <a:p>
            <a:pPr/>
            <a:r>
              <a:t>Timing: 2 minutes.</a:t>
            </a:r>
          </a:p>
          <a:p>
            <a:pPr/>
            <a:r>
              <a:t>Say: If stress or personal difficulties are affecting your studies, there is professional support. Psychological Counseling is free for UHH students and can help with personal and study-related problems. I will leave the appointment link here. You do not have to explain anything to the room. Source: https://www.uni-hamburg.de/en/campuscenter/beratung/psychologische-beratung.html</a:t>
            </a:r>
          </a:p>
          <a:p>
            <a:pPr/>
          </a:p>
          <a:p>
            <a:pPr/>
            <a:r>
              <a:t>Presenter cue: glance at the slide, say the opening line, then explain in your own words. Participation is optional.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8" name="Shape 378"/>
          <p:cNvSpPr/>
          <p:nvPr>
            <p:ph type="sldImg"/>
          </p:nvPr>
        </p:nvSpPr>
        <p:spPr>
          <a:prstGeom prst="rect">
            <a:avLst/>
          </a:prstGeom>
        </p:spPr>
        <p:txBody>
          <a:bodyPr/>
          <a:lstStyle/>
          <a:p>
            <a:pPr/>
          </a:p>
        </p:txBody>
      </p:sp>
      <p:sp>
        <p:nvSpPr>
          <p:cNvPr id="379" name="Shape 379"/>
          <p:cNvSpPr/>
          <p:nvPr>
            <p:ph type="body" sz="quarter" idx="1"/>
          </p:nvPr>
        </p:nvSpPr>
        <p:spPr>
          <a:prstGeom prst="rect">
            <a:avLst/>
          </a:prstGeom>
        </p:spPr>
        <p:txBody>
          <a:bodyPr/>
          <a:lstStyle/>
          <a:p>
            <a:pPr/>
            <a:r>
              <a:t>OPENING: The deadline is 23:59. STiNE at 23:58: this is fine. [Pause.] Here are the support routes if a technical problem occurs.</a:t>
            </a:r>
          </a:p>
          <a:p>
            <a:pPr/>
          </a:p>
          <a:p>
            <a:pPr/>
            <a:r>
              <a:t>Timing: 3 minutes.</a:t>
            </a:r>
          </a:p>
          <a:p>
            <a:pPr/>
            <a:r>
              <a:t>The English RRZ instructions say Studying → Contact form. German labels are Studium → Supportanfrage. Replies go through the support ticket system. Use the university inbox and reply to the existing ticket for follow-ups. Avoid a live login demonstration that may expose personal information. Source: 2023_ias_where_to_get_help.pptx slides 4–5. Sources: https://www.rrz.uni-hamburg.de/en/beratung-und-kontakt/supportformulare/stine-supportformulare/studierende.html; https://www.rrz.uni-hamburg.de/beratung-und-kontakt/supportformulare/stine-supportformulare/studierende.html .</a:t>
            </a:r>
          </a:p>
          <a:p>
            <a:pPr/>
          </a:p>
          <a:p>
            <a:pPr/>
            <a:r>
              <a:t>Presenter cue: glance at the slide, say the opening line, then explain in your own words. Participation is optional.</a:t>
            </a:r>
          </a:p>
          <a:p>
            <a:pPr/>
          </a:p>
          <a:p>
            <a:pPr/>
            <a:r>
              <a:t>Meme image source: https://imgflip.com/memetemplate/This-Is-Fine</a:t>
            </a:r>
          </a:p>
          <a:p>
            <a:pPr/>
            <a:r>
              <a:t>Caption adaptation: IAS first-semester orientation.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Shape 393"/>
          <p:cNvSpPr/>
          <p:nvPr>
            <p:ph type="sldImg"/>
          </p:nvPr>
        </p:nvSpPr>
        <p:spPr>
          <a:prstGeom prst="rect">
            <a:avLst/>
          </a:prstGeom>
        </p:spPr>
        <p:txBody>
          <a:bodyPr/>
          <a:lstStyle/>
          <a:p>
            <a:pPr/>
          </a:p>
        </p:txBody>
      </p:sp>
      <p:sp>
        <p:nvSpPr>
          <p:cNvPr id="394" name="Shape 394"/>
          <p:cNvSpPr/>
          <p:nvPr>
            <p:ph type="body" sz="quarter" idx="1"/>
          </p:nvPr>
        </p:nvSpPr>
        <p:spPr>
          <a:prstGeom prst="rect">
            <a:avLst/>
          </a:prstGeom>
        </p:spPr>
        <p:txBody>
          <a:bodyPr/>
          <a:lstStyle/>
          <a:p>
            <a:pPr/>
            <a:r>
              <a:t>OPENING: First identify which system has the problem. That helps you find the right support team.</a:t>
            </a:r>
          </a:p>
          <a:p>
            <a:pPr/>
          </a:p>
          <a:p>
            <a:pPr/>
            <a:r>
              <a:t>Timing: 2 minutes.</a:t>
            </a:r>
          </a:p>
          <a:p>
            <a:pPr/>
            <a:r>
              <a:t>Distinguish department infrastructure, central university IT and student-operated services. IRZ contact: irz@informatik.uni-hamburg.de. RRZ contact: rrz-serviceline@uni-hamburg.de. Server-AG email confirmed on the current department student-working-group page. The IRZ page lists Bundesstraße 56b as its contact address. Check live pages for appointments and hours. Source: 2023_ias_where_to_get_help.pptx slides 3, 6 and 7. Sources: https://www.inf.uni-hamburg.de/en/inst/irz.html; https://www.rrz.uni-hamburg.de/en/beratung-und-kontakt/serviceline.html; https://www.inf.uni-hamburg.de/en/inst/fs-inf/about-us/agen.html .</a:t>
            </a:r>
          </a:p>
          <a:p>
            <a:pPr/>
          </a:p>
          <a:p>
            <a:pPr/>
            <a:r>
              <a:t>Presenter cue: glance at the slide, say the opening line, then explain in your own words. Participation is optional.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Shape 416"/>
          <p:cNvSpPr/>
          <p:nvPr>
            <p:ph type="sldImg"/>
          </p:nvPr>
        </p:nvSpPr>
        <p:spPr>
          <a:prstGeom prst="rect">
            <a:avLst/>
          </a:prstGeom>
        </p:spPr>
        <p:txBody>
          <a:bodyPr/>
          <a:lstStyle/>
          <a:p>
            <a:pPr/>
          </a:p>
        </p:txBody>
      </p:sp>
      <p:sp>
        <p:nvSpPr>
          <p:cNvPr id="417" name="Shape 417"/>
          <p:cNvSpPr/>
          <p:nvPr>
            <p:ph type="body" sz="quarter" idx="1"/>
          </p:nvPr>
        </p:nvSpPr>
        <p:spPr>
          <a:prstGeom prst="rect">
            <a:avLst/>
          </a:prstGeom>
        </p:spPr>
        <p:txBody>
          <a:bodyPr/>
          <a:lstStyle/>
          <a:p>
            <a:pPr/>
            <a:r>
              <a:t>OPENING: Save this directory so you can use the links when you need them.</a:t>
            </a:r>
          </a:p>
          <a:p>
            <a:pPr/>
          </a:p>
          <a:p>
            <a:pPr/>
            <a:r>
              <a:t>Timing: 0 minutes.</a:t>
            </a:r>
          </a:p>
          <a:p>
            <a:pPr/>
            <a:r>
              <a:t>Reference slide. Not part of the 60-minute spoken programme. Sources: https://www2.informatik.uni-hamburg.de/fachschaft/wiki/index.php/Fachschaftsrat; https://www.uni-hamburg.de/en/antidiskriminierung ; https://www.uni-hamburg.de/en/campuscenter/beratung/psychologische-beratung.html . Source for study adjustments: https://www.uni-hamburg.de/studieren-mit-beeintraechtigungen/im-studium/nachteilsausgleich.html</a:t>
            </a:r>
          </a:p>
          <a:p>
            <a:pPr/>
          </a:p>
          <a:p>
            <a:pPr/>
            <a:r>
              <a:t>Presenter cue: glance at the slide, say the opening line, then explain in your own words. Participation is optional.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9" name="Shape 439"/>
          <p:cNvSpPr/>
          <p:nvPr>
            <p:ph type="sldImg"/>
          </p:nvPr>
        </p:nvSpPr>
        <p:spPr>
          <a:prstGeom prst="rect">
            <a:avLst/>
          </a:prstGeom>
        </p:spPr>
        <p:txBody>
          <a:bodyPr/>
          <a:lstStyle/>
          <a:p>
            <a:pPr/>
          </a:p>
        </p:txBody>
      </p:sp>
      <p:sp>
        <p:nvSpPr>
          <p:cNvPr id="440" name="Shape 440"/>
          <p:cNvSpPr/>
          <p:nvPr>
            <p:ph type="body" sz="quarter" idx="1"/>
          </p:nvPr>
        </p:nvSpPr>
        <p:spPr>
          <a:prstGeom prst="rect">
            <a:avLst/>
          </a:prstGeom>
        </p:spPr>
        <p:txBody>
          <a:bodyPr/>
          <a:lstStyle/>
          <a:p>
            <a:pPr/>
            <a:r>
              <a:t>OPENING: Here are the study and IT contacts. The links are clickable.</a:t>
            </a:r>
          </a:p>
          <a:p>
            <a:pPr/>
          </a:p>
          <a:p>
            <a:pPr/>
            <a:r>
              <a:t>Timing: 0 minutes.</a:t>
            </a:r>
          </a:p>
          <a:p>
            <a:pPr/>
            <a:r>
              <a:t>Reference slide. Not part of the 60-minute spoken programme. Sources: https://www.inf.uni-hamburg.de/studies/master/ias.html; https://www.uni-hamburg.de/en/campuscenter.html; https://www.uni-hamburg.de/en/internationales/studierende/incoming/studium-mit-abschluss/waehrend-des-studiums/aufenthaltstitel.html; https://www.uni-hamburg.de/en/campuscenter/beratung/psychologische-beratung.html; https://www.rrz.uni-hamburg.de/en/beratung-und-kontakt/supportformulare/stine-supportformulare/studierende.html; https://www.inf.uni-hamburg.de/en/inst/irz.html; https://www.rrz.uni-hamburg.de/en/beratung-und-kontakt/serviceline.html; https://www.inf.uni-hamburg.de/en/inst/fs-inf/about-us/agen.html. Contacts checked against available official pages on 3 October 2026. Opening hours and appointments can change.</a:t>
            </a:r>
          </a:p>
          <a:p>
            <a:pPr/>
          </a:p>
          <a:p>
            <a:pPr/>
            <a:r>
              <a:t>Presenter cue: glance at the slide, say the opening line, then explain in your own words. Participation is optional.</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a:r>
              <a:t>OPENING: Which question would you like to clear up before your first semester starts?</a:t>
            </a:r>
          </a:p>
          <a:p>
            <a:pPr/>
          </a:p>
          <a:p>
            <a:pPr/>
            <a:r>
              <a:t>Timing: 8 minutes.</a:t>
            </a:r>
          </a:p>
          <a:p>
            <a:pPr/>
            <a:r>
              <a:t>Reserve this time for questions. Use the contact directory slides if needed. Keep sensitive cases out of the public discussion and offer a conversation afterwards. If you cannot answer a question, identify an appropriate service rather than guessing.</a:t>
            </a:r>
          </a:p>
          <a:p>
            <a:pPr/>
          </a:p>
          <a:p>
            <a:pPr/>
            <a:r>
              <a:t>Presenter cue: glance at the slide, say the opening line, then explain in your own words. Participation is optional.</a:t>
            </a:r>
          </a:p>
        </p:txBody>
      </p:sp>
    </p:spTree>
  </p:cSld>
  <p:clrMapOvr>
    <a:masterClrMapping/>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placement: after the slide about study pressure or before the support contact directory. Allow about 1 minute. Say: Three useful numbers to save in Germany. 112 is for the ambulance or fire brigade in an emergency. 110 is the police emergency number. If you need medical help today, practices are closed and the situation is not life-threatening, call 116117. Give your location and follow the operator’s questions. The 116117 telephone service is in German. Its English website links to a doctor search where you can look for English-speaking practices. During normal opening hours, contact a medical practice for non-life-threatening problems. Sources checked 5 October 2026: https://www.hamburg.de/leben-in-hamburg/wohnen/allgemeine-notrufnummern-medizinische-hilfe-und-suchthilfen-378850 ; https://www.116117.de/de/englisch.php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placement: immediately after IAS and academic questions. Allow about 1 minute. Say: This session is shared by IAS and DSAI. Most of the university and department support we have discussed is useful to both groups. For DSAI-specific study planning, contact the DSAI programme team. The links here lead to the programme information, curriculum and first-semester schedule. Course and exam administration goes through the Informatics Academic Office. The user can add verified tutor resources, a cohort group link or an agreed student-maintained guide later. Do not invent those resources. Academic Office student contact form: https://www.inf.uni-hamburg.de/studies/orga/contact-form-students.html . Sources checked 5 October 2026: https://www.inf.uni-hamburg.de/en/studies/master/dsai.html ; https://www.inf.uni-hamburg.de/en/studies/master/dsai/dsai-curriculum.html ; https://www.inf.uni-hamburg.de/en/studies/master/dsai/msc-dsai-schedule-ws-1-sem.pdf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1_Titelfolie_Bild_vollflächig">
    <p:spTree>
      <p:nvGrpSpPr>
        <p:cNvPr id="1" name=""/>
        <p:cNvGrpSpPr/>
        <p:nvPr/>
      </p:nvGrpSpPr>
      <p:grpSpPr>
        <a:xfrm>
          <a:off x="0" y="0"/>
          <a:ext cx="0" cy="0"/>
          <a:chOff x="0" y="0"/>
          <a:chExt cx="0" cy="0"/>
        </a:xfrm>
      </p:grpSpPr>
      <p:pic>
        <p:nvPicPr>
          <p:cNvPr id="13"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14" name="Body Level One…"/>
          <p:cNvSpPr txBox="1"/>
          <p:nvPr>
            <p:ph type="body" sz="quarter" idx="1" hasCustomPrompt="1"/>
          </p:nvPr>
        </p:nvSpPr>
        <p:spPr>
          <a:xfrm>
            <a:off x="250824" y="3579862"/>
            <a:ext cx="4681216" cy="370801"/>
          </a:xfrm>
          <a:prstGeom prst="rect">
            <a:avLst/>
          </a:prstGeom>
        </p:spPr>
        <p:txBody>
          <a:bodyPr/>
          <a:lstStyle>
            <a:lvl1pPr>
              <a:defRPr sz="1800"/>
            </a:lvl1pPr>
            <a:lvl2pPr>
              <a:defRPr sz="1800"/>
            </a:lvl2pPr>
            <a:lvl3pPr>
              <a:defRPr sz="1800"/>
            </a:lvl3pPr>
            <a:lvl4pPr>
              <a:defRPr sz="1800"/>
            </a:lvl4pPr>
            <a:lvl5pPr>
              <a:defRPr sz="1800"/>
            </a:lvl5pPr>
          </a:lstStyle>
          <a:p>
            <a:pPr/>
            <a:r>
              <a:t>Clemens Kurz</a:t>
            </a:r>
          </a:p>
          <a:p>
            <a:pPr lvl="1"/>
            <a:r>
              <a:t/>
            </a:r>
          </a:p>
          <a:p>
            <a:pPr lvl="2"/>
            <a:r>
              <a:t/>
            </a:r>
          </a:p>
          <a:p>
            <a:pPr lvl="3"/>
            <a:r>
              <a:t/>
            </a:r>
          </a:p>
          <a:p>
            <a:pPr lvl="4"/>
            <a:r>
              <a:t/>
            </a:r>
          </a:p>
        </p:txBody>
      </p:sp>
      <p:sp>
        <p:nvSpPr>
          <p:cNvPr id="15" name="Dies ist ein Blindtext. Hier steht die Headline oder der Name der Veranstaltung"/>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latin typeface="TheSans UHH"/>
                <a:ea typeface="TheSans UHH"/>
                <a:cs typeface="TheSans UHH"/>
                <a:sym typeface="TheSans UHH"/>
              </a:defRPr>
            </a:lvl1pPr>
          </a:lstStyle>
          <a:p>
            <a:pPr/>
            <a:r>
              <a:t>Dies ist ein Blindtext. Hier steht die Headline oder der Name der Veranstaltung</a:t>
            </a:r>
          </a:p>
        </p:txBody>
      </p:sp>
      <p:pic>
        <p:nvPicPr>
          <p:cNvPr id="16" name="background-84678_1920.jpg" descr="background-84678_1920.jpg"/>
          <p:cNvPicPr>
            <a:picLocks noChangeAspect="1"/>
          </p:cNvPicPr>
          <p:nvPr/>
        </p:nvPicPr>
        <p:blipFill>
          <a:blip r:embed="rId3">
            <a:extLst/>
          </a:blip>
          <a:stretch>
            <a:fillRect/>
          </a:stretch>
        </p:blipFill>
        <p:spPr>
          <a:xfrm>
            <a:off x="0" y="1052006"/>
            <a:ext cx="9144000" cy="2455848"/>
          </a:xfrm>
          <a:prstGeom prst="rect">
            <a:avLst/>
          </a:prstGeom>
          <a:ln w="12700">
            <a:miter lim="400000"/>
          </a:ln>
        </p:spPr>
      </p:pic>
      <p:sp>
        <p:nvSpPr>
          <p:cNvPr id="17" name="Bildplatzhalter 6"/>
          <p:cNvSpPr/>
          <p:nvPr>
            <p:ph type="pic" idx="21"/>
          </p:nvPr>
        </p:nvSpPr>
        <p:spPr>
          <a:xfrm>
            <a:off x="0" y="1052007"/>
            <a:ext cx="9144000" cy="2455847"/>
          </a:xfrm>
          <a:prstGeom prst="rect">
            <a:avLst/>
          </a:prstGeom>
        </p:spPr>
        <p:txBody>
          <a:bodyPr lIns="91439" rIns="91439">
            <a:noAutofit/>
          </a:bodyPr>
          <a:lstStyle/>
          <a:p>
            <a:pPr/>
          </a:p>
        </p:txBody>
      </p:sp>
      <p:sp>
        <p:nvSpPr>
          <p:cNvPr id="18" name="Gerade Verbindung 10"/>
          <p:cNvSpPr/>
          <p:nvPr/>
        </p:nvSpPr>
        <p:spPr>
          <a:xfrm>
            <a:off x="0" y="3988132"/>
            <a:ext cx="8172399" cy="1"/>
          </a:xfrm>
          <a:prstGeom prst="line">
            <a:avLst/>
          </a:prstGeom>
          <a:ln w="38100">
            <a:solidFill>
              <a:schemeClr val="accent3"/>
            </a:solidFill>
          </a:ln>
        </p:spPr>
        <p:txBody>
          <a:bodyPr lIns="0" tIns="0" rIns="0" bIns="0"/>
          <a:lstStyle/>
          <a:p>
            <a:pPr/>
          </a:p>
        </p:txBody>
      </p:sp>
      <p:sp>
        <p:nvSpPr>
          <p:cNvPr id="19"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Titelfolie_zwei_Bilder">
    <p:spTree>
      <p:nvGrpSpPr>
        <p:cNvPr id="1" name=""/>
        <p:cNvGrpSpPr/>
        <p:nvPr/>
      </p:nvGrpSpPr>
      <p:grpSpPr>
        <a:xfrm>
          <a:off x="0" y="0"/>
          <a:ext cx="0" cy="0"/>
          <a:chOff x="0" y="0"/>
          <a:chExt cx="0" cy="0"/>
        </a:xfrm>
      </p:grpSpPr>
      <p:pic>
        <p:nvPicPr>
          <p:cNvPr id="26"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27" name="Body Level One…"/>
          <p:cNvSpPr txBox="1"/>
          <p:nvPr>
            <p:ph type="body" sz="quarter" idx="1" hasCustomPrompt="1"/>
          </p:nvPr>
        </p:nvSpPr>
        <p:spPr>
          <a:xfrm>
            <a:off x="250825" y="3579862"/>
            <a:ext cx="4395259" cy="370801"/>
          </a:xfrm>
          <a:prstGeom prst="rect">
            <a:avLst/>
          </a:prstGeom>
        </p:spPr>
        <p:txBody>
          <a:bodyPr/>
          <a:lstStyle>
            <a:lvl1pPr>
              <a:defRPr sz="1800"/>
            </a:lvl1pPr>
            <a:lvl2pPr>
              <a:defRPr sz="1800"/>
            </a:lvl2pPr>
            <a:lvl3pPr>
              <a:defRPr sz="1800"/>
            </a:lvl3pPr>
            <a:lvl4pPr>
              <a:defRPr sz="1800"/>
            </a:lvl4pPr>
            <a:lvl5pPr>
              <a:defRPr sz="1800"/>
            </a:lvl5pPr>
          </a:lstStyle>
          <a:p>
            <a:pPr/>
            <a:r>
              <a:t>Clemens Kurz</a:t>
            </a:r>
          </a:p>
          <a:p>
            <a:pPr lvl="1"/>
            <a:r>
              <a:t/>
            </a:r>
          </a:p>
          <a:p>
            <a:pPr lvl="2"/>
            <a:r>
              <a:t/>
            </a:r>
          </a:p>
          <a:p>
            <a:pPr lvl="3"/>
            <a:r>
              <a:t/>
            </a:r>
          </a:p>
          <a:p>
            <a:pPr lvl="4"/>
            <a:r>
              <a:t/>
            </a:r>
          </a:p>
        </p:txBody>
      </p:sp>
      <p:sp>
        <p:nvSpPr>
          <p:cNvPr id="28" name="Dies ist ein Blindtext. Hier steht die Headline oder der Name der Veranstaltung"/>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latin typeface="TheSans UHH"/>
                <a:ea typeface="TheSans UHH"/>
                <a:cs typeface="TheSans UHH"/>
                <a:sym typeface="TheSans UHH"/>
              </a:defRPr>
            </a:lvl1pPr>
          </a:lstStyle>
          <a:p>
            <a:pPr/>
            <a:r>
              <a:t>Dies ist ein Blindtext. Hier steht die Headline oder der Name der Veranstaltung</a:t>
            </a:r>
          </a:p>
        </p:txBody>
      </p:sp>
      <p:pic>
        <p:nvPicPr>
          <p:cNvPr id="29" name="background-84678_1920.jpg" descr="background-84678_1920.jpg"/>
          <p:cNvPicPr>
            <a:picLocks noChangeAspect="1"/>
          </p:cNvPicPr>
          <p:nvPr/>
        </p:nvPicPr>
        <p:blipFill>
          <a:blip r:embed="rId3">
            <a:extLst/>
          </a:blip>
          <a:stretch>
            <a:fillRect/>
          </a:stretch>
        </p:blipFill>
        <p:spPr>
          <a:xfrm>
            <a:off x="-1" y="1059305"/>
            <a:ext cx="4497873" cy="2455342"/>
          </a:xfrm>
          <a:prstGeom prst="rect">
            <a:avLst/>
          </a:prstGeom>
          <a:ln w="12700">
            <a:miter lim="400000"/>
          </a:ln>
        </p:spPr>
      </p:pic>
      <p:pic>
        <p:nvPicPr>
          <p:cNvPr id="30" name="background-84678_1920.jpg" descr="background-84678_1920.jpg"/>
          <p:cNvPicPr>
            <a:picLocks noChangeAspect="1"/>
          </p:cNvPicPr>
          <p:nvPr/>
        </p:nvPicPr>
        <p:blipFill>
          <a:blip r:embed="rId4">
            <a:extLst/>
          </a:blip>
          <a:stretch>
            <a:fillRect/>
          </a:stretch>
        </p:blipFill>
        <p:spPr>
          <a:xfrm>
            <a:off x="4646083" y="1052007"/>
            <a:ext cx="4497917" cy="2462640"/>
          </a:xfrm>
          <a:prstGeom prst="rect">
            <a:avLst/>
          </a:prstGeom>
          <a:ln w="12700">
            <a:miter lim="400000"/>
          </a:ln>
        </p:spPr>
      </p:pic>
      <p:sp>
        <p:nvSpPr>
          <p:cNvPr id="31" name="Bildplatzhalter 15"/>
          <p:cNvSpPr/>
          <p:nvPr>
            <p:ph type="pic" sz="half" idx="21"/>
          </p:nvPr>
        </p:nvSpPr>
        <p:spPr>
          <a:xfrm>
            <a:off x="-2" y="1065474"/>
            <a:ext cx="4497918" cy="2455342"/>
          </a:xfrm>
          <a:prstGeom prst="rect">
            <a:avLst/>
          </a:prstGeom>
        </p:spPr>
        <p:txBody>
          <a:bodyPr lIns="91439" rIns="91439">
            <a:noAutofit/>
          </a:bodyPr>
          <a:lstStyle/>
          <a:p>
            <a:pPr/>
          </a:p>
        </p:txBody>
      </p:sp>
      <p:sp>
        <p:nvSpPr>
          <p:cNvPr id="32" name="Bildplatzhalter 17"/>
          <p:cNvSpPr/>
          <p:nvPr>
            <p:ph type="pic" sz="half" idx="22"/>
          </p:nvPr>
        </p:nvSpPr>
        <p:spPr>
          <a:xfrm>
            <a:off x="4646081" y="1066606"/>
            <a:ext cx="4711868" cy="2454836"/>
          </a:xfrm>
          <a:prstGeom prst="rect">
            <a:avLst/>
          </a:prstGeom>
        </p:spPr>
        <p:txBody>
          <a:bodyPr lIns="91439" rIns="91439">
            <a:noAutofit/>
          </a:bodyPr>
          <a:lstStyle/>
          <a:p>
            <a:pPr/>
          </a:p>
        </p:txBody>
      </p:sp>
      <p:sp>
        <p:nvSpPr>
          <p:cNvPr id="33" name="Gerade Verbindung 18"/>
          <p:cNvSpPr/>
          <p:nvPr/>
        </p:nvSpPr>
        <p:spPr>
          <a:xfrm>
            <a:off x="0" y="3988132"/>
            <a:ext cx="8172399" cy="1"/>
          </a:xfrm>
          <a:prstGeom prst="line">
            <a:avLst/>
          </a:prstGeom>
          <a:ln w="38100">
            <a:solidFill>
              <a:schemeClr val="accent3"/>
            </a:solidFill>
          </a:ln>
        </p:spPr>
        <p:txBody>
          <a:bodyPr lIns="0" tIns="0" rIns="0" bIns="0"/>
          <a:lstStyle/>
          <a:p>
            <a:pPr/>
          </a:p>
        </p:txBody>
      </p:sp>
      <p:sp>
        <p:nvSpPr>
          <p:cNvPr id="34"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a_Titelfolie_einfarbiger_HG_Steingrau">
    <p:spTree>
      <p:nvGrpSpPr>
        <p:cNvPr id="1" name=""/>
        <p:cNvGrpSpPr/>
        <p:nvPr/>
      </p:nvGrpSpPr>
      <p:grpSpPr>
        <a:xfrm>
          <a:off x="0" y="0"/>
          <a:ext cx="0" cy="0"/>
          <a:chOff x="0" y="0"/>
          <a:chExt cx="0" cy="0"/>
        </a:xfrm>
      </p:grpSpPr>
      <p:pic>
        <p:nvPicPr>
          <p:cNvPr id="41"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42" name="Rechteck 11"/>
          <p:cNvSpPr/>
          <p:nvPr/>
        </p:nvSpPr>
        <p:spPr>
          <a:xfrm>
            <a:off x="0" y="1052006"/>
            <a:ext cx="9144000" cy="4091495"/>
          </a:xfrm>
          <a:prstGeom prst="rect">
            <a:avLst/>
          </a:prstGeom>
          <a:gradFill>
            <a:gsLst>
              <a:gs pos="0">
                <a:schemeClr val="accent1"/>
              </a:gs>
              <a:gs pos="100000">
                <a:schemeClr val="accent3"/>
              </a:gs>
            </a:gsLst>
            <a:lin ang="16200000"/>
          </a:gradFill>
          <a:ln w="12700">
            <a:miter lim="400000"/>
          </a:ln>
          <a:effectLst>
            <a:outerShdw sx="100000" sy="100000" kx="0" ky="0" algn="b" rotWithShape="0" blurRad="38100" dist="23000" dir="5400000">
              <a:srgbClr val="000000">
                <a:alpha val="35000"/>
              </a:srgbClr>
            </a:outerShdw>
          </a:effectLst>
        </p:spPr>
        <p:txBody>
          <a:bodyPr lIns="0" tIns="0" rIns="0" bIns="0"/>
          <a:lstStyle/>
          <a:p>
            <a:pPr algn="ctr">
              <a:defRPr>
                <a:solidFill>
                  <a:srgbClr val="FFFFFF"/>
                </a:solidFill>
                <a:latin typeface="TheSans UHH"/>
                <a:ea typeface="TheSans UHH"/>
                <a:cs typeface="TheSans UHH"/>
                <a:sym typeface="TheSans UHH"/>
              </a:defRPr>
            </a:pPr>
          </a:p>
        </p:txBody>
      </p:sp>
      <p:sp>
        <p:nvSpPr>
          <p:cNvPr id="43" name="Body Level One…"/>
          <p:cNvSpPr txBox="1"/>
          <p:nvPr>
            <p:ph type="body" sz="quarter" idx="1" hasCustomPrompt="1"/>
          </p:nvPr>
        </p:nvSpPr>
        <p:spPr>
          <a:xfrm>
            <a:off x="250824" y="3579862"/>
            <a:ext cx="4825232" cy="370801"/>
          </a:xfrm>
          <a:prstGeom prst="rect">
            <a:avLst/>
          </a:prstGeom>
        </p:spPr>
        <p:txBody>
          <a:bodyPr/>
          <a:lstStyle>
            <a:lvl1pPr>
              <a:defRPr sz="1800">
                <a:solidFill>
                  <a:srgbClr val="FFFFFF"/>
                </a:solidFill>
              </a:defRPr>
            </a:lvl1pPr>
            <a:lvl2pPr>
              <a:defRPr sz="1800">
                <a:solidFill>
                  <a:srgbClr val="FFFFFF"/>
                </a:solidFill>
              </a:defRPr>
            </a:lvl2pPr>
            <a:lvl3pPr>
              <a:defRPr sz="1800">
                <a:solidFill>
                  <a:srgbClr val="FFFFFF"/>
                </a:solidFill>
              </a:defRPr>
            </a:lvl3pPr>
            <a:lvl4pPr>
              <a:defRPr sz="1800">
                <a:solidFill>
                  <a:srgbClr val="FFFFFF"/>
                </a:solidFill>
              </a:defRPr>
            </a:lvl4pPr>
            <a:lvl5pPr>
              <a:defRPr sz="1800">
                <a:solidFill>
                  <a:srgbClr val="FFFFFF"/>
                </a:solidFill>
              </a:defRPr>
            </a:lvl5pPr>
          </a:lstStyle>
          <a:p>
            <a:pPr/>
            <a:r>
              <a:t>Clemens Kurz</a:t>
            </a:r>
          </a:p>
          <a:p>
            <a:pPr lvl="1"/>
            <a:r>
              <a:t/>
            </a:r>
          </a:p>
          <a:p>
            <a:pPr lvl="2"/>
            <a:r>
              <a:t/>
            </a:r>
          </a:p>
          <a:p>
            <a:pPr lvl="3"/>
            <a:r>
              <a:t/>
            </a:r>
          </a:p>
          <a:p>
            <a:pPr lvl="4"/>
            <a:r>
              <a:t/>
            </a:r>
          </a:p>
        </p:txBody>
      </p:sp>
      <p:sp>
        <p:nvSpPr>
          <p:cNvPr id="44" name="Dies ist ein Blindtext. Hier steht die Headline oder der Name der Veranstaltung"/>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solidFill>
                  <a:srgbClr val="FFFFFF"/>
                </a:solidFill>
                <a:latin typeface="TheSans UHH"/>
                <a:ea typeface="TheSans UHH"/>
                <a:cs typeface="TheSans UHH"/>
                <a:sym typeface="TheSans UHH"/>
              </a:defRPr>
            </a:lvl1pPr>
          </a:lstStyle>
          <a:p>
            <a:pPr/>
            <a:r>
              <a:t>Dies ist ein Blindtext. Hier steht die Headline oder der Name der Veranstaltung</a:t>
            </a:r>
          </a:p>
        </p:txBody>
      </p:sp>
      <p:sp>
        <p:nvSpPr>
          <p:cNvPr id="45" name="Gerade Verbindung 7"/>
          <p:cNvSpPr/>
          <p:nvPr/>
        </p:nvSpPr>
        <p:spPr>
          <a:xfrm>
            <a:off x="0" y="3988132"/>
            <a:ext cx="8172399" cy="1"/>
          </a:xfrm>
          <a:prstGeom prst="line">
            <a:avLst/>
          </a:prstGeom>
          <a:ln w="38100">
            <a:solidFill>
              <a:srgbClr val="FFFFFF"/>
            </a:solidFill>
          </a:ln>
        </p:spPr>
        <p:txBody>
          <a:bodyPr lIns="0" tIns="0" rIns="0" bIns="0"/>
          <a:lstStyle/>
          <a:p>
            <a:pPr/>
          </a:p>
        </p:txBody>
      </p:sp>
      <p:sp>
        <p:nvSpPr>
          <p:cNvPr id="46"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3b_Titelfolie_einfarbiger_HG_Hellblau">
    <p:spTree>
      <p:nvGrpSpPr>
        <p:cNvPr id="1" name=""/>
        <p:cNvGrpSpPr/>
        <p:nvPr/>
      </p:nvGrpSpPr>
      <p:grpSpPr>
        <a:xfrm>
          <a:off x="0" y="0"/>
          <a:ext cx="0" cy="0"/>
          <a:chOff x="0" y="0"/>
          <a:chExt cx="0" cy="0"/>
        </a:xfrm>
      </p:grpSpPr>
      <p:pic>
        <p:nvPicPr>
          <p:cNvPr id="53"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54" name="Rechteck 11"/>
          <p:cNvSpPr/>
          <p:nvPr/>
        </p:nvSpPr>
        <p:spPr>
          <a:xfrm>
            <a:off x="0" y="1052006"/>
            <a:ext cx="9144000" cy="4091495"/>
          </a:xfrm>
          <a:prstGeom prst="rect">
            <a:avLst/>
          </a:prstGeom>
          <a:solidFill>
            <a:schemeClr val="accent2"/>
          </a:solidFill>
          <a:ln w="12700">
            <a:miter lim="400000"/>
          </a:ln>
          <a:effectLst>
            <a:outerShdw sx="100000" sy="100000" kx="0" ky="0" algn="b" rotWithShape="0" blurRad="38100" dist="23000" dir="5400000">
              <a:srgbClr val="000000">
                <a:alpha val="35000"/>
              </a:srgbClr>
            </a:outerShdw>
          </a:effectLst>
        </p:spPr>
        <p:txBody>
          <a:bodyPr lIns="0" tIns="0" rIns="0" bIns="0"/>
          <a:lstStyle/>
          <a:p>
            <a:pPr algn="ctr">
              <a:defRPr>
                <a:solidFill>
                  <a:srgbClr val="FFFFFF"/>
                </a:solidFill>
                <a:latin typeface="TheSans UHH"/>
                <a:ea typeface="TheSans UHH"/>
                <a:cs typeface="TheSans UHH"/>
                <a:sym typeface="TheSans UHH"/>
              </a:defRPr>
            </a:pPr>
          </a:p>
        </p:txBody>
      </p:sp>
      <p:sp>
        <p:nvSpPr>
          <p:cNvPr id="55" name="Body Level One…"/>
          <p:cNvSpPr txBox="1"/>
          <p:nvPr>
            <p:ph type="body" sz="quarter" idx="1" hasCustomPrompt="1"/>
          </p:nvPr>
        </p:nvSpPr>
        <p:spPr>
          <a:xfrm>
            <a:off x="250824" y="3579862"/>
            <a:ext cx="4609208" cy="370801"/>
          </a:xfrm>
          <a:prstGeom prst="rect">
            <a:avLst/>
          </a:prstGeom>
        </p:spPr>
        <p:txBody>
          <a:bodyPr/>
          <a:lstStyle>
            <a:lvl1pPr>
              <a:defRPr sz="1800">
                <a:solidFill>
                  <a:srgbClr val="FFFFFF"/>
                </a:solidFill>
              </a:defRPr>
            </a:lvl1pPr>
            <a:lvl2pPr>
              <a:defRPr sz="1800">
                <a:solidFill>
                  <a:srgbClr val="FFFFFF"/>
                </a:solidFill>
              </a:defRPr>
            </a:lvl2pPr>
            <a:lvl3pPr>
              <a:defRPr sz="1800">
                <a:solidFill>
                  <a:srgbClr val="FFFFFF"/>
                </a:solidFill>
              </a:defRPr>
            </a:lvl3pPr>
            <a:lvl4pPr>
              <a:defRPr sz="1800">
                <a:solidFill>
                  <a:srgbClr val="FFFFFF"/>
                </a:solidFill>
              </a:defRPr>
            </a:lvl4pPr>
            <a:lvl5pPr>
              <a:defRPr sz="1800">
                <a:solidFill>
                  <a:srgbClr val="FFFFFF"/>
                </a:solidFill>
              </a:defRPr>
            </a:lvl5pPr>
          </a:lstStyle>
          <a:p>
            <a:pPr/>
            <a:r>
              <a:t>Clemens Kurz</a:t>
            </a:r>
          </a:p>
          <a:p>
            <a:pPr lvl="1"/>
            <a:r>
              <a:t/>
            </a:r>
          </a:p>
          <a:p>
            <a:pPr lvl="2"/>
            <a:r>
              <a:t/>
            </a:r>
          </a:p>
          <a:p>
            <a:pPr lvl="3"/>
            <a:r>
              <a:t/>
            </a:r>
          </a:p>
          <a:p>
            <a:pPr lvl="4"/>
            <a:r>
              <a:t/>
            </a:r>
          </a:p>
        </p:txBody>
      </p:sp>
      <p:sp>
        <p:nvSpPr>
          <p:cNvPr id="56" name="Dies ist ein Blindtext. Hier steht die Headline oder der Name der Veranstaltung"/>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solidFill>
                  <a:srgbClr val="FFFFFF"/>
                </a:solidFill>
                <a:latin typeface="TheSans UHH"/>
                <a:ea typeface="TheSans UHH"/>
                <a:cs typeface="TheSans UHH"/>
                <a:sym typeface="TheSans UHH"/>
              </a:defRPr>
            </a:lvl1pPr>
          </a:lstStyle>
          <a:p>
            <a:pPr/>
            <a:r>
              <a:t>Dies ist ein Blindtext. Hier steht die Headline oder der Name der Veranstaltung</a:t>
            </a:r>
          </a:p>
        </p:txBody>
      </p:sp>
      <p:sp>
        <p:nvSpPr>
          <p:cNvPr id="57" name="Gerade Verbindung 5"/>
          <p:cNvSpPr/>
          <p:nvPr/>
        </p:nvSpPr>
        <p:spPr>
          <a:xfrm>
            <a:off x="0" y="3988132"/>
            <a:ext cx="8172399" cy="1"/>
          </a:xfrm>
          <a:prstGeom prst="line">
            <a:avLst/>
          </a:prstGeom>
          <a:ln w="38100">
            <a:solidFill>
              <a:srgbClr val="FFFFFF"/>
            </a:solidFill>
          </a:ln>
        </p:spPr>
        <p:txBody>
          <a:bodyPr lIns="0" tIns="0" rIns="0" bIns="0"/>
          <a:lstStyle/>
          <a:p>
            <a:pPr/>
          </a:p>
        </p:txBody>
      </p:sp>
      <p:sp>
        <p:nvSpPr>
          <p:cNvPr id="58"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a_Headline_und_Text">
    <p:spTree>
      <p:nvGrpSpPr>
        <p:cNvPr id="1" name=""/>
        <p:cNvGrpSpPr/>
        <p:nvPr/>
      </p:nvGrpSpPr>
      <p:grpSpPr>
        <a:xfrm>
          <a:off x="0" y="0"/>
          <a:ext cx="0" cy="0"/>
          <a:chOff x="0" y="0"/>
          <a:chExt cx="0" cy="0"/>
        </a:xfrm>
      </p:grpSpPr>
      <p:sp>
        <p:nvSpPr>
          <p:cNvPr id="6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66" name="Body Level One…"/>
          <p:cNvSpPr txBox="1"/>
          <p:nvPr>
            <p:ph type="body" idx="1"/>
          </p:nvPr>
        </p:nvSpPr>
        <p:spPr>
          <a:xfrm>
            <a:off x="214768" y="1779661"/>
            <a:ext cx="8533696" cy="288032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6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4b_Headline_und_Liste">
    <p:spTree>
      <p:nvGrpSpPr>
        <p:cNvPr id="1" name=""/>
        <p:cNvGrpSpPr/>
        <p:nvPr/>
      </p:nvGrpSpPr>
      <p:grpSpPr>
        <a:xfrm>
          <a:off x="0" y="0"/>
          <a:ext cx="0" cy="0"/>
          <a:chOff x="0" y="0"/>
          <a:chExt cx="0" cy="0"/>
        </a:xfrm>
      </p:grpSpPr>
      <p:pic>
        <p:nvPicPr>
          <p:cNvPr id="74"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75" name="Gerade Verbindung 5"/>
          <p:cNvSpPr/>
          <p:nvPr/>
        </p:nvSpPr>
        <p:spPr>
          <a:xfrm>
            <a:off x="0" y="1059582"/>
            <a:ext cx="9144000" cy="1"/>
          </a:xfrm>
          <a:prstGeom prst="line">
            <a:avLst/>
          </a:prstGeom>
          <a:ln w="25400">
            <a:solidFill>
              <a:schemeClr val="accent2"/>
            </a:solidFill>
          </a:ln>
          <a:effectLst>
            <a:outerShdw sx="100000" sy="100000" kx="0" ky="0" algn="b" rotWithShape="0" blurRad="38100" dist="20000" dir="5400000">
              <a:srgbClr val="000000">
                <a:alpha val="38000"/>
              </a:srgbClr>
            </a:outerShdw>
          </a:effectLst>
        </p:spPr>
        <p:txBody>
          <a:bodyPr lIns="0" tIns="0" rIns="0" bIns="0"/>
          <a:lstStyle/>
          <a:p>
            <a:pPr/>
          </a:p>
        </p:txBody>
      </p:sp>
      <p:sp>
        <p:nvSpPr>
          <p:cNvPr id="76"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77" name="Body Level One…"/>
          <p:cNvSpPr txBox="1"/>
          <p:nvPr>
            <p:ph type="body" idx="1"/>
          </p:nvPr>
        </p:nvSpPr>
        <p:spPr>
          <a:xfrm>
            <a:off x="214310" y="1779661"/>
            <a:ext cx="8534153" cy="2879652"/>
          </a:xfrm>
          <a:prstGeom prst="rect">
            <a:avLst/>
          </a:prstGeom>
        </p:spPr>
        <p:txBody>
          <a:bodyPr/>
          <a:lstStyle>
            <a:lvl1pPr marL="180000" indent="-180000">
              <a:spcBef>
                <a:spcPts val="1400"/>
              </a:spcBef>
              <a:buClr>
                <a:schemeClr val="accent3"/>
              </a:buClr>
              <a:buSzPct val="100000"/>
              <a:buChar char="▪"/>
            </a:lvl1pPr>
            <a:lvl2pPr marL="360000" indent="-180000">
              <a:spcBef>
                <a:spcPts val="1400"/>
              </a:spcBef>
              <a:buClr>
                <a:schemeClr val="accent3"/>
              </a:buClr>
              <a:buSzPct val="100000"/>
              <a:buChar char="▪"/>
            </a:lvl2pPr>
            <a:lvl3pPr marL="539999" indent="-180000">
              <a:spcBef>
                <a:spcPts val="1400"/>
              </a:spcBef>
              <a:buClr>
                <a:schemeClr val="accent3"/>
              </a:buClr>
              <a:buSzPct val="100000"/>
              <a:buChar char="▪"/>
            </a:lvl3pPr>
            <a:lvl4pPr marL="180000" indent="-180000">
              <a:spcBef>
                <a:spcPts val="1400"/>
              </a:spcBef>
              <a:buClr>
                <a:schemeClr val="accent3"/>
              </a:buClr>
              <a:buSzPct val="100000"/>
              <a:buChar char="▪"/>
            </a:lvl4pPr>
            <a:lvl5pPr marL="180000" indent="-180000">
              <a:spcBef>
                <a:spcPts val="1400"/>
              </a:spcBef>
              <a:buClr>
                <a:schemeClr val="accent3"/>
              </a:buClr>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78" name="Slide Number"/>
          <p:cNvSpPr txBox="1"/>
          <p:nvPr>
            <p:ph type="sldNum" sz="quarter" idx="2"/>
          </p:nvPr>
        </p:nvSpPr>
        <p:spPr>
          <a:xfrm>
            <a:off x="8564584" y="4815284"/>
            <a:ext cx="182217" cy="1778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c_Headline_und_zweispaltiger_Text">
    <p:spTree>
      <p:nvGrpSpPr>
        <p:cNvPr id="1" name=""/>
        <p:cNvGrpSpPr/>
        <p:nvPr/>
      </p:nvGrpSpPr>
      <p:grpSpPr>
        <a:xfrm>
          <a:off x="0" y="0"/>
          <a:ext cx="0" cy="0"/>
          <a:chOff x="0" y="0"/>
          <a:chExt cx="0" cy="0"/>
        </a:xfrm>
      </p:grpSpPr>
      <p:sp>
        <p:nvSpPr>
          <p:cNvPr id="8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86" name="Body Level One…"/>
          <p:cNvSpPr txBox="1"/>
          <p:nvPr>
            <p:ph type="body" sz="half" idx="1"/>
          </p:nvPr>
        </p:nvSpPr>
        <p:spPr>
          <a:xfrm>
            <a:off x="214770" y="1779661"/>
            <a:ext cx="4171028" cy="288032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87" name="Textplatzhalter 9"/>
          <p:cNvSpPr/>
          <p:nvPr>
            <p:ph type="body" sz="half" idx="21"/>
          </p:nvPr>
        </p:nvSpPr>
        <p:spPr>
          <a:xfrm>
            <a:off x="4572000" y="1779661"/>
            <a:ext cx="4171028" cy="2880322"/>
          </a:xfrm>
          <a:prstGeom prst="rect">
            <a:avLst/>
          </a:prstGeom>
        </p:spPr>
        <p:txBody>
          <a:bodyPr/>
          <a:lstStyle/>
          <a:p>
            <a:pP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d_Headline_und_zweispaltige_Listen">
    <p:spTree>
      <p:nvGrpSpPr>
        <p:cNvPr id="1" name=""/>
        <p:cNvGrpSpPr/>
        <p:nvPr/>
      </p:nvGrpSpPr>
      <p:grpSpPr>
        <a:xfrm>
          <a:off x="0" y="0"/>
          <a:ext cx="0" cy="0"/>
          <a:chOff x="0" y="0"/>
          <a:chExt cx="0" cy="0"/>
        </a:xfrm>
      </p:grpSpPr>
      <p:sp>
        <p:nvSpPr>
          <p:cNvPr id="9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96" name="Body Level One…"/>
          <p:cNvSpPr txBox="1"/>
          <p:nvPr>
            <p:ph type="body" sz="half" idx="1"/>
          </p:nvPr>
        </p:nvSpPr>
        <p:spPr>
          <a:xfrm>
            <a:off x="214311" y="1779661"/>
            <a:ext cx="4172401" cy="2879652"/>
          </a:xfrm>
          <a:prstGeom prst="rect">
            <a:avLst/>
          </a:prstGeom>
        </p:spPr>
        <p:txBody>
          <a:bodyPr/>
          <a:lstStyle>
            <a:lvl1pPr marL="180000" indent="-180000">
              <a:spcBef>
                <a:spcPts val="1400"/>
              </a:spcBef>
              <a:buClr>
                <a:schemeClr val="accent1"/>
              </a:buClr>
              <a:buSzPct val="100000"/>
              <a:buChar char="▪"/>
            </a:lvl1pPr>
            <a:lvl2pPr marL="360000" indent="-180000">
              <a:spcBef>
                <a:spcPts val="1400"/>
              </a:spcBef>
              <a:buClr>
                <a:schemeClr val="accent1"/>
              </a:buClr>
              <a:buSzPct val="100000"/>
              <a:buChar char="▪"/>
            </a:lvl2pPr>
            <a:lvl3pPr marL="539999" indent="-180000">
              <a:spcBef>
                <a:spcPts val="1400"/>
              </a:spcBef>
              <a:buClr>
                <a:schemeClr val="accent1"/>
              </a:buClr>
              <a:buSzPct val="100000"/>
              <a:buChar char="▪"/>
            </a:lvl3pPr>
            <a:lvl4pPr marL="180000" indent="-180000">
              <a:spcBef>
                <a:spcPts val="1400"/>
              </a:spcBef>
              <a:buClr>
                <a:schemeClr val="accent1"/>
              </a:buClr>
              <a:buSzPct val="100000"/>
              <a:buChar char="▪"/>
            </a:lvl4pPr>
            <a:lvl5pPr marL="180000" indent="-180000">
              <a:spcBef>
                <a:spcPts val="1400"/>
              </a:spcBef>
              <a:buClr>
                <a:schemeClr val="accent1"/>
              </a:buClr>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97" name="Textplatzhalter 3"/>
          <p:cNvSpPr/>
          <p:nvPr>
            <p:ph type="body" sz="half" idx="21"/>
          </p:nvPr>
        </p:nvSpPr>
        <p:spPr>
          <a:xfrm>
            <a:off x="4576062" y="1779661"/>
            <a:ext cx="4172401" cy="2879652"/>
          </a:xfrm>
          <a:prstGeom prst="rect">
            <a:avLst/>
          </a:prstGeom>
        </p:spPr>
        <p:txBody>
          <a:bodyPr/>
          <a:lstStyle/>
          <a:p>
            <a:pPr marL="179999" indent="-179999">
              <a:spcBef>
                <a:spcPts val="1400"/>
              </a:spcBef>
            </a:pPr>
          </a:p>
        </p:txBody>
      </p:sp>
      <p:sp>
        <p:nvSpPr>
          <p:cNvPr id="9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e_Headline_Text_und_Liste">
    <p:spTree>
      <p:nvGrpSpPr>
        <p:cNvPr id="1" name=""/>
        <p:cNvGrpSpPr/>
        <p:nvPr/>
      </p:nvGrpSpPr>
      <p:grpSpPr>
        <a:xfrm>
          <a:off x="0" y="0"/>
          <a:ext cx="0" cy="0"/>
          <a:chOff x="0" y="0"/>
          <a:chExt cx="0" cy="0"/>
        </a:xfrm>
      </p:grpSpPr>
      <p:sp>
        <p:nvSpPr>
          <p:cNvPr id="10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106" name="Body Level One…"/>
          <p:cNvSpPr txBox="1"/>
          <p:nvPr>
            <p:ph type="body" sz="half" idx="1"/>
          </p:nvPr>
        </p:nvSpPr>
        <p:spPr>
          <a:xfrm>
            <a:off x="214311" y="1779661"/>
            <a:ext cx="4172401" cy="2879652"/>
          </a:xfrm>
          <a:prstGeom prst="rect">
            <a:avLst/>
          </a:prstGeom>
        </p:spPr>
        <p:txBody>
          <a:bodyPr/>
          <a:lstStyle>
            <a:lvl1pPr>
              <a:spcBef>
                <a:spcPts val="1400"/>
              </a:spcBef>
            </a:lvl1pPr>
            <a:lvl2pPr indent="179999">
              <a:spcBef>
                <a:spcPts val="1400"/>
              </a:spcBef>
            </a:lvl2pPr>
            <a:lvl3pPr indent="359999">
              <a:spcBef>
                <a:spcPts val="1400"/>
              </a:spcBef>
            </a:lvl3pPr>
            <a:lvl4pPr marL="180000" indent="-180000">
              <a:spcBef>
                <a:spcPts val="1400"/>
              </a:spcBef>
              <a:buSzPct val="100000"/>
              <a:buChar char="▪"/>
            </a:lvl4pPr>
            <a:lvl5pPr marL="180000" indent="-180000">
              <a:spcBef>
                <a:spcPts val="1400"/>
              </a:spcBef>
              <a:buSzPct val="100000"/>
              <a:buChar char="▪"/>
            </a:lvl5pPr>
          </a:lstStyle>
          <a:p>
            <a:pPr/>
            <a:r>
              <a:t>Body Level One</a:t>
            </a:r>
          </a:p>
          <a:p>
            <a:pPr lvl="1"/>
            <a:r>
              <a:t>Body Level Two</a:t>
            </a:r>
          </a:p>
          <a:p>
            <a:pPr lvl="2"/>
            <a:r>
              <a:t>Body Level Three</a:t>
            </a:r>
          </a:p>
          <a:p>
            <a:pPr lvl="3"/>
            <a:r>
              <a:t>Body Level Four</a:t>
            </a:r>
          </a:p>
          <a:p>
            <a:pPr lvl="4"/>
            <a:r>
              <a:t>Body Level Five</a:t>
            </a:r>
          </a:p>
        </p:txBody>
      </p:sp>
      <p:sp>
        <p:nvSpPr>
          <p:cNvPr id="107" name="Textplatzhalter 3"/>
          <p:cNvSpPr/>
          <p:nvPr>
            <p:ph type="body" sz="half" idx="21"/>
          </p:nvPr>
        </p:nvSpPr>
        <p:spPr>
          <a:xfrm>
            <a:off x="4576062" y="1779661"/>
            <a:ext cx="4172401" cy="2879652"/>
          </a:xfrm>
          <a:prstGeom prst="rect">
            <a:avLst/>
          </a:prstGeom>
        </p:spPr>
        <p:txBody>
          <a:bodyPr/>
          <a:lstStyle/>
          <a:p>
            <a:pPr marL="179999" indent="-179999">
              <a:spcBef>
                <a:spcPts val="1400"/>
              </a:spcBef>
            </a:pP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f_Headline_Text_und_Bild">
    <p:spTree>
      <p:nvGrpSpPr>
        <p:cNvPr id="1" name=""/>
        <p:cNvGrpSpPr/>
        <p:nvPr/>
      </p:nvGrpSpPr>
      <p:grpSpPr>
        <a:xfrm>
          <a:off x="0" y="0"/>
          <a:ext cx="0" cy="0"/>
          <a:chOff x="0" y="0"/>
          <a:chExt cx="0" cy="0"/>
        </a:xfrm>
      </p:grpSpPr>
      <p:sp>
        <p:nvSpPr>
          <p:cNvPr id="11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116" name="Body Level One…"/>
          <p:cNvSpPr txBox="1"/>
          <p:nvPr>
            <p:ph type="body" sz="half" idx="1"/>
          </p:nvPr>
        </p:nvSpPr>
        <p:spPr>
          <a:xfrm>
            <a:off x="214770" y="1779661"/>
            <a:ext cx="4171028" cy="288032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17" name="Bildplatzhalter 6"/>
          <p:cNvSpPr/>
          <p:nvPr>
            <p:ph type="pic" sz="half" idx="21"/>
          </p:nvPr>
        </p:nvSpPr>
        <p:spPr>
          <a:xfrm>
            <a:off x="4572000" y="1779661"/>
            <a:ext cx="4572000" cy="2879652"/>
          </a:xfrm>
          <a:prstGeom prst="rect">
            <a:avLst/>
          </a:prstGeom>
        </p:spPr>
        <p:txBody>
          <a:bodyPr lIns="91439" rIns="91439">
            <a:noAutofit/>
          </a:bodyPr>
          <a:lstStyle/>
          <a:p>
            <a:pPr/>
          </a:p>
        </p:txBody>
      </p:sp>
      <p:sp>
        <p:nvSpPr>
          <p:cNvPr id="1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4g_Headline_Bild_und_Text">
    <p:spTree>
      <p:nvGrpSpPr>
        <p:cNvPr id="1" name=""/>
        <p:cNvGrpSpPr/>
        <p:nvPr/>
      </p:nvGrpSpPr>
      <p:grpSpPr>
        <a:xfrm>
          <a:off x="0" y="0"/>
          <a:ext cx="0" cy="0"/>
          <a:chOff x="0" y="0"/>
          <a:chExt cx="0" cy="0"/>
        </a:xfrm>
      </p:grpSpPr>
      <p:sp>
        <p:nvSpPr>
          <p:cNvPr id="12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126" name="Bildplatzhalter 6"/>
          <p:cNvSpPr/>
          <p:nvPr>
            <p:ph type="pic" sz="half" idx="21"/>
          </p:nvPr>
        </p:nvSpPr>
        <p:spPr>
          <a:xfrm>
            <a:off x="214767" y="1779661"/>
            <a:ext cx="4171029" cy="2879652"/>
          </a:xfrm>
          <a:prstGeom prst="rect">
            <a:avLst/>
          </a:prstGeom>
        </p:spPr>
        <p:txBody>
          <a:bodyPr lIns="91439" rIns="91439">
            <a:noAutofit/>
          </a:bodyPr>
          <a:lstStyle/>
          <a:p>
            <a:pPr/>
          </a:p>
        </p:txBody>
      </p:sp>
      <p:sp>
        <p:nvSpPr>
          <p:cNvPr id="127" name="Body Level One…"/>
          <p:cNvSpPr txBox="1"/>
          <p:nvPr>
            <p:ph type="body" sz="half" idx="1"/>
          </p:nvPr>
        </p:nvSpPr>
        <p:spPr>
          <a:xfrm>
            <a:off x="4577434" y="1779661"/>
            <a:ext cx="4171029" cy="288032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h_Headline_Text_und_Tabelle">
    <p:spTree>
      <p:nvGrpSpPr>
        <p:cNvPr id="1" name=""/>
        <p:cNvGrpSpPr/>
        <p:nvPr/>
      </p:nvGrpSpPr>
      <p:grpSpPr>
        <a:xfrm>
          <a:off x="0" y="0"/>
          <a:ext cx="0" cy="0"/>
          <a:chOff x="0" y="0"/>
          <a:chExt cx="0" cy="0"/>
        </a:xfrm>
      </p:grpSpPr>
      <p:sp>
        <p:nvSpPr>
          <p:cNvPr id="135" name="Hier steht die Folien-Überschrift"/>
          <p:cNvSpPr txBox="1"/>
          <p:nvPr>
            <p:ph type="title" hasCustomPrompt="1"/>
          </p:nvPr>
        </p:nvSpPr>
        <p:spPr>
          <a:xfrm>
            <a:off x="214767" y="1203598"/>
            <a:ext cx="8533696" cy="503883"/>
          </a:xfrm>
          <a:prstGeom prst="rect">
            <a:avLst/>
          </a:prstGeom>
        </p:spPr>
        <p:txBody>
          <a:bodyPr anchor="t">
            <a:normAutofit fontScale="100000" lnSpcReduction="0"/>
          </a:bodyPr>
          <a:lstStyle>
            <a:lvl1pPr algn="l">
              <a:defRPr b="1" sz="2600">
                <a:latin typeface="TheSans UHH"/>
                <a:ea typeface="TheSans UHH"/>
                <a:cs typeface="TheSans UHH"/>
                <a:sym typeface="TheSans UHH"/>
              </a:defRPr>
            </a:lvl1pPr>
          </a:lstStyle>
          <a:p>
            <a:pPr/>
            <a:r>
              <a:t>Hier steht die Folien-Überschrift</a:t>
            </a:r>
          </a:p>
        </p:txBody>
      </p:sp>
      <p:sp>
        <p:nvSpPr>
          <p:cNvPr id="136" name="Body Level One…"/>
          <p:cNvSpPr txBox="1"/>
          <p:nvPr>
            <p:ph type="body" sz="half" idx="1"/>
          </p:nvPr>
        </p:nvSpPr>
        <p:spPr>
          <a:xfrm>
            <a:off x="214770" y="1779661"/>
            <a:ext cx="4171028" cy="2880321"/>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5_Grafiken_Tabellen_Bilder_unischtbare_Headline">
    <p:spTree>
      <p:nvGrpSpPr>
        <p:cNvPr id="1" name=""/>
        <p:cNvGrpSpPr/>
        <p:nvPr/>
      </p:nvGrpSpPr>
      <p:grpSpPr>
        <a:xfrm>
          <a:off x="0" y="0"/>
          <a:ext cx="0" cy="0"/>
          <a:chOff x="0" y="0"/>
          <a:chExt cx="0" cy="0"/>
        </a:xfrm>
      </p:grpSpPr>
      <p:sp>
        <p:nvSpPr>
          <p:cNvPr id="144" name="Body Level One…"/>
          <p:cNvSpPr txBox="1"/>
          <p:nvPr>
            <p:ph type="body" idx="1" hasCustomPrompt="1"/>
          </p:nvPr>
        </p:nvSpPr>
        <p:spPr>
          <a:prstGeom prst="rect">
            <a:avLst/>
          </a:prstGeom>
        </p:spPr>
        <p:txBody>
          <a:bodyPr/>
          <a:lstStyle/>
          <a:p>
            <a:pPr/>
            <a:r>
              <a:t>Grafiken, Tabellen, Bilder, etc. Bitte mit Alternativtext versehen.</a:t>
            </a:r>
          </a:p>
          <a:p>
            <a:pPr lvl="1"/>
            <a:r>
              <a:t/>
            </a:r>
          </a:p>
          <a:p>
            <a:pPr lvl="2"/>
            <a:r>
              <a:t/>
            </a:r>
          </a:p>
          <a:p>
            <a:pPr lvl="3"/>
            <a:r>
              <a:t/>
            </a:r>
          </a:p>
          <a:p>
            <a:pPr lvl="4"/>
            <a:r>
              <a:t/>
            </a:r>
          </a:p>
        </p:txBody>
      </p:sp>
      <p:sp>
        <p:nvSpPr>
          <p:cNvPr id="1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6a_Kapitelfolie_einfarbiger_HG_Hellblau">
    <p:spTree>
      <p:nvGrpSpPr>
        <p:cNvPr id="1" name=""/>
        <p:cNvGrpSpPr/>
        <p:nvPr/>
      </p:nvGrpSpPr>
      <p:grpSpPr>
        <a:xfrm>
          <a:off x="0" y="0"/>
          <a:ext cx="0" cy="0"/>
          <a:chOff x="0" y="0"/>
          <a:chExt cx="0" cy="0"/>
        </a:xfrm>
      </p:grpSpPr>
      <p:pic>
        <p:nvPicPr>
          <p:cNvPr id="152"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153" name="Rechteck 11"/>
          <p:cNvSpPr/>
          <p:nvPr/>
        </p:nvSpPr>
        <p:spPr>
          <a:xfrm>
            <a:off x="0" y="1052006"/>
            <a:ext cx="9144000" cy="4091495"/>
          </a:xfrm>
          <a:prstGeom prst="rect">
            <a:avLst/>
          </a:prstGeom>
          <a:solidFill>
            <a:schemeClr val="accent2"/>
          </a:solidFill>
          <a:ln w="12700">
            <a:miter lim="400000"/>
          </a:ln>
          <a:effectLst>
            <a:outerShdw sx="100000" sy="100000" kx="0" ky="0" algn="b" rotWithShape="0" blurRad="38100" dist="23000" dir="5400000">
              <a:srgbClr val="000000">
                <a:alpha val="35000"/>
              </a:srgbClr>
            </a:outerShdw>
          </a:effectLst>
        </p:spPr>
        <p:txBody>
          <a:bodyPr lIns="0" tIns="0" rIns="0" bIns="0"/>
          <a:lstStyle/>
          <a:p>
            <a:pPr algn="ctr">
              <a:defRPr>
                <a:solidFill>
                  <a:srgbClr val="FFFFFF"/>
                </a:solidFill>
                <a:latin typeface="TheSans UHH"/>
                <a:ea typeface="TheSans UHH"/>
                <a:cs typeface="TheSans UHH"/>
                <a:sym typeface="TheSans UHH"/>
              </a:defRPr>
            </a:pPr>
          </a:p>
        </p:txBody>
      </p:sp>
      <p:sp>
        <p:nvSpPr>
          <p:cNvPr id="154" name="Hier steht die Headline des nachfolgenden Kapitels"/>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solidFill>
                  <a:srgbClr val="FFFFFF"/>
                </a:solidFill>
                <a:latin typeface="TheSans UHH"/>
                <a:ea typeface="TheSans UHH"/>
                <a:cs typeface="TheSans UHH"/>
                <a:sym typeface="TheSans UHH"/>
              </a:defRPr>
            </a:lvl1pPr>
          </a:lstStyle>
          <a:p>
            <a:pPr/>
            <a:r>
              <a:t>Hier steht die Headline des nachfolgenden Kapitels</a:t>
            </a:r>
          </a:p>
        </p:txBody>
      </p:sp>
      <p:sp>
        <p:nvSpPr>
          <p:cNvPr id="155" name="Gerade Verbindung 4"/>
          <p:cNvSpPr/>
          <p:nvPr/>
        </p:nvSpPr>
        <p:spPr>
          <a:xfrm>
            <a:off x="0" y="3988132"/>
            <a:ext cx="8172399" cy="1"/>
          </a:xfrm>
          <a:prstGeom prst="line">
            <a:avLst/>
          </a:prstGeom>
          <a:ln w="38100">
            <a:solidFill>
              <a:srgbClr val="FFFFFF"/>
            </a:solidFill>
          </a:ln>
        </p:spPr>
        <p:txBody>
          <a:bodyPr lIns="0" tIns="0" rIns="0" bIns="0"/>
          <a:lstStyle/>
          <a:p>
            <a:pPr/>
          </a:p>
        </p:txBody>
      </p:sp>
      <p:sp>
        <p:nvSpPr>
          <p:cNvPr id="156"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6b_Kapitelfolie_einfarbiger_HG_weiß">
    <p:spTree>
      <p:nvGrpSpPr>
        <p:cNvPr id="1" name=""/>
        <p:cNvGrpSpPr/>
        <p:nvPr/>
      </p:nvGrpSpPr>
      <p:grpSpPr>
        <a:xfrm>
          <a:off x="0" y="0"/>
          <a:ext cx="0" cy="0"/>
          <a:chOff x="0" y="0"/>
          <a:chExt cx="0" cy="0"/>
        </a:xfrm>
      </p:grpSpPr>
      <p:pic>
        <p:nvPicPr>
          <p:cNvPr id="163"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164" name="Hier steht die Headline des nachfolgenden Kapitels"/>
          <p:cNvSpPr txBox="1"/>
          <p:nvPr>
            <p:ph type="title" hasCustomPrompt="1"/>
          </p:nvPr>
        </p:nvSpPr>
        <p:spPr>
          <a:xfrm>
            <a:off x="251519" y="3994927"/>
            <a:ext cx="8096402" cy="1015201"/>
          </a:xfrm>
          <a:prstGeom prst="rect">
            <a:avLst/>
          </a:prstGeom>
        </p:spPr>
        <p:txBody>
          <a:bodyPr anchor="t">
            <a:normAutofit fontScale="100000" lnSpcReduction="0"/>
          </a:bodyPr>
          <a:lstStyle>
            <a:lvl1pPr algn="l">
              <a:defRPr b="1" sz="3000">
                <a:latin typeface="TheSans UHH"/>
                <a:ea typeface="TheSans UHH"/>
                <a:cs typeface="TheSans UHH"/>
                <a:sym typeface="TheSans UHH"/>
              </a:defRPr>
            </a:lvl1pPr>
          </a:lstStyle>
          <a:p>
            <a:pPr/>
            <a:r>
              <a:t>Hier steht die Headline des nachfolgenden Kapitels</a:t>
            </a:r>
          </a:p>
        </p:txBody>
      </p:sp>
      <p:sp>
        <p:nvSpPr>
          <p:cNvPr id="165" name="Gerade Verbindung 3"/>
          <p:cNvSpPr/>
          <p:nvPr/>
        </p:nvSpPr>
        <p:spPr>
          <a:xfrm>
            <a:off x="0" y="3988132"/>
            <a:ext cx="8172399" cy="1"/>
          </a:xfrm>
          <a:prstGeom prst="line">
            <a:avLst/>
          </a:prstGeom>
          <a:ln w="38100">
            <a:solidFill>
              <a:schemeClr val="accent3"/>
            </a:solidFill>
          </a:ln>
        </p:spPr>
        <p:txBody>
          <a:bodyPr lIns="0" tIns="0" rIns="0" bIns="0"/>
          <a:lstStyle/>
          <a:p>
            <a:pPr/>
          </a:p>
        </p:txBody>
      </p:sp>
      <p:sp>
        <p:nvSpPr>
          <p:cNvPr id="166" name="Slide Number"/>
          <p:cNvSpPr txBox="1"/>
          <p:nvPr>
            <p:ph type="sldNum" sz="quarter" idx="2"/>
          </p:nvPr>
        </p:nvSpPr>
        <p:spPr>
          <a:xfrm>
            <a:off x="4419600" y="4627562"/>
            <a:ext cx="2133600" cy="2794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7_Leerseite_unsichtbare_Headline">
    <p:spTree>
      <p:nvGrpSpPr>
        <p:cNvPr id="1" name=""/>
        <p:cNvGrpSpPr/>
        <p:nvPr/>
      </p:nvGrpSpPr>
      <p:grpSpPr>
        <a:xfrm>
          <a:off x="0" y="0"/>
          <a:ext cx="0" cy="0"/>
          <a:chOff x="0" y="0"/>
          <a:chExt cx="0" cy="0"/>
        </a:xfrm>
      </p:grpSpPr>
      <p:sp>
        <p:nvSpPr>
          <p:cNvPr id="17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UHH-Logo_2010_Farbe_RGB.png" descr="UHH-Logo_2010_Farbe_RGB.png"/>
          <p:cNvPicPr>
            <a:picLocks noChangeAspect="1"/>
          </p:cNvPicPr>
          <p:nvPr/>
        </p:nvPicPr>
        <p:blipFill>
          <a:blip r:embed="rId2">
            <a:extLst/>
          </a:blip>
          <a:stretch>
            <a:fillRect/>
          </a:stretch>
        </p:blipFill>
        <p:spPr>
          <a:xfrm>
            <a:off x="0" y="0"/>
            <a:ext cx="1957551" cy="907592"/>
          </a:xfrm>
          <a:prstGeom prst="rect">
            <a:avLst/>
          </a:prstGeom>
          <a:ln w="12700">
            <a:miter lim="400000"/>
          </a:ln>
        </p:spPr>
      </p:pic>
      <p:sp>
        <p:nvSpPr>
          <p:cNvPr id="3" name="Body Level One…"/>
          <p:cNvSpPr txBox="1"/>
          <p:nvPr>
            <p:ph type="body" idx="1" hasCustomPrompt="1"/>
          </p:nvPr>
        </p:nvSpPr>
        <p:spPr>
          <a:xfrm>
            <a:off x="323527" y="1347613"/>
            <a:ext cx="8425186" cy="331236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Grafiken, Tabellen, Bilder, etc. Bitte mit Alternativtext versehen.</a:t>
            </a:r>
          </a:p>
          <a:p>
            <a:pPr lvl="1"/>
            <a:r>
              <a:t/>
            </a:r>
          </a:p>
          <a:p>
            <a:pPr lvl="2"/>
            <a:r>
              <a:t/>
            </a:r>
          </a:p>
          <a:p>
            <a:pPr lvl="3"/>
            <a:r>
              <a:t/>
            </a:r>
          </a:p>
          <a:p>
            <a:pPr lvl="4"/>
            <a:r>
              <a:t/>
            </a:r>
          </a:p>
        </p:txBody>
      </p:sp>
      <p:sp>
        <p:nvSpPr>
          <p:cNvPr id="4" name="Gerade Verbindung 5"/>
          <p:cNvSpPr/>
          <p:nvPr/>
        </p:nvSpPr>
        <p:spPr>
          <a:xfrm>
            <a:off x="0" y="1059582"/>
            <a:ext cx="9144000" cy="1"/>
          </a:xfrm>
          <a:prstGeom prst="line">
            <a:avLst/>
          </a:prstGeom>
          <a:ln w="25400">
            <a:solidFill>
              <a:schemeClr val="accent2"/>
            </a:solidFill>
          </a:ln>
          <a:effectLst>
            <a:outerShdw sx="100000" sy="100000" kx="0" ky="0" algn="b" rotWithShape="0" blurRad="38100" dist="20000" dir="5400000">
              <a:srgbClr val="000000">
                <a:alpha val="38000"/>
              </a:srgbClr>
            </a:outerShdw>
          </a:effectLst>
        </p:spPr>
        <p:txBody>
          <a:bodyPr lIns="0" tIns="0" rIns="0" bIns="0"/>
          <a:lstStyle/>
          <a:p>
            <a:pPr/>
          </a:p>
        </p:txBody>
      </p:sp>
      <p:sp>
        <p:nvSpPr>
          <p:cNvPr id="5" name="Slide Number"/>
          <p:cNvSpPr txBox="1"/>
          <p:nvPr>
            <p:ph type="sldNum" sz="quarter" idx="2"/>
          </p:nvPr>
        </p:nvSpPr>
        <p:spPr>
          <a:xfrm>
            <a:off x="8566247" y="4815284"/>
            <a:ext cx="182216" cy="177801"/>
          </a:xfrm>
          <a:prstGeom prst="rect">
            <a:avLst/>
          </a:prstGeom>
          <a:ln w="12700">
            <a:miter lim="400000"/>
          </a:ln>
        </p:spPr>
        <p:txBody>
          <a:bodyPr wrap="none" lIns="0" tIns="0" rIns="0" bIns="0" anchor="ctr">
            <a:spAutoFit/>
          </a:bodyPr>
          <a:lstStyle>
            <a:lvl1pPr algn="r">
              <a:defRPr sz="1200">
                <a:latin typeface="TheSans UHH"/>
                <a:ea typeface="TheSans UHH"/>
                <a:cs typeface="TheSans UHH"/>
                <a:sym typeface="TheSans UHH"/>
              </a:defRPr>
            </a:lvl1pPr>
          </a:lstStyle>
          <a:p>
            <a:pPr/>
            <a:fld id="{86CB4B4D-7CA3-9044-876B-883B54F8677D}" type="slidenum"/>
          </a:p>
        </p:txBody>
      </p:sp>
      <p:sp>
        <p:nvSpPr>
          <p:cNvPr id="6" name="Title Text"/>
          <p:cNvSpPr txBox="1"/>
          <p:nvPr>
            <p:ph type="title"/>
          </p:nvPr>
        </p:nvSpPr>
        <p:spPr>
          <a:xfrm>
            <a:off x="457200" y="0"/>
            <a:ext cx="8229600" cy="126920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chemeClr val="accent3"/>
          </a:solidFill>
          <a:uFillTx/>
          <a:latin typeface="Calibri"/>
          <a:ea typeface="Calibri"/>
          <a:cs typeface="Calibri"/>
          <a:sym typeface="Calibri"/>
        </a:defRPr>
      </a:lvl9pPr>
    </p:titleStyle>
    <p:bodyStyle>
      <a:lvl1pPr marL="0" marR="0" indent="0" algn="l" defTabSz="457200" rtl="0" latinLnBrk="0">
        <a:lnSpc>
          <a:spcPct val="100000"/>
        </a:lnSpc>
        <a:spcBef>
          <a:spcPts val="400"/>
        </a:spcBef>
        <a:spcAft>
          <a:spcPts val="0"/>
        </a:spcAft>
        <a:buClrTx/>
        <a:buSzTx/>
        <a:buFontTx/>
        <a:buNone/>
        <a:tabLst/>
        <a:defRPr b="0" baseline="0" cap="none" i="0" spc="0" strike="noStrike" sz="2000" u="none">
          <a:solidFill>
            <a:schemeClr val="accent3"/>
          </a:solidFill>
          <a:uFillTx/>
          <a:latin typeface="TheSans UHH"/>
          <a:ea typeface="TheSans UHH"/>
          <a:cs typeface="TheSans UHH"/>
          <a:sym typeface="TheSans UHH"/>
        </a:defRPr>
      </a:lvl1pPr>
      <a:lvl2pPr marL="0" marR="0" indent="457200" algn="l" defTabSz="457200" rtl="0" latinLnBrk="0">
        <a:lnSpc>
          <a:spcPct val="100000"/>
        </a:lnSpc>
        <a:spcBef>
          <a:spcPts val="400"/>
        </a:spcBef>
        <a:spcAft>
          <a:spcPts val="0"/>
        </a:spcAft>
        <a:buClrTx/>
        <a:buSzTx/>
        <a:buFontTx/>
        <a:buNone/>
        <a:tabLst/>
        <a:defRPr b="0" baseline="0" cap="none" i="0" spc="0" strike="noStrike" sz="2000" u="none">
          <a:solidFill>
            <a:schemeClr val="accent3"/>
          </a:solidFill>
          <a:uFillTx/>
          <a:latin typeface="TheSans UHH"/>
          <a:ea typeface="TheSans UHH"/>
          <a:cs typeface="TheSans UHH"/>
          <a:sym typeface="TheSans UHH"/>
        </a:defRPr>
      </a:lvl2pPr>
      <a:lvl3pPr marL="0" marR="0" indent="914400" algn="l" defTabSz="457200" rtl="0" latinLnBrk="0">
        <a:lnSpc>
          <a:spcPct val="100000"/>
        </a:lnSpc>
        <a:spcBef>
          <a:spcPts val="400"/>
        </a:spcBef>
        <a:spcAft>
          <a:spcPts val="0"/>
        </a:spcAft>
        <a:buClrTx/>
        <a:buSzTx/>
        <a:buFontTx/>
        <a:buNone/>
        <a:tabLst/>
        <a:defRPr b="0" baseline="0" cap="none" i="0" spc="0" strike="noStrike" sz="2000" u="none">
          <a:solidFill>
            <a:schemeClr val="accent3"/>
          </a:solidFill>
          <a:uFillTx/>
          <a:latin typeface="TheSans UHH"/>
          <a:ea typeface="TheSans UHH"/>
          <a:cs typeface="TheSans UHH"/>
          <a:sym typeface="TheSans UHH"/>
        </a:defRPr>
      </a:lvl3pPr>
      <a:lvl4pPr marL="0" marR="0" indent="1371600" algn="l" defTabSz="457200" rtl="0" latinLnBrk="0">
        <a:lnSpc>
          <a:spcPct val="100000"/>
        </a:lnSpc>
        <a:spcBef>
          <a:spcPts val="400"/>
        </a:spcBef>
        <a:spcAft>
          <a:spcPts val="0"/>
        </a:spcAft>
        <a:buClrTx/>
        <a:buSzTx/>
        <a:buFontTx/>
        <a:buNone/>
        <a:tabLst/>
        <a:defRPr b="0" baseline="0" cap="none" i="0" spc="0" strike="noStrike" sz="2000" u="none">
          <a:solidFill>
            <a:schemeClr val="accent3"/>
          </a:solidFill>
          <a:uFillTx/>
          <a:latin typeface="TheSans UHH"/>
          <a:ea typeface="TheSans UHH"/>
          <a:cs typeface="TheSans UHH"/>
          <a:sym typeface="TheSans UHH"/>
        </a:defRPr>
      </a:lvl4pPr>
      <a:lvl5pPr marL="0" marR="0" indent="1828800" algn="l" defTabSz="457200" rtl="0" latinLnBrk="0">
        <a:lnSpc>
          <a:spcPct val="100000"/>
        </a:lnSpc>
        <a:spcBef>
          <a:spcPts val="400"/>
        </a:spcBef>
        <a:spcAft>
          <a:spcPts val="0"/>
        </a:spcAft>
        <a:buClrTx/>
        <a:buSzTx/>
        <a:buFontTx/>
        <a:buNone/>
        <a:tabLst/>
        <a:defRPr b="0" baseline="0" cap="none" i="0" spc="0" strike="noStrike" sz="2000" u="none">
          <a:solidFill>
            <a:schemeClr val="accent3"/>
          </a:solidFill>
          <a:uFillTx/>
          <a:latin typeface="TheSans UHH"/>
          <a:ea typeface="TheSans UHH"/>
          <a:cs typeface="TheSans UHH"/>
          <a:sym typeface="TheSans UHH"/>
        </a:defRPr>
      </a:lvl5pPr>
      <a:lvl6pPr marL="2514600" marR="0" indent="-228600" algn="l" defTabSz="457200" rtl="0" latinLnBrk="0">
        <a:lnSpc>
          <a:spcPct val="100000"/>
        </a:lnSpc>
        <a:spcBef>
          <a:spcPts val="400"/>
        </a:spcBef>
        <a:spcAft>
          <a:spcPts val="0"/>
        </a:spcAft>
        <a:buClrTx/>
        <a:buSzPct val="100000"/>
        <a:buFontTx/>
        <a:buChar char="•"/>
        <a:tabLst/>
        <a:defRPr b="0" baseline="0" cap="none" i="0" spc="0" strike="noStrike" sz="2000" u="none">
          <a:solidFill>
            <a:schemeClr val="accent3"/>
          </a:solidFill>
          <a:uFillTx/>
          <a:latin typeface="TheSans UHH"/>
          <a:ea typeface="TheSans UHH"/>
          <a:cs typeface="TheSans UHH"/>
          <a:sym typeface="TheSans UHH"/>
        </a:defRPr>
      </a:lvl6pPr>
      <a:lvl7pPr marL="2971800" marR="0" indent="-228600" algn="l" defTabSz="457200" rtl="0" latinLnBrk="0">
        <a:lnSpc>
          <a:spcPct val="100000"/>
        </a:lnSpc>
        <a:spcBef>
          <a:spcPts val="400"/>
        </a:spcBef>
        <a:spcAft>
          <a:spcPts val="0"/>
        </a:spcAft>
        <a:buClrTx/>
        <a:buSzPct val="100000"/>
        <a:buFontTx/>
        <a:buChar char="•"/>
        <a:tabLst/>
        <a:defRPr b="0" baseline="0" cap="none" i="0" spc="0" strike="noStrike" sz="2000" u="none">
          <a:solidFill>
            <a:schemeClr val="accent3"/>
          </a:solidFill>
          <a:uFillTx/>
          <a:latin typeface="TheSans UHH"/>
          <a:ea typeface="TheSans UHH"/>
          <a:cs typeface="TheSans UHH"/>
          <a:sym typeface="TheSans UHH"/>
        </a:defRPr>
      </a:lvl7pPr>
      <a:lvl8pPr marL="3429000" marR="0" indent="-228600" algn="l" defTabSz="457200" rtl="0" latinLnBrk="0">
        <a:lnSpc>
          <a:spcPct val="100000"/>
        </a:lnSpc>
        <a:spcBef>
          <a:spcPts val="400"/>
        </a:spcBef>
        <a:spcAft>
          <a:spcPts val="0"/>
        </a:spcAft>
        <a:buClrTx/>
        <a:buSzPct val="100000"/>
        <a:buFontTx/>
        <a:buChar char="•"/>
        <a:tabLst/>
        <a:defRPr b="0" baseline="0" cap="none" i="0" spc="0" strike="noStrike" sz="2000" u="none">
          <a:solidFill>
            <a:schemeClr val="accent3"/>
          </a:solidFill>
          <a:uFillTx/>
          <a:latin typeface="TheSans UHH"/>
          <a:ea typeface="TheSans UHH"/>
          <a:cs typeface="TheSans UHH"/>
          <a:sym typeface="TheSans UHH"/>
        </a:defRPr>
      </a:lvl8pPr>
      <a:lvl9pPr marL="3886200" marR="0" indent="-228600" algn="l" defTabSz="457200" rtl="0" latinLnBrk="0">
        <a:lnSpc>
          <a:spcPct val="100000"/>
        </a:lnSpc>
        <a:spcBef>
          <a:spcPts val="400"/>
        </a:spcBef>
        <a:spcAft>
          <a:spcPts val="0"/>
        </a:spcAft>
        <a:buClrTx/>
        <a:buSzPct val="100000"/>
        <a:buFontTx/>
        <a:buChar char="•"/>
        <a:tabLst/>
        <a:defRPr b="0" baseline="0" cap="none" i="0" spc="0" strike="noStrike" sz="2000" u="none">
          <a:solidFill>
            <a:schemeClr val="accent3"/>
          </a:solidFill>
          <a:uFillTx/>
          <a:latin typeface="TheSans UHH"/>
          <a:ea typeface="TheSans UHH"/>
          <a:cs typeface="TheSans UHH"/>
          <a:sym typeface="TheSans UHH"/>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TheSans UHH"/>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tif"/></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uni-hamburg.de/en/antidiskriminierung/kontakt.html" TargetMode="Externa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uni-hamburg.de/studieren-mit-beeintraechtigungen/im-studium/nachteilsausgleich.html"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www2.informatik.uni-hamburg.de/fachschaft/wiki/index.php/Fachschaftsrat" TargetMode="External"/><Relationship Id="rId4" Type="http://schemas.openxmlformats.org/officeDocument/2006/relationships/hyperlink" Target="https://www.asta-uhh.de/"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www.uni-hamburg.de/en/antidiskriminierung/kontakt.html" TargetMode="External"/><Relationship Id="rId4" Type="http://schemas.openxmlformats.org/officeDocument/2006/relationships/hyperlink" Target="https://www.uni-hamburg.de/en/campuscenter/beratung/beschwerdestellen/beschwerdestelle-studierende/kontaktformular-beschwerdestelle-agg.html" TargetMode="External"/><Relationship Id="rId5" Type="http://schemas.openxmlformats.org/officeDocument/2006/relationships/hyperlink" Target="https://www.uni-hamburg.de/en/gleichstellung/ueber-uns.html"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www.inf.uni-hamburg.de/studies/master/ias.html" TargetMode="External"/><Relationship Id="rId4" Type="http://schemas.openxmlformats.org/officeDocument/2006/relationships/hyperlink" Target="https://www.inf.uni-hamburg.de/studies/orga/contact-form-students.html"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www.stwhh.de" TargetMode="External"/><Relationship Id="rId4" Type="http://schemas.openxmlformats.org/officeDocument/2006/relationships/hyperlink" Target="https://www.uni-hamburg.de/en/internationales/studierende/incoming/studium-mit-abschluss/waehrend-des-studiums/aufenthaltstitel.html" TargetMode="External"/><Relationship Id="rId5" Type="http://schemas.openxmlformats.org/officeDocument/2006/relationships/hyperlink" Target="https://www.uni-hamburg.de/en/piasta.html"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www.uni-hamburg.de/en/campuscenter/beratung/psychologische-beratung.html"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www.rrz.uni-hamburg.de/en/beratung-und-kontakt/supportformulare/stine-supportformulare/studierende.html" TargetMode="External"/><Relationship Id="rId4" Type="http://schemas.openxmlformats.org/officeDocument/2006/relationships/image" Target="../media/image2.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www.inf.uni-hamburg.de/en/inst/irz.html" TargetMode="External"/><Relationship Id="rId4" Type="http://schemas.openxmlformats.org/officeDocument/2006/relationships/hyperlink" Target="https://www.rrz.uni-hamburg.de/en/beratung-und-kontakt/serviceline.html" TargetMode="External"/><Relationship Id="rId5" Type="http://schemas.openxmlformats.org/officeDocument/2006/relationships/hyperlink" Target="https://www.inf.uni-hamburg.de/en/inst/fs-inf/about-us/agen.html" TargetMode="Externa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mailto:fsr@informatik.uni-hamburg.de" TargetMode="External"/><Relationship Id="rId4" Type="http://schemas.openxmlformats.org/officeDocument/2006/relationships/hyperlink" Target="mailto:fsr-vertraulich@informatik.uni-hamburg.de" TargetMode="External"/><Relationship Id="rId5" Type="http://schemas.openxmlformats.org/officeDocument/2006/relationships/hyperlink" Target="https://www.asta-uhh.de/" TargetMode="External"/><Relationship Id="rId6" Type="http://schemas.openxmlformats.org/officeDocument/2006/relationships/hyperlink" Target="https://www.uni-hamburg.de/en/antidiskriminierung/kontakt.html" TargetMode="External"/><Relationship Id="rId7" Type="http://schemas.openxmlformats.org/officeDocument/2006/relationships/hyperlink" Target="https://www.uni-hamburg.de/en/campuscenter/beratung/beschwerdestellen/beschwerdestelle-studierende/kontaktformular-beschwerdestelle-agg.html" TargetMode="External"/><Relationship Id="rId8" Type="http://schemas.openxmlformats.org/officeDocument/2006/relationships/hyperlink" Target="https://www.uni-hamburg.de/en/gleichstellung/ueber-uns.html" TargetMode="External"/><Relationship Id="rId9" Type="http://schemas.openxmlformats.org/officeDocument/2006/relationships/hyperlink" Target="https://www.uni-hamburg.de/en/campuscenter/beratung/psychologische-beratung.html" TargetMode="External"/><Relationship Id="rId10" Type="http://schemas.openxmlformats.org/officeDocument/2006/relationships/hyperlink" Target="https://www.uni-hamburg.de/studieren-mit-beeintraechtigungen/im-studium/nachteilsausgleich.html" TargetMode="External"/></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www.inf.uni-hamburg.de/studies/master/ias.html" TargetMode="External"/><Relationship Id="rId4" Type="http://schemas.openxmlformats.org/officeDocument/2006/relationships/hyperlink" Target="https://www.inf.uni-hamburg.de/studies/orga/contact-form-students.html" TargetMode="External"/><Relationship Id="rId5" Type="http://schemas.openxmlformats.org/officeDocument/2006/relationships/hyperlink" Target="https://www.uni-hamburg.de/en/campuscenter.html" TargetMode="External"/><Relationship Id="rId6" Type="http://schemas.openxmlformats.org/officeDocument/2006/relationships/hyperlink" Target="https://www.uni-hamburg.de/en/internationales/studierende/incoming/studium-mit-abschluss/waehrend-des-studiums/aufenthaltstitel.html" TargetMode="External"/><Relationship Id="rId7" Type="http://schemas.openxmlformats.org/officeDocument/2006/relationships/hyperlink" Target="https://www.rrz.uni-hamburg.de/en/beratung-und-kontakt/supportformulare/stine-supportformulare/studierende.html" TargetMode="External"/><Relationship Id="rId8" Type="http://schemas.openxmlformats.org/officeDocument/2006/relationships/hyperlink" Target="https://www.inf.uni-hamburg.de/en/inst/irz.html" TargetMode="External"/><Relationship Id="rId9" Type="http://schemas.openxmlformats.org/officeDocument/2006/relationships/hyperlink" Target="https://www.rrz.uni-hamburg.de/en/beratung-und-kontakt/serviceline.html" TargetMode="External"/><Relationship Id="rId10" Type="http://schemas.openxmlformats.org/officeDocument/2006/relationships/hyperlink" Target="mailto:ag-server@informatik.uni-hamburg.de" TargetMode="Externa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Type="http://schemas.openxmlformats.org/officeDocument/2006/relationships/slideLayout" Target="../slideLayouts/slideLayout6.xml" Id="R584959d8fd5244e7"/><Relationship Type="http://schemas.openxmlformats.org/officeDocument/2006/relationships/hyperlink" Target="https://www.116117.de/de/englisch.php" TargetMode="External" Id="Rcf628b9d306b480e"/><Relationship Type="http://schemas.openxmlformats.org/officeDocument/2006/relationships/notesSlide" Target="../notesSlides/notesSlide19.xml" Id="Rcaf6cdd9caf345cc"/></Relationships>
</file>

<file path=ppt/slides/_rels/slide20.xml.rels><?xml version='1.0' encoding='UTF-8' standalone='yes'?>
<Relationships xmlns="http://schemas.openxmlformats.org/package/2006/relationships"><Relationship Type="http://schemas.openxmlformats.org/officeDocument/2006/relationships/slideLayout" Target="../slideLayouts/slideLayout6.xml" Id="R7176755199ce4ce4"/><Relationship Type="http://schemas.openxmlformats.org/officeDocument/2006/relationships/hyperlink" Target="https://www.inf.uni-hamburg.de/en/studies/master/dsai.html" TargetMode="External" Id="Rf77cfceffea2430b"/><Relationship Type="http://schemas.openxmlformats.org/officeDocument/2006/relationships/hyperlink" Target="https://www.inf.uni-hamburg.de/en/studies/master/dsai/dsai-curriculum.html" TargetMode="External" Id="R242585f2d3f74e59"/><Relationship Type="http://schemas.openxmlformats.org/officeDocument/2006/relationships/hyperlink" Target="https://www.inf.uni-hamburg.de/en/studies/master/dsai/msc-dsai-schedule-ws-1-sem.pdf" TargetMode="External" Id="Re52a91fcbb964700"/><Relationship Type="http://schemas.openxmlformats.org/officeDocument/2006/relationships/notesSlide" Target="../notesSlides/notesSlide20.xml" Id="R6bc17c707e204c67"/></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Awareness and support in your first semester…"/>
          <p:cNvSpPr txBox="1"/>
          <p:nvPr/>
        </p:nvSpPr>
        <p:spPr>
          <a:xfrm>
            <a:off x="323850" y="2428875"/>
            <a:ext cx="8096250" cy="609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000">
                <a:solidFill>
                  <a:srgbClr val="FFFFFF"/>
                </a:solidFill>
                <a:latin typeface="TheSans UHH"/>
                <a:ea typeface="TheSans UHH"/>
                <a:cs typeface="TheSans UHH"/>
                <a:sym typeface="TheSans UHH"/>
              </a:defRPr>
            </a:pPr>
            <a:r>
              <a:t>Awareness and support in your first semester</a:t>
            </a:r>
          </a:p>
          <a:p>
            <a:pPr>
              <a:defRPr sz="2000">
                <a:solidFill>
                  <a:srgbClr val="FFFFFF"/>
                </a:solidFill>
                <a:latin typeface="TheSans UHH"/>
                <a:ea typeface="TheSans UHH"/>
                <a:cs typeface="TheSans UHH"/>
                <a:sym typeface="TheSans UHH"/>
              </a:defRPr>
            </a:pPr>
            <a:r>
              <a:t>Intelligent Adaptive Systems</a:t>
            </a:r>
          </a:p>
        </p:txBody>
      </p:sp>
      <p:sp>
        <p:nvSpPr>
          <p:cNvPr id="183" name="Titel 2"/>
          <p:cNvSpPr txBox="1"/>
          <p:nvPr>
            <p:ph type="title"/>
          </p:nvPr>
        </p:nvSpPr>
        <p:spPr>
          <a:xfrm>
            <a:off x="251519" y="3994927"/>
            <a:ext cx="8096402" cy="1015200"/>
          </a:xfrm>
          <a:prstGeom prst="rect">
            <a:avLst/>
          </a:prstGeom>
        </p:spPr>
        <p:txBody>
          <a:bodyPr/>
          <a:lstStyle/>
          <a:p>
            <a:pPr/>
            <a:r>
              <a:t>Working together at IAS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188" name="Working in an international group"/>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Working in an international group</a:t>
            </a:r>
          </a:p>
        </p:txBody>
      </p:sp>
      <p:sp>
        <p:nvSpPr>
          <p:cNvPr id="189" name="A good model is easier with a good team."/>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 good model is easier with a good team.</a:t>
            </a:r>
          </a:p>
        </p:txBody>
      </p:sp>
      <p:sp>
        <p:nvSpPr>
          <p:cNvPr id="190" name="When a situation gets complicated"/>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When a situation gets complicated</a:t>
            </a:r>
          </a:p>
        </p:txBody>
      </p:sp>
      <p:sp>
        <p:nvSpPr>
          <p:cNvPr id="191" name="You can ask for advice before choosing a next step."/>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You can ask for advice before choosing a next step.</a:t>
            </a:r>
          </a:p>
        </p:txBody>
      </p:sp>
      <p:sp>
        <p:nvSpPr>
          <p:cNvPr id="192" name="Getting your studies unstuck"/>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Getting your studies unstuck</a:t>
            </a:r>
          </a:p>
        </p:txBody>
      </p:sp>
      <p:sp>
        <p:nvSpPr>
          <p:cNvPr id="193" name="When the bug is in the portal, who can help?"/>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When the bug is in the portal, who can help?</a:t>
            </a:r>
          </a:p>
        </p:txBody>
      </p:sp>
      <p:sp>
        <p:nvSpPr>
          <p:cNvPr id="194" name="Titel"/>
          <p:cNvSpPr txBox="1"/>
          <p:nvPr>
            <p:ph type="title"/>
          </p:nvPr>
        </p:nvSpPr>
        <p:spPr>
          <a:xfrm>
            <a:off x="214768" y="1203598"/>
            <a:ext cx="8533695" cy="503883"/>
          </a:xfrm>
          <a:prstGeom prst="rect">
            <a:avLst/>
          </a:prstGeom>
        </p:spPr>
        <p:txBody>
          <a:bodyPr/>
          <a:lstStyle/>
          <a:p>
            <a:pPr/>
            <a:r>
              <a:t>What would be useful today?</a:t>
            </a:r>
          </a:p>
        </p:txBody>
      </p:sp>
      <p:sp>
        <p:nvSpPr>
          <p:cNvPr id="195"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00" name="“Let’s schedule one…"/>
          <p:cNvSpPr txBox="1"/>
          <p:nvPr/>
        </p:nvSpPr>
        <p:spPr>
          <a:xfrm>
            <a:off x="309563" y="1847850"/>
            <a:ext cx="4333876" cy="736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latin typeface="TheSans UHH"/>
                <a:ea typeface="TheSans UHH"/>
                <a:cs typeface="TheSans UHH"/>
                <a:sym typeface="TheSans UHH"/>
              </a:defRPr>
            </a:pPr>
            <a:r>
              <a:t>“Let’s schedule one</a:t>
            </a:r>
          </a:p>
          <a:p>
            <a:pPr>
              <a:defRPr b="1" sz="2400">
                <a:latin typeface="TheSans UHH"/>
                <a:ea typeface="TheSans UHH"/>
                <a:cs typeface="TheSans UHH"/>
                <a:sym typeface="TheSans UHH"/>
              </a:defRPr>
            </a:pPr>
            <a:r>
              <a:t>quick meeting. Easy Peasy”</a:t>
            </a:r>
          </a:p>
        </p:txBody>
      </p:sp>
      <p:sp>
        <p:nvSpPr>
          <p:cNvPr id="201" name="Titel"/>
          <p:cNvSpPr txBox="1"/>
          <p:nvPr>
            <p:ph type="title"/>
          </p:nvPr>
        </p:nvSpPr>
        <p:spPr>
          <a:xfrm>
            <a:off x="214768" y="1203598"/>
            <a:ext cx="8533695" cy="503883"/>
          </a:xfrm>
          <a:prstGeom prst="rect">
            <a:avLst/>
          </a:prstGeom>
        </p:spPr>
        <p:txBody>
          <a:bodyPr/>
          <a:lstStyle/>
          <a:p>
            <a:pPr/>
            <a:r>
              <a:t>Awareness in a master’s programme</a:t>
            </a:r>
          </a:p>
        </p:txBody>
      </p:sp>
      <p:sp>
        <p:nvSpPr>
          <p:cNvPr id="202"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3" name="Image" descr="Image"/>
          <p:cNvPicPr>
            <a:picLocks noChangeAspect="1"/>
          </p:cNvPicPr>
          <p:nvPr/>
        </p:nvPicPr>
        <p:blipFill>
          <a:blip r:embed="rId3">
            <a:extLst/>
          </a:blip>
          <a:stretch>
            <a:fillRect/>
          </a:stretch>
        </p:blipFill>
        <p:spPr>
          <a:xfrm>
            <a:off x="5032806" y="1899728"/>
            <a:ext cx="3516600" cy="267758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Fußzeile"/>
          <p:cNvSpPr txBox="1"/>
          <p:nvPr/>
        </p:nvSpPr>
        <p:spPr>
          <a:xfrm>
            <a:off x="2813699" y="4768702"/>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08" name="27 tutors. One “quick” meeting."/>
          <p:cNvSpPr txBox="1"/>
          <p:nvPr/>
        </p:nvSpPr>
        <p:spPr>
          <a:xfrm>
            <a:off x="309563" y="1838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27 tutors. One “quick” meeting.</a:t>
            </a:r>
          </a:p>
        </p:txBody>
      </p:sp>
      <p:sp>
        <p:nvSpPr>
          <p:cNvPr id="209" name="THE PLAN"/>
          <p:cNvSpPr txBox="1"/>
          <p:nvPr/>
        </p:nvSpPr>
        <p:spPr>
          <a:xfrm>
            <a:off x="309563" y="2228850"/>
            <a:ext cx="3857626"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chemeClr val="accent2"/>
                </a:solidFill>
                <a:latin typeface="TheSans UHH"/>
                <a:ea typeface="TheSans UHH"/>
                <a:cs typeface="TheSans UHH"/>
                <a:sym typeface="TheSans UHH"/>
              </a:defRPr>
            </a:lvl1pPr>
          </a:lstStyle>
          <a:p>
            <a:pPr/>
            <a:r>
              <a:t>THE PLAN</a:t>
            </a:r>
          </a:p>
        </p:txBody>
      </p:sp>
      <p:sp>
        <p:nvSpPr>
          <p:cNvPr id="210" name="A"/>
          <p:cNvSpPr txBox="1"/>
          <p:nvPr/>
        </p:nvSpPr>
        <p:spPr>
          <a:xfrm>
            <a:off x="309563" y="2571750"/>
            <a:ext cx="3048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A</a:t>
            </a:r>
          </a:p>
        </p:txBody>
      </p:sp>
      <p:sp>
        <p:nvSpPr>
          <p:cNvPr id="211" name="Quick meeting next week?"/>
          <p:cNvSpPr txBox="1"/>
          <p:nvPr/>
        </p:nvSpPr>
        <p:spPr>
          <a:xfrm>
            <a:off x="888206" y="2571750"/>
            <a:ext cx="35814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Quick meeting next week?</a:t>
            </a:r>
          </a:p>
        </p:txBody>
      </p:sp>
      <p:sp>
        <p:nvSpPr>
          <p:cNvPr id="212" name="B"/>
          <p:cNvSpPr txBox="1"/>
          <p:nvPr/>
        </p:nvSpPr>
        <p:spPr>
          <a:xfrm>
            <a:off x="309563" y="2914650"/>
            <a:ext cx="3048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B</a:t>
            </a:r>
          </a:p>
        </p:txBody>
      </p:sp>
      <p:sp>
        <p:nvSpPr>
          <p:cNvPr id="213" name="August works!"/>
          <p:cNvSpPr txBox="1"/>
          <p:nvPr/>
        </p:nvSpPr>
        <p:spPr>
          <a:xfrm>
            <a:off x="888206" y="2914650"/>
            <a:ext cx="35814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August works!</a:t>
            </a:r>
          </a:p>
        </p:txBody>
      </p:sp>
      <p:sp>
        <p:nvSpPr>
          <p:cNvPr id="214" name="A"/>
          <p:cNvSpPr txBox="1"/>
          <p:nvPr/>
        </p:nvSpPr>
        <p:spPr>
          <a:xfrm>
            <a:off x="309563" y="3257550"/>
            <a:ext cx="3048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A</a:t>
            </a:r>
          </a:p>
        </p:txBody>
      </p:sp>
      <p:sp>
        <p:nvSpPr>
          <p:cNvPr id="215" name="Wednesday, 13:00. Sorted."/>
          <p:cNvSpPr txBox="1"/>
          <p:nvPr/>
        </p:nvSpPr>
        <p:spPr>
          <a:xfrm>
            <a:off x="888206" y="3257550"/>
            <a:ext cx="35814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Wednesday, 13:00. Sorted.</a:t>
            </a:r>
          </a:p>
        </p:txBody>
      </p:sp>
      <p:sp>
        <p:nvSpPr>
          <p:cNvPr id="216" name="A"/>
          <p:cNvSpPr txBox="1"/>
          <p:nvPr/>
        </p:nvSpPr>
        <p:spPr>
          <a:xfrm>
            <a:off x="309563" y="3600450"/>
            <a:ext cx="3048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A</a:t>
            </a:r>
          </a:p>
        </p:txBody>
      </p:sp>
      <p:sp>
        <p:nvSpPr>
          <p:cNvPr id="217" name="Actually… Thursday?"/>
          <p:cNvSpPr txBox="1"/>
          <p:nvPr/>
        </p:nvSpPr>
        <p:spPr>
          <a:xfrm>
            <a:off x="888206" y="3600450"/>
            <a:ext cx="35814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Actually… Thursday?</a:t>
            </a:r>
          </a:p>
        </p:txBody>
      </p:sp>
      <p:sp>
        <p:nvSpPr>
          <p:cNvPr id="218" name="C"/>
          <p:cNvSpPr txBox="1"/>
          <p:nvPr/>
        </p:nvSpPr>
        <p:spPr>
          <a:xfrm>
            <a:off x="309563" y="3943350"/>
            <a:ext cx="3048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C</a:t>
            </a:r>
          </a:p>
        </p:txBody>
      </p:sp>
      <p:sp>
        <p:nvSpPr>
          <p:cNvPr id="219" name="Maybe keep Wednesday?"/>
          <p:cNvSpPr txBox="1"/>
          <p:nvPr/>
        </p:nvSpPr>
        <p:spPr>
          <a:xfrm>
            <a:off x="888206" y="3943350"/>
            <a:ext cx="358140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Maybe keep Wednesday?</a:t>
            </a:r>
          </a:p>
        </p:txBody>
      </p:sp>
      <p:sp>
        <p:nvSpPr>
          <p:cNvPr id="220" name="THE POLL"/>
          <p:cNvSpPr txBox="1"/>
          <p:nvPr/>
        </p:nvSpPr>
        <p:spPr>
          <a:xfrm>
            <a:off x="4743450" y="2228850"/>
            <a:ext cx="3914775" cy="215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400">
                <a:solidFill>
                  <a:schemeClr val="accent2"/>
                </a:solidFill>
                <a:latin typeface="TheSans UHH"/>
                <a:ea typeface="TheSans UHH"/>
                <a:cs typeface="TheSans UHH"/>
                <a:sym typeface="TheSans UHH"/>
              </a:defRPr>
            </a:lvl1pPr>
          </a:lstStyle>
          <a:p>
            <a:pPr/>
            <a:r>
              <a:t>THE POLL</a:t>
            </a:r>
          </a:p>
        </p:txBody>
      </p:sp>
      <p:sp>
        <p:nvSpPr>
          <p:cNvPr id="221" name="Wednesday: 5     Thursday: 5"/>
          <p:cNvSpPr txBox="1"/>
          <p:nvPr/>
        </p:nvSpPr>
        <p:spPr>
          <a:xfrm>
            <a:off x="5257570" y="2566987"/>
            <a:ext cx="3914776" cy="292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900">
                <a:latin typeface="TheSans UHH"/>
                <a:ea typeface="TheSans UHH"/>
                <a:cs typeface="TheSans UHH"/>
                <a:sym typeface="TheSans UHH"/>
              </a:defRPr>
            </a:lvl1pPr>
          </a:lstStyle>
          <a:p>
            <a:pPr/>
            <a:r>
              <a:t>Wednesday: 5     Thursday: 5</a:t>
            </a:r>
          </a:p>
        </p:txBody>
      </p:sp>
      <p:sp>
        <p:nvSpPr>
          <p:cNvPr id="222" name="D"/>
          <p:cNvSpPr txBox="1"/>
          <p:nvPr/>
        </p:nvSpPr>
        <p:spPr>
          <a:xfrm>
            <a:off x="4743450" y="2914650"/>
            <a:ext cx="304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D</a:t>
            </a:r>
          </a:p>
        </p:txBody>
      </p:sp>
      <p:sp>
        <p:nvSpPr>
          <p:cNvPr id="223" name="Both work. I won’t vote."/>
          <p:cNvSpPr txBox="1"/>
          <p:nvPr/>
        </p:nvSpPr>
        <p:spPr>
          <a:xfrm>
            <a:off x="5277461" y="2922510"/>
            <a:ext cx="35433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Both work. I won’t vote.</a:t>
            </a:r>
          </a:p>
        </p:txBody>
      </p:sp>
      <p:sp>
        <p:nvSpPr>
          <p:cNvPr id="224" name="A"/>
          <p:cNvSpPr txBox="1"/>
          <p:nvPr/>
        </p:nvSpPr>
        <p:spPr>
          <a:xfrm>
            <a:off x="4743450" y="3228975"/>
            <a:ext cx="304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A</a:t>
            </a:r>
          </a:p>
        </p:txBody>
      </p:sp>
      <p:sp>
        <p:nvSpPr>
          <p:cNvPr id="225" name="Then vote for both."/>
          <p:cNvSpPr txBox="1"/>
          <p:nvPr/>
        </p:nvSpPr>
        <p:spPr>
          <a:xfrm>
            <a:off x="5277461" y="3230562"/>
            <a:ext cx="35433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Then vote for both.</a:t>
            </a:r>
          </a:p>
        </p:txBody>
      </p:sp>
      <p:sp>
        <p:nvSpPr>
          <p:cNvPr id="226" name="D"/>
          <p:cNvSpPr txBox="1"/>
          <p:nvPr/>
        </p:nvSpPr>
        <p:spPr>
          <a:xfrm>
            <a:off x="4743450" y="3543300"/>
            <a:ext cx="304800"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D</a:t>
            </a:r>
          </a:p>
        </p:txBody>
      </p:sp>
      <p:sp>
        <p:nvSpPr>
          <p:cNvPr id="227" name="Wait… I can?!"/>
          <p:cNvSpPr txBox="1"/>
          <p:nvPr/>
        </p:nvSpPr>
        <p:spPr>
          <a:xfrm>
            <a:off x="5277461" y="3544887"/>
            <a:ext cx="354330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Wait… I can?!</a:t>
            </a:r>
          </a:p>
        </p:txBody>
      </p:sp>
      <p:sp>
        <p:nvSpPr>
          <p:cNvPr id="228" name="On Wednesday:"/>
          <p:cNvSpPr txBox="1"/>
          <p:nvPr/>
        </p:nvSpPr>
        <p:spPr>
          <a:xfrm>
            <a:off x="4743450" y="3886200"/>
            <a:ext cx="3914775"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300">
                <a:solidFill>
                  <a:schemeClr val="accent2"/>
                </a:solidFill>
                <a:latin typeface="TheSans UHH"/>
                <a:ea typeface="TheSans UHH"/>
                <a:cs typeface="TheSans UHH"/>
                <a:sym typeface="TheSans UHH"/>
              </a:defRPr>
            </a:lvl1pPr>
          </a:lstStyle>
          <a:p>
            <a:pPr/>
            <a:r>
              <a:t>On Wednesday:</a:t>
            </a:r>
          </a:p>
        </p:txBody>
      </p:sp>
      <p:sp>
        <p:nvSpPr>
          <p:cNvPr id="229" name="D: I arrive at 14:00.   C: I leave at 14:00."/>
          <p:cNvSpPr txBox="1"/>
          <p:nvPr/>
        </p:nvSpPr>
        <p:spPr>
          <a:xfrm>
            <a:off x="4743450" y="4152825"/>
            <a:ext cx="392430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atin typeface="TheSans UHH"/>
                <a:ea typeface="TheSans UHH"/>
                <a:cs typeface="TheSans UHH"/>
                <a:sym typeface="TheSans UHH"/>
              </a:defRPr>
            </a:lvl1pPr>
          </a:lstStyle>
          <a:p>
            <a:pPr/>
            <a:r>
              <a:t>D: I arrive at 14:00.   C: I leave at 14:00.</a:t>
            </a:r>
          </a:p>
        </p:txBody>
      </p:sp>
      <p:sp>
        <p:nvSpPr>
          <p:cNvPr id="230" name="A: Tomorrow, 13:00 then."/>
          <p:cNvSpPr txBox="1"/>
          <p:nvPr/>
        </p:nvSpPr>
        <p:spPr>
          <a:xfrm>
            <a:off x="4743450" y="4419525"/>
            <a:ext cx="3924300"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A: Tomorrow, 13:00 then.</a:t>
            </a:r>
          </a:p>
        </p:txBody>
      </p:sp>
      <p:sp>
        <p:nvSpPr>
          <p:cNvPr id="231" name="Titel"/>
          <p:cNvSpPr txBox="1"/>
          <p:nvPr>
            <p:ph type="title"/>
          </p:nvPr>
        </p:nvSpPr>
        <p:spPr>
          <a:xfrm>
            <a:off x="214768" y="1203598"/>
            <a:ext cx="8533695" cy="503883"/>
          </a:xfrm>
          <a:prstGeom prst="rect">
            <a:avLst/>
          </a:prstGeom>
        </p:spPr>
        <p:txBody>
          <a:bodyPr/>
          <a:lstStyle/>
          <a:p>
            <a:pPr/>
            <a:r>
              <a:t>Our tutors tried to plan ONE meeting</a:t>
            </a:r>
          </a:p>
        </p:txBody>
      </p:sp>
      <p:sp>
        <p:nvSpPr>
          <p:cNvPr id="232"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233" name="22 Jul"/>
          <p:cNvSpPr txBox="1"/>
          <p:nvPr/>
        </p:nvSpPr>
        <p:spPr>
          <a:xfrm>
            <a:off x="546731" y="26479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22 Jul</a:t>
            </a:r>
          </a:p>
        </p:txBody>
      </p:sp>
      <p:sp>
        <p:nvSpPr>
          <p:cNvPr id="234" name="22 Jul"/>
          <p:cNvSpPr txBox="1"/>
          <p:nvPr/>
        </p:nvSpPr>
        <p:spPr>
          <a:xfrm>
            <a:off x="546731" y="29908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22 Jul</a:t>
            </a:r>
          </a:p>
        </p:txBody>
      </p:sp>
      <p:sp>
        <p:nvSpPr>
          <p:cNvPr id="235" name="1 Aug"/>
          <p:cNvSpPr txBox="1"/>
          <p:nvPr/>
        </p:nvSpPr>
        <p:spPr>
          <a:xfrm>
            <a:off x="546731" y="33337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1 Aug</a:t>
            </a:r>
          </a:p>
        </p:txBody>
      </p:sp>
      <p:sp>
        <p:nvSpPr>
          <p:cNvPr id="236" name="3 Aug"/>
          <p:cNvSpPr txBox="1"/>
          <p:nvPr/>
        </p:nvSpPr>
        <p:spPr>
          <a:xfrm>
            <a:off x="546731" y="368300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3 Aug</a:t>
            </a:r>
          </a:p>
        </p:txBody>
      </p:sp>
      <p:sp>
        <p:nvSpPr>
          <p:cNvPr id="237" name="4 Aug"/>
          <p:cNvSpPr txBox="1"/>
          <p:nvPr/>
        </p:nvSpPr>
        <p:spPr>
          <a:xfrm>
            <a:off x="546731" y="40322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4 Aug</a:t>
            </a:r>
          </a:p>
        </p:txBody>
      </p:sp>
      <p:sp>
        <p:nvSpPr>
          <p:cNvPr id="238" name="A"/>
          <p:cNvSpPr txBox="1"/>
          <p:nvPr/>
        </p:nvSpPr>
        <p:spPr>
          <a:xfrm>
            <a:off x="4743450" y="2563812"/>
            <a:ext cx="304800"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solidFill>
                  <a:schemeClr val="accent2"/>
                </a:solidFill>
                <a:latin typeface="TheSans UHH"/>
                <a:ea typeface="TheSans UHH"/>
                <a:cs typeface="TheSans UHH"/>
                <a:sym typeface="TheSans UHH"/>
              </a:defRPr>
            </a:lvl1pPr>
          </a:lstStyle>
          <a:p>
            <a:pPr/>
            <a:r>
              <a:t>A</a:t>
            </a:r>
          </a:p>
        </p:txBody>
      </p:sp>
      <p:sp>
        <p:nvSpPr>
          <p:cNvPr id="239" name="4 Aug"/>
          <p:cNvSpPr txBox="1"/>
          <p:nvPr/>
        </p:nvSpPr>
        <p:spPr>
          <a:xfrm>
            <a:off x="4939707" y="26479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4 Aug</a:t>
            </a:r>
          </a:p>
        </p:txBody>
      </p:sp>
      <p:sp>
        <p:nvSpPr>
          <p:cNvPr id="240" name="4 Aug"/>
          <p:cNvSpPr txBox="1"/>
          <p:nvPr/>
        </p:nvSpPr>
        <p:spPr>
          <a:xfrm>
            <a:off x="4939707" y="29908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4 Aug</a:t>
            </a:r>
          </a:p>
        </p:txBody>
      </p:sp>
      <p:sp>
        <p:nvSpPr>
          <p:cNvPr id="241" name="4 Aug"/>
          <p:cNvSpPr txBox="1"/>
          <p:nvPr/>
        </p:nvSpPr>
        <p:spPr>
          <a:xfrm>
            <a:off x="4939707" y="3333750"/>
            <a:ext cx="304801" cy="127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4 Aug</a:t>
            </a:r>
          </a:p>
        </p:txBody>
      </p:sp>
      <p:sp>
        <p:nvSpPr>
          <p:cNvPr id="242" name="4 Aug"/>
          <p:cNvSpPr txBox="1"/>
          <p:nvPr/>
        </p:nvSpPr>
        <p:spPr>
          <a:xfrm>
            <a:off x="4939707" y="3592829"/>
            <a:ext cx="304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i="1" sz="800">
                <a:solidFill>
                  <a:schemeClr val="accent2"/>
                </a:solidFill>
                <a:latin typeface="TheSans UHH"/>
                <a:ea typeface="TheSans UHH"/>
                <a:cs typeface="TheSans UHH"/>
                <a:sym typeface="TheSans UHH"/>
              </a:defRPr>
            </a:lvl1pPr>
          </a:lstStyle>
          <a:p>
            <a:pPr/>
            <a:r>
              <a:t>4 Aug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47" name="“Wait, what did…"/>
          <p:cNvSpPr txBox="1"/>
          <p:nvPr/>
        </p:nvSpPr>
        <p:spPr>
          <a:xfrm>
            <a:off x="309563" y="1847850"/>
            <a:ext cx="4333876" cy="736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2400">
                <a:latin typeface="TheSans UHH"/>
                <a:ea typeface="TheSans UHH"/>
                <a:cs typeface="TheSans UHH"/>
                <a:sym typeface="TheSans UHH"/>
              </a:defRPr>
            </a:pPr>
            <a:r>
              <a:t>“Wait, what did</a:t>
            </a:r>
          </a:p>
          <a:p>
            <a:pPr>
              <a:defRPr b="1" sz="2400">
                <a:latin typeface="TheSans UHH"/>
                <a:ea typeface="TheSans UHH"/>
                <a:cs typeface="TheSans UHH"/>
                <a:sym typeface="TheSans UHH"/>
              </a:defRPr>
            </a:pPr>
            <a:r>
              <a:t>we agree on?”</a:t>
            </a:r>
          </a:p>
        </p:txBody>
      </p:sp>
      <p:sp>
        <p:nvSpPr>
          <p:cNvPr id="248" name="A language everyone can follow…"/>
          <p:cNvSpPr txBox="1"/>
          <p:nvPr/>
        </p:nvSpPr>
        <p:spPr>
          <a:xfrm>
            <a:off x="309563" y="2978507"/>
            <a:ext cx="4333876" cy="1117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0473" indent="-180473">
              <a:buSzPct val="100000"/>
              <a:buChar char="•"/>
              <a:defRPr>
                <a:latin typeface="TheSans UHH"/>
                <a:ea typeface="TheSans UHH"/>
                <a:cs typeface="TheSans UHH"/>
                <a:sym typeface="TheSans UHH"/>
              </a:defRPr>
            </a:pPr>
            <a:r>
              <a:t>A language everyone can follow</a:t>
            </a:r>
          </a:p>
          <a:p>
            <a:pPr marL="180473" indent="-180473">
              <a:buSzPct val="100000"/>
              <a:buChar char="•"/>
              <a:defRPr>
                <a:latin typeface="TheSans UHH"/>
                <a:ea typeface="TheSans UHH"/>
                <a:cs typeface="TheSans UHH"/>
                <a:sym typeface="TheSans UHH"/>
              </a:defRPr>
            </a:pPr>
            <a:r>
              <a:t>Clear roles and credit for the work</a:t>
            </a:r>
          </a:p>
          <a:p>
            <a:pPr marL="180473" indent="-180473">
              <a:buSzPct val="100000"/>
              <a:buChar char="•"/>
              <a:defRPr>
                <a:latin typeface="TheSans UHH"/>
                <a:ea typeface="TheSans UHH"/>
                <a:cs typeface="TheSans UHH"/>
                <a:sym typeface="TheSans UHH"/>
              </a:defRPr>
            </a:pPr>
            <a:r>
              <a:t>Use tools to help</a:t>
            </a:r>
          </a:p>
          <a:p>
            <a:pPr marL="180473" indent="-180473">
              <a:buSzPct val="100000"/>
              <a:buChar char="•"/>
              <a:defRPr>
                <a:latin typeface="TheSans UHH"/>
                <a:ea typeface="TheSans UHH"/>
                <a:cs typeface="TheSans UHH"/>
                <a:sym typeface="TheSans UHH"/>
              </a:defRPr>
            </a:pPr>
            <a:r>
              <a:t>Realistic deadlines and response times</a:t>
            </a:r>
          </a:p>
        </p:txBody>
      </p:sp>
      <p:sp>
        <p:nvSpPr>
          <p:cNvPr id="249" name="Titel"/>
          <p:cNvSpPr txBox="1"/>
          <p:nvPr>
            <p:ph type="title"/>
          </p:nvPr>
        </p:nvSpPr>
        <p:spPr>
          <a:xfrm>
            <a:off x="214768" y="1203598"/>
            <a:ext cx="8533695" cy="503883"/>
          </a:xfrm>
          <a:prstGeom prst="rect">
            <a:avLst/>
          </a:prstGeom>
        </p:spPr>
        <p:txBody>
          <a:bodyPr/>
          <a:lstStyle/>
          <a:p>
            <a:pPr/>
            <a:r>
              <a:t>Working agreements for project teams</a:t>
            </a:r>
          </a:p>
        </p:txBody>
      </p:sp>
      <p:sp>
        <p:nvSpPr>
          <p:cNvPr id="250"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51" name="image2.jpeg" descr="image2.jpeg"/>
          <p:cNvPicPr>
            <a:picLocks noChangeAspect="1"/>
          </p:cNvPicPr>
          <p:nvPr/>
        </p:nvPicPr>
        <p:blipFill>
          <a:blip r:embed="rId3">
            <a:extLst/>
          </a:blip>
          <a:stretch>
            <a:fillRect/>
          </a:stretch>
        </p:blipFill>
        <p:spPr>
          <a:xfrm>
            <a:off x="5591175" y="2266950"/>
            <a:ext cx="2286000" cy="2286000"/>
          </a:xfrm>
          <a:prstGeom prst="rect">
            <a:avLst/>
          </a:prstGeom>
          <a:ln w="12700">
            <a:miter lim="400000"/>
          </a:ln>
        </p:spPr>
      </p:pic>
      <p:grpSp>
        <p:nvGrpSpPr>
          <p:cNvPr id="254" name="Group"/>
          <p:cNvGrpSpPr/>
          <p:nvPr/>
        </p:nvGrpSpPr>
        <p:grpSpPr>
          <a:xfrm>
            <a:off x="4743450" y="1809749"/>
            <a:ext cx="3943350" cy="574042"/>
            <a:chOff x="0" y="0"/>
            <a:chExt cx="3943350" cy="574040"/>
          </a:xfrm>
        </p:grpSpPr>
        <p:sp>
          <p:nvSpPr>
            <p:cNvPr id="252" name="Rectangle"/>
            <p:cNvSpPr/>
            <p:nvPr/>
          </p:nvSpPr>
          <p:spPr>
            <a:xfrm>
              <a:off x="0" y="0"/>
              <a:ext cx="3943350" cy="571500"/>
            </a:xfrm>
            <a:prstGeom prst="rect">
              <a:avLst/>
            </a:prstGeom>
            <a:solidFill>
              <a:srgbClr val="111111"/>
            </a:solidFill>
            <a:ln w="12700" cap="flat">
              <a:noFill/>
              <a:miter lim="400000"/>
            </a:ln>
            <a:effectLst/>
          </p:spPr>
          <p:txBody>
            <a:bodyPr wrap="square" lIns="0" tIns="0" rIns="0" bIns="0" numCol="1" anchor="t">
              <a:noAutofit/>
            </a:bodyPr>
            <a:lstStyle/>
            <a:p>
              <a:pPr algn="ctr">
                <a:defRPr b="1" sz="1600">
                  <a:solidFill>
                    <a:srgbClr val="FFFFFF"/>
                  </a:solidFill>
                  <a:latin typeface="TheSans UHH"/>
                  <a:ea typeface="TheSans UHH"/>
                  <a:cs typeface="TheSans UHH"/>
                  <a:sym typeface="TheSans UHH"/>
                </a:defRPr>
              </a:pPr>
            </a:p>
          </p:txBody>
        </p:sp>
        <p:sp>
          <p:nvSpPr>
            <p:cNvPr id="253" name="WHEN THE GROUP CHAT SAYS…"/>
            <p:cNvSpPr txBox="1"/>
            <p:nvPr/>
          </p:nvSpPr>
          <p:spPr>
            <a:xfrm>
              <a:off x="45719" y="0"/>
              <a:ext cx="3851911" cy="574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b="1" sz="1600">
                  <a:solidFill>
                    <a:srgbClr val="FFFFFF"/>
                  </a:solidFill>
                  <a:latin typeface="TheSans UHH"/>
                  <a:ea typeface="TheSans UHH"/>
                  <a:cs typeface="TheSans UHH"/>
                  <a:sym typeface="TheSans UHH"/>
                </a:defRPr>
              </a:pPr>
              <a:r>
                <a:t>WHEN THE GROUP CHAT SAYS</a:t>
              </a:r>
            </a:p>
            <a:p>
              <a:pPr algn="ctr">
                <a:defRPr b="1" sz="1600">
                  <a:solidFill>
                    <a:srgbClr val="FFFFFF"/>
                  </a:solidFill>
                  <a:latin typeface="TheSans UHH"/>
                  <a:ea typeface="TheSans UHH"/>
                  <a:cs typeface="TheSans UHH"/>
                  <a:sym typeface="TheSans UHH"/>
                </a:defRPr>
              </a:pPr>
              <a:r>
                <a:t>“AS WE AGREED”</a:t>
              </a:r>
            </a:p>
          </p:txBody>
        </p:sp>
      </p:grpSp>
      <p:grpSp>
        <p:nvGrpSpPr>
          <p:cNvPr id="257" name="Group"/>
          <p:cNvGrpSpPr/>
          <p:nvPr/>
        </p:nvGrpSpPr>
        <p:grpSpPr>
          <a:xfrm>
            <a:off x="4743450" y="4381499"/>
            <a:ext cx="3943350" cy="342901"/>
            <a:chOff x="0" y="0"/>
            <a:chExt cx="3943350" cy="342900"/>
          </a:xfrm>
        </p:grpSpPr>
        <p:sp>
          <p:nvSpPr>
            <p:cNvPr id="255" name="Rectangle"/>
            <p:cNvSpPr/>
            <p:nvPr/>
          </p:nvSpPr>
          <p:spPr>
            <a:xfrm>
              <a:off x="0" y="0"/>
              <a:ext cx="3943350" cy="342900"/>
            </a:xfrm>
            <a:prstGeom prst="rect">
              <a:avLst/>
            </a:prstGeom>
            <a:solidFill>
              <a:srgbClr val="111111"/>
            </a:solidFill>
            <a:ln w="12700" cap="flat">
              <a:noFill/>
              <a:miter lim="400000"/>
            </a:ln>
            <a:effectLst/>
          </p:spPr>
          <p:txBody>
            <a:bodyPr wrap="square" lIns="0" tIns="0" rIns="0" bIns="0" numCol="1" anchor="t">
              <a:noAutofit/>
            </a:bodyPr>
            <a:lstStyle/>
            <a:p>
              <a:pPr algn="ctr">
                <a:defRPr b="1" sz="1500">
                  <a:solidFill>
                    <a:srgbClr val="FFFFFF"/>
                  </a:solidFill>
                  <a:latin typeface="TheSans UHH"/>
                  <a:ea typeface="TheSans UHH"/>
                  <a:cs typeface="TheSans UHH"/>
                  <a:sym typeface="TheSans UHH"/>
                </a:defRPr>
              </a:pPr>
            </a:p>
          </p:txBody>
        </p:sp>
        <p:sp>
          <p:nvSpPr>
            <p:cNvPr id="256" name="BUT NOBODY WROTE IT DOWN"/>
            <p:cNvSpPr txBox="1"/>
            <p:nvPr/>
          </p:nvSpPr>
          <p:spPr>
            <a:xfrm>
              <a:off x="45719" y="0"/>
              <a:ext cx="3851911" cy="320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1500">
                  <a:solidFill>
                    <a:srgbClr val="FFFFFF"/>
                  </a:solidFill>
                  <a:latin typeface="TheSans UHH"/>
                  <a:ea typeface="TheSans UHH"/>
                  <a:cs typeface="TheSans UHH"/>
                  <a:sym typeface="TheSans UHH"/>
                </a:defRPr>
              </a:lvl1pPr>
            </a:lstStyle>
            <a:p>
              <a:pPr/>
              <a:r>
                <a:t>BUT NOBODY WROTE IT DOWN</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62" name="A supervisor influences your grade or your next research opportunity."/>
          <p:cNvSpPr txBox="1"/>
          <p:nvPr/>
        </p:nvSpPr>
        <p:spPr>
          <a:xfrm>
            <a:off x="309563" y="1895475"/>
            <a:ext cx="8362951" cy="711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latin typeface="TheSans UHH"/>
                <a:ea typeface="TheSans UHH"/>
                <a:cs typeface="TheSans UHH"/>
                <a:sym typeface="TheSans UHH"/>
              </a:defRPr>
            </a:lvl1pPr>
          </a:lstStyle>
          <a:p>
            <a:pPr/>
            <a:r>
              <a:t>A supervisor influences your grade or your next research opportunity.</a:t>
            </a:r>
          </a:p>
        </p:txBody>
      </p:sp>
      <p:sp>
        <p:nvSpPr>
          <p:cNvPr id="263" name="That can make a difficult interaction harder to address.…"/>
          <p:cNvSpPr txBox="1"/>
          <p:nvPr/>
        </p:nvSpPr>
        <p:spPr>
          <a:xfrm>
            <a:off x="309563" y="2781300"/>
            <a:ext cx="8362951" cy="1219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000">
                <a:latin typeface="TheSans UHH"/>
                <a:ea typeface="TheSans UHH"/>
                <a:cs typeface="TheSans UHH"/>
                <a:sym typeface="TheSans UHH"/>
              </a:defRPr>
            </a:pPr>
            <a:r>
              <a:t>That can make a difficult interaction harder to address.</a:t>
            </a:r>
          </a:p>
          <a:p>
            <a:pPr/>
            <a:endParaRPr sz="2000">
              <a:latin typeface="TheSans UHH"/>
              <a:ea typeface="TheSans UHH"/>
              <a:cs typeface="TheSans UHH"/>
              <a:sym typeface="TheSans UHH"/>
            </a:endParaRPr>
          </a:p>
          <a:p>
            <a:pPr>
              <a:defRPr sz="2000">
                <a:latin typeface="TheSans UHH"/>
                <a:ea typeface="TheSans UHH"/>
                <a:cs typeface="TheSans UHH"/>
                <a:sym typeface="TheSans UHH"/>
              </a:defRPr>
            </a:pPr>
            <a:r>
              <a:t>Confidential advice can help you understand your options before deciding what to do.</a:t>
            </a:r>
          </a:p>
        </p:txBody>
      </p:sp>
      <p:sp>
        <p:nvSpPr>
          <p:cNvPr id="264" name="Antidiscrimination advice"/>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Antidiscrimination advice</a:t>
            </a:r>
          </a:p>
        </p:txBody>
      </p:sp>
      <p:sp>
        <p:nvSpPr>
          <p:cNvPr id="265" name="Titel"/>
          <p:cNvSpPr txBox="1"/>
          <p:nvPr>
            <p:ph type="title"/>
          </p:nvPr>
        </p:nvSpPr>
        <p:spPr>
          <a:xfrm>
            <a:off x="214768" y="1203598"/>
            <a:ext cx="8533695" cy="503883"/>
          </a:xfrm>
          <a:prstGeom prst="rect">
            <a:avLst/>
          </a:prstGeom>
        </p:spPr>
        <p:txBody>
          <a:bodyPr/>
          <a:lstStyle/>
          <a:p>
            <a:pPr/>
            <a:r>
              <a:t>When speaking up feels risky</a:t>
            </a:r>
          </a:p>
        </p:txBody>
      </p:sp>
      <p:sp>
        <p:nvSpPr>
          <p:cNvPr id="266"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0"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71" name="“What would help you right now?”"/>
          <p:cNvSpPr txBox="1"/>
          <p:nvPr/>
        </p:nvSpPr>
        <p:spPr>
          <a:xfrm>
            <a:off x="309563" y="1885950"/>
            <a:ext cx="8362951" cy="444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latin typeface="TheSans UHH"/>
                <a:ea typeface="TheSans UHH"/>
                <a:cs typeface="TheSans UHH"/>
                <a:sym typeface="TheSans UHH"/>
              </a:defRPr>
            </a:lvl1pPr>
          </a:lstStyle>
          <a:p>
            <a:pPr/>
            <a:r>
              <a:t>“What would help you right now?”</a:t>
            </a:r>
          </a:p>
        </p:txBody>
      </p:sp>
      <p:sp>
        <p:nvSpPr>
          <p:cNvPr id="272" name="Listen first. Let them choose the support."/>
          <p:cNvSpPr txBox="1"/>
          <p:nvPr/>
        </p:nvSpPr>
        <p:spPr>
          <a:xfrm>
            <a:off x="309563" y="269557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latin typeface="TheSans UHH"/>
                <a:ea typeface="TheSans UHH"/>
                <a:cs typeface="TheSans UHH"/>
                <a:sym typeface="TheSans UHH"/>
              </a:defRPr>
            </a:lvl1pPr>
          </a:lstStyle>
          <a:p>
            <a:pPr/>
            <a:r>
              <a:t>Listen first. Let them choose the support.</a:t>
            </a:r>
          </a:p>
        </p:txBody>
      </p:sp>
      <p:sp>
        <p:nvSpPr>
          <p:cNvPr id="273" name="“Would you like help finding advice?”"/>
          <p:cNvSpPr txBox="1"/>
          <p:nvPr/>
        </p:nvSpPr>
        <p:spPr>
          <a:xfrm>
            <a:off x="309563" y="3352800"/>
            <a:ext cx="8362951" cy="3175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100">
                <a:latin typeface="TheSans UHH"/>
                <a:ea typeface="TheSans UHH"/>
                <a:cs typeface="TheSans UHH"/>
                <a:sym typeface="TheSans UHH"/>
              </a:defRPr>
            </a:lvl1pPr>
          </a:lstStyle>
          <a:p>
            <a:pPr/>
            <a:r>
              <a:t>“Would you like help finding advice?”</a:t>
            </a:r>
          </a:p>
        </p:txBody>
      </p:sp>
      <p:sp>
        <p:nvSpPr>
          <p:cNvPr id="274" name="Offer a contact or company."/>
          <p:cNvSpPr txBox="1"/>
          <p:nvPr/>
        </p:nvSpPr>
        <p:spPr>
          <a:xfrm>
            <a:off x="309563" y="378142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Offer a contact or company.</a:t>
            </a:r>
          </a:p>
        </p:txBody>
      </p:sp>
      <p:sp>
        <p:nvSpPr>
          <p:cNvPr id="275" name="Check what they want shared before involving anyone else."/>
          <p:cNvSpPr txBox="1"/>
          <p:nvPr/>
        </p:nvSpPr>
        <p:spPr>
          <a:xfrm>
            <a:off x="309563" y="4324350"/>
            <a:ext cx="8362951"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latin typeface="TheSans UHH"/>
                <a:ea typeface="TheSans UHH"/>
                <a:cs typeface="TheSans UHH"/>
                <a:sym typeface="TheSans UHH"/>
              </a:defRPr>
            </a:lvl1pPr>
          </a:lstStyle>
          <a:p>
            <a:pPr/>
            <a:r>
              <a:t>Check what they want shared before involving anyone else.</a:t>
            </a:r>
          </a:p>
        </p:txBody>
      </p:sp>
      <p:sp>
        <p:nvSpPr>
          <p:cNvPr id="276" name="Titel"/>
          <p:cNvSpPr txBox="1"/>
          <p:nvPr>
            <p:ph type="title"/>
          </p:nvPr>
        </p:nvSpPr>
        <p:spPr>
          <a:xfrm>
            <a:off x="214768" y="1203598"/>
            <a:ext cx="8533695" cy="503883"/>
          </a:xfrm>
          <a:prstGeom prst="rect">
            <a:avLst/>
          </a:prstGeom>
        </p:spPr>
        <p:txBody>
          <a:bodyPr/>
          <a:lstStyle/>
          <a:p>
            <a:pPr/>
            <a:r>
              <a:t>When a classmate asks for support</a:t>
            </a:r>
          </a:p>
        </p:txBody>
      </p:sp>
      <p:sp>
        <p:nvSpPr>
          <p:cNvPr id="277"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82" name="Disability or chronic illness"/>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Disability or chronic illness</a:t>
            </a:r>
          </a:p>
        </p:txBody>
      </p:sp>
      <p:sp>
        <p:nvSpPr>
          <p:cNvPr id="283" name="Advice can help you explore individual study adjustments."/>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Advice can help you explore individual study adjustments.</a:t>
            </a:r>
          </a:p>
        </p:txBody>
      </p:sp>
      <p:sp>
        <p:nvSpPr>
          <p:cNvPr id="284" name="Course and examination conditions"/>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Course and examination conditions</a:t>
            </a:r>
          </a:p>
        </p:txBody>
      </p:sp>
      <p:sp>
        <p:nvSpPr>
          <p:cNvPr id="285" name="Nachteilsausgleich is the university’s adjustment route."/>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Nachteilsausgleich is the university’s adjustment route.</a:t>
            </a:r>
          </a:p>
        </p:txBody>
      </p:sp>
      <p:sp>
        <p:nvSpPr>
          <p:cNvPr id="286" name="A useful first step"/>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A useful first step</a:t>
            </a:r>
          </a:p>
        </p:txBody>
      </p:sp>
      <p:sp>
        <p:nvSpPr>
          <p:cNvPr id="287" name="Contact the office for students with disabilities."/>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Contact the office for students with disabilities.</a:t>
            </a:r>
          </a:p>
        </p:txBody>
      </p:sp>
      <p:sp>
        <p:nvSpPr>
          <p:cNvPr id="288" name="Study adjustments and advice"/>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Study adjustments and advice</a:t>
            </a:r>
          </a:p>
        </p:txBody>
      </p:sp>
      <p:sp>
        <p:nvSpPr>
          <p:cNvPr id="289" name="Titel"/>
          <p:cNvSpPr txBox="1"/>
          <p:nvPr>
            <p:ph type="title"/>
          </p:nvPr>
        </p:nvSpPr>
        <p:spPr>
          <a:xfrm>
            <a:off x="214768" y="1203598"/>
            <a:ext cx="8533695" cy="503883"/>
          </a:xfrm>
          <a:prstGeom prst="rect">
            <a:avLst/>
          </a:prstGeom>
        </p:spPr>
        <p:txBody>
          <a:bodyPr/>
          <a:lstStyle/>
          <a:p>
            <a:pPr/>
            <a:r>
              <a:t>Study conditions and access</a:t>
            </a:r>
          </a:p>
        </p:txBody>
      </p:sp>
      <p:sp>
        <p:nvSpPr>
          <p:cNvPr id="290"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295" name="FSR: Informatics student representatives"/>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FSR: Informatics student representatives</a:t>
            </a:r>
          </a:p>
        </p:txBody>
      </p:sp>
      <p:sp>
        <p:nvSpPr>
          <p:cNvPr id="296" name="Student concerns, representation and informal support."/>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Student concerns, representation and informal support.</a:t>
            </a:r>
          </a:p>
        </p:txBody>
      </p:sp>
      <p:sp>
        <p:nvSpPr>
          <p:cNvPr id="297" name="Confidential FSR contact"/>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Confidential FSR contact</a:t>
            </a:r>
          </a:p>
        </p:txBody>
      </p:sp>
      <p:sp>
        <p:nvSpPr>
          <p:cNvPr id="298" name="fsr-vertraulich@informatik.uni-hamburg.de"/>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fsr-vertraulich@informatik.uni-hamburg.de</a:t>
            </a:r>
          </a:p>
        </p:txBody>
      </p:sp>
      <p:sp>
        <p:nvSpPr>
          <p:cNvPr id="299" name="AStA: university-wide student representation"/>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AStA: university-wide student representation</a:t>
            </a:r>
          </a:p>
        </p:txBody>
      </p:sp>
      <p:sp>
        <p:nvSpPr>
          <p:cNvPr id="300" name="Student advice, including an antidiscrimination service."/>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Student advice, including an antidiscrimination service.</a:t>
            </a:r>
          </a:p>
        </p:txBody>
      </p:sp>
      <p:sp>
        <p:nvSpPr>
          <p:cNvPr id="301" name="FSR information"/>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FSR information</a:t>
            </a:r>
          </a:p>
        </p:txBody>
      </p:sp>
      <p:sp>
        <p:nvSpPr>
          <p:cNvPr id="302" name="AStA services"/>
          <p:cNvSpPr txBox="1"/>
          <p:nvPr/>
        </p:nvSpPr>
        <p:spPr>
          <a:xfrm>
            <a:off x="309563" y="44291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AStA services</a:t>
            </a:r>
          </a:p>
        </p:txBody>
      </p:sp>
      <p:sp>
        <p:nvSpPr>
          <p:cNvPr id="303" name="Titel"/>
          <p:cNvSpPr txBox="1"/>
          <p:nvPr>
            <p:ph type="title"/>
          </p:nvPr>
        </p:nvSpPr>
        <p:spPr>
          <a:xfrm>
            <a:off x="214768" y="1203598"/>
            <a:ext cx="8533695" cy="503883"/>
          </a:xfrm>
          <a:prstGeom prst="rect">
            <a:avLst/>
          </a:prstGeom>
        </p:spPr>
        <p:txBody>
          <a:bodyPr/>
          <a:lstStyle/>
          <a:p>
            <a:pPr/>
            <a:r>
              <a:t>Advice from other students</a:t>
            </a:r>
          </a:p>
        </p:txBody>
      </p:sp>
      <p:sp>
        <p:nvSpPr>
          <p:cNvPr id="304" name="Foliennummer"/>
          <p:cNvSpPr txBox="1"/>
          <p:nvPr>
            <p:ph type="sldNum" sz="quarter" idx="2"/>
          </p:nvPr>
        </p:nvSpPr>
        <p:spPr>
          <a:xfrm>
            <a:off x="8619800" y="4814422"/>
            <a:ext cx="127001"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8"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09" name="Confidential advice"/>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Confidential advice</a:t>
            </a:r>
          </a:p>
        </p:txBody>
      </p:sp>
      <p:sp>
        <p:nvSpPr>
          <p:cNvPr id="310" name="Antidiscrimination Center: discuss the situation and options."/>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Antidiscrimination Center: discuss the situation and options.</a:t>
            </a:r>
          </a:p>
        </p:txBody>
      </p:sp>
      <p:sp>
        <p:nvSpPr>
          <p:cNvPr id="311" name="A formal discrimination complaint"/>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A formal discrimination complaint</a:t>
            </a:r>
          </a:p>
        </p:txBody>
      </p:sp>
      <p:sp>
        <p:nvSpPr>
          <p:cNvPr id="312" name="The student complaints office considers the case."/>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The student complaints office considers the case.</a:t>
            </a:r>
          </a:p>
        </p:txBody>
      </p:sp>
      <p:sp>
        <p:nvSpPr>
          <p:cNvPr id="313" name="Different procedures"/>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Different procedures</a:t>
            </a:r>
          </a:p>
        </p:txBody>
      </p:sp>
      <p:sp>
        <p:nvSpPr>
          <p:cNvPr id="314" name="Exam complaints have a separate faculty route."/>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Exam complaints have a separate faculty route.</a:t>
            </a:r>
          </a:p>
        </p:txBody>
      </p:sp>
      <p:sp>
        <p:nvSpPr>
          <p:cNvPr id="315" name="Advice and contact"/>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Advice and contact</a:t>
            </a:r>
          </a:p>
        </p:txBody>
      </p:sp>
      <p:sp>
        <p:nvSpPr>
          <p:cNvPr id="316" name="Student complaints form"/>
          <p:cNvSpPr txBox="1"/>
          <p:nvPr/>
        </p:nvSpPr>
        <p:spPr>
          <a:xfrm>
            <a:off x="309563" y="44291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Student complaints form</a:t>
            </a:r>
          </a:p>
        </p:txBody>
      </p:sp>
      <p:sp>
        <p:nvSpPr>
          <p:cNvPr id="317" name="Equal Opportunity Unit"/>
          <p:cNvSpPr txBox="1"/>
          <p:nvPr/>
        </p:nvSpPr>
        <p:spPr>
          <a:xfrm>
            <a:off x="309563" y="4619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5" invalidUrl="" action="" tgtFrame="" tooltip="" history="1" highlightClick="0" endSnd="0"/>
              </a:defRPr>
            </a:lvl1pPr>
          </a:lstStyle>
          <a:p>
            <a:pPr>
              <a:defRPr>
                <a:uFillTx/>
              </a:defRPr>
            </a:pPr>
            <a:r>
              <a:rPr>
                <a:uFill>
                  <a:solidFill>
                    <a:schemeClr val="accent2"/>
                  </a:solidFill>
                </a:uFill>
                <a:hlinkClick r:id="rId5" invalidUrl="" action="" tgtFrame="" tooltip="" history="1" highlightClick="0" endSnd="0"/>
              </a:rPr>
              <a:t>Equal Opportunity Unit</a:t>
            </a:r>
          </a:p>
        </p:txBody>
      </p:sp>
      <p:sp>
        <p:nvSpPr>
          <p:cNvPr id="318" name="Titel"/>
          <p:cNvSpPr txBox="1"/>
          <p:nvPr>
            <p:ph type="title"/>
          </p:nvPr>
        </p:nvSpPr>
        <p:spPr>
          <a:xfrm>
            <a:off x="214768" y="1203598"/>
            <a:ext cx="8533695" cy="503883"/>
          </a:xfrm>
          <a:prstGeom prst="rect">
            <a:avLst/>
          </a:prstGeom>
        </p:spPr>
        <p:txBody>
          <a:bodyPr/>
          <a:lstStyle/>
          <a:p>
            <a:pPr/>
            <a:r>
              <a:t>Confidential advice or a formal complaint</a:t>
            </a:r>
          </a:p>
        </p:txBody>
      </p:sp>
      <p:sp>
        <p:nvSpPr>
          <p:cNvPr id="319"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24" name="IAS team"/>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IAS team</a:t>
            </a:r>
          </a:p>
        </p:txBody>
      </p:sp>
      <p:sp>
        <p:nvSpPr>
          <p:cNvPr id="325" name="Advice about the IAS curriculum and study planning."/>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Advice about the IAS curriculum and study planning.</a:t>
            </a:r>
          </a:p>
        </p:txBody>
      </p:sp>
      <p:sp>
        <p:nvSpPr>
          <p:cNvPr id="326" name="Academic Office (Studienbüro)"/>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Academic Office (Studienbüro)</a:t>
            </a:r>
          </a:p>
        </p:txBody>
      </p:sp>
      <p:sp>
        <p:nvSpPr>
          <p:cNvPr id="327" name="Course, exam, study administration at the Informatics department"/>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Course, exam, study administration at the Informatics department</a:t>
            </a:r>
          </a:p>
        </p:txBody>
      </p:sp>
      <p:sp>
        <p:nvSpPr>
          <p:cNvPr id="328" name="Contacting the Academic Office"/>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Contacting the Academic Office</a:t>
            </a:r>
          </a:p>
        </p:txBody>
      </p:sp>
      <p:sp>
        <p:nvSpPr>
          <p:cNvPr id="329" name="Use the student contact form with your university email address."/>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Use the student contact form with your university email address.</a:t>
            </a:r>
          </a:p>
        </p:txBody>
      </p:sp>
      <p:sp>
        <p:nvSpPr>
          <p:cNvPr id="330" name="IAS contacts"/>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IAS contacts</a:t>
            </a:r>
          </a:p>
        </p:txBody>
      </p:sp>
      <p:sp>
        <p:nvSpPr>
          <p:cNvPr id="331" name="Academic Office contact form"/>
          <p:cNvSpPr txBox="1"/>
          <p:nvPr/>
        </p:nvSpPr>
        <p:spPr>
          <a:xfrm>
            <a:off x="309563" y="44291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Academic Office contact form</a:t>
            </a:r>
          </a:p>
        </p:txBody>
      </p:sp>
      <p:sp>
        <p:nvSpPr>
          <p:cNvPr id="332" name="Titel"/>
          <p:cNvSpPr txBox="1"/>
          <p:nvPr>
            <p:ph type="title"/>
          </p:nvPr>
        </p:nvSpPr>
        <p:spPr>
          <a:xfrm>
            <a:off x="214768" y="1203598"/>
            <a:ext cx="8533695" cy="503883"/>
          </a:xfrm>
          <a:prstGeom prst="rect">
            <a:avLst/>
          </a:prstGeom>
        </p:spPr>
        <p:txBody>
          <a:bodyPr/>
          <a:lstStyle/>
          <a:p>
            <a:pPr/>
            <a:r>
              <a:t>IAS and academic questions</a:t>
            </a:r>
          </a:p>
        </p:txBody>
      </p:sp>
      <p:sp>
        <p:nvSpPr>
          <p:cNvPr id="333" name="Foliennummer"/>
          <p:cNvSpPr txBox="1"/>
          <p:nvPr>
            <p:ph type="sldNum" sz="quarter" idx="2"/>
          </p:nvPr>
        </p:nvSpPr>
        <p:spPr>
          <a:xfrm>
            <a:off x="8575821" y="4814422"/>
            <a:ext cx="170980"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38" name="STWHH"/>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STWHH</a:t>
            </a:r>
          </a:p>
        </p:txBody>
      </p:sp>
      <p:sp>
        <p:nvSpPr>
          <p:cNvPr id="339" name="Housing, gastronomy, and finance"/>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Housing, gastronomy, and finance</a:t>
            </a:r>
          </a:p>
        </p:txBody>
      </p:sp>
      <p:sp>
        <p:nvSpPr>
          <p:cNvPr id="340" name="International Student Support"/>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International Student Support</a:t>
            </a:r>
          </a:p>
        </p:txBody>
      </p:sp>
      <p:sp>
        <p:nvSpPr>
          <p:cNvPr id="341" name="Advice on residence permit questions."/>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Advice on residence permit questions.</a:t>
            </a:r>
          </a:p>
        </p:txBody>
      </p:sp>
      <p:sp>
        <p:nvSpPr>
          <p:cNvPr id="342" name="PIASTA"/>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PIASTA</a:t>
            </a:r>
          </a:p>
        </p:txBody>
      </p:sp>
      <p:sp>
        <p:nvSpPr>
          <p:cNvPr id="343" name="Welcome activities, language exchange and study skills."/>
          <p:cNvSpPr txBox="1"/>
          <p:nvPr/>
        </p:nvSpPr>
        <p:spPr>
          <a:xfrm>
            <a:off x="309563" y="363855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Welcome activities, language exchange and study skills.</a:t>
            </a:r>
          </a:p>
        </p:txBody>
      </p:sp>
      <p:sp>
        <p:nvSpPr>
          <p:cNvPr id="344" name="STWHH"/>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STWHH</a:t>
            </a:r>
          </a:p>
        </p:txBody>
      </p:sp>
      <p:sp>
        <p:nvSpPr>
          <p:cNvPr id="345" name="Residence permit advice"/>
          <p:cNvSpPr txBox="1"/>
          <p:nvPr/>
        </p:nvSpPr>
        <p:spPr>
          <a:xfrm>
            <a:off x="309563" y="44291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Residence permit advice</a:t>
            </a:r>
          </a:p>
        </p:txBody>
      </p:sp>
      <p:sp>
        <p:nvSpPr>
          <p:cNvPr id="346" name="PIASTA activities and support"/>
          <p:cNvSpPr txBox="1"/>
          <p:nvPr/>
        </p:nvSpPr>
        <p:spPr>
          <a:xfrm>
            <a:off x="309563" y="4619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5" invalidUrl="" action="" tgtFrame="" tooltip="" history="1" highlightClick="0" endSnd="0"/>
              </a:defRPr>
            </a:lvl1pPr>
          </a:lstStyle>
          <a:p>
            <a:pPr>
              <a:defRPr>
                <a:uFillTx/>
              </a:defRPr>
            </a:pPr>
            <a:r>
              <a:rPr>
                <a:uFill>
                  <a:solidFill>
                    <a:schemeClr val="accent2"/>
                  </a:solidFill>
                </a:uFill>
                <a:hlinkClick r:id="rId5" invalidUrl="" action="" tgtFrame="" tooltip="" history="1" highlightClick="0" endSnd="0"/>
              </a:rPr>
              <a:t>PIASTA activities and support</a:t>
            </a:r>
          </a:p>
        </p:txBody>
      </p:sp>
      <p:sp>
        <p:nvSpPr>
          <p:cNvPr id="347" name="Titel"/>
          <p:cNvSpPr txBox="1"/>
          <p:nvPr>
            <p:ph type="title"/>
          </p:nvPr>
        </p:nvSpPr>
        <p:spPr>
          <a:xfrm>
            <a:off x="214768" y="1203598"/>
            <a:ext cx="8533695" cy="503883"/>
          </a:xfrm>
          <a:prstGeom prst="rect">
            <a:avLst/>
          </a:prstGeom>
        </p:spPr>
        <p:txBody>
          <a:bodyPr/>
          <a:lstStyle/>
          <a:p>
            <a:pPr/>
            <a:r>
              <a:t>Administration and settling into Hamburg</a:t>
            </a:r>
          </a:p>
        </p:txBody>
      </p:sp>
      <p:sp>
        <p:nvSpPr>
          <p:cNvPr id="348"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53" name="Personal difficulties and study stress can affect how you work."/>
          <p:cNvSpPr txBox="1"/>
          <p:nvPr/>
        </p:nvSpPr>
        <p:spPr>
          <a:xfrm>
            <a:off x="309563" y="1895475"/>
            <a:ext cx="8362951" cy="711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300">
                <a:latin typeface="TheSans UHH"/>
                <a:ea typeface="TheSans UHH"/>
                <a:cs typeface="TheSans UHH"/>
                <a:sym typeface="TheSans UHH"/>
              </a:defRPr>
            </a:lvl1pPr>
          </a:lstStyle>
          <a:p>
            <a:pPr/>
            <a:r>
              <a:t>Personal difficulties and study stress can affect how you work.</a:t>
            </a:r>
          </a:p>
        </p:txBody>
      </p:sp>
      <p:sp>
        <p:nvSpPr>
          <p:cNvPr id="354" name="Psychological Counseling offers professional support.…"/>
          <p:cNvSpPr txBox="1"/>
          <p:nvPr/>
        </p:nvSpPr>
        <p:spPr>
          <a:xfrm>
            <a:off x="309563" y="2781300"/>
            <a:ext cx="8362951" cy="914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000">
                <a:latin typeface="TheSans UHH"/>
                <a:ea typeface="TheSans UHH"/>
                <a:cs typeface="TheSans UHH"/>
                <a:sym typeface="TheSans UHH"/>
              </a:defRPr>
            </a:pPr>
            <a:r>
              <a:t>Psychological Counseling offers professional support.</a:t>
            </a:r>
          </a:p>
          <a:p>
            <a:pPr/>
            <a:endParaRPr sz="2000">
              <a:latin typeface="TheSans UHH"/>
              <a:ea typeface="TheSans UHH"/>
              <a:cs typeface="TheSans UHH"/>
              <a:sym typeface="TheSans UHH"/>
            </a:endParaRPr>
          </a:p>
          <a:p>
            <a:pPr>
              <a:defRPr sz="2000">
                <a:latin typeface="TheSans UHH"/>
                <a:ea typeface="TheSans UHH"/>
                <a:cs typeface="TheSans UHH"/>
                <a:sym typeface="TheSans UHH"/>
              </a:defRPr>
            </a:pPr>
            <a:r>
              <a:t>The service is free for Universität Hamburg students.</a:t>
            </a:r>
          </a:p>
        </p:txBody>
      </p:sp>
      <p:sp>
        <p:nvSpPr>
          <p:cNvPr id="355" name="Psychological Counseling and appointments"/>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Psychological Counseling and appointments</a:t>
            </a:r>
          </a:p>
        </p:txBody>
      </p:sp>
      <p:sp>
        <p:nvSpPr>
          <p:cNvPr id="356" name="Titel"/>
          <p:cNvSpPr txBox="1"/>
          <p:nvPr>
            <p:ph type="title"/>
          </p:nvPr>
        </p:nvSpPr>
        <p:spPr>
          <a:xfrm>
            <a:off x="214768" y="1203598"/>
            <a:ext cx="8533695" cy="503883"/>
          </a:xfrm>
          <a:prstGeom prst="rect">
            <a:avLst/>
          </a:prstGeom>
        </p:spPr>
        <p:txBody>
          <a:bodyPr/>
          <a:lstStyle/>
          <a:p>
            <a:pPr/>
            <a:r>
              <a:t>When pressure affects your studies</a:t>
            </a:r>
          </a:p>
        </p:txBody>
      </p:sp>
      <p:sp>
        <p:nvSpPr>
          <p:cNvPr id="357"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1"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62" name="You can log in"/>
          <p:cNvSpPr txBox="1"/>
          <p:nvPr/>
        </p:nvSpPr>
        <p:spPr>
          <a:xfrm>
            <a:off x="309563" y="1847850"/>
            <a:ext cx="42862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latin typeface="TheSans UHH"/>
                <a:ea typeface="TheSans UHH"/>
                <a:cs typeface="TheSans UHH"/>
                <a:sym typeface="TheSans UHH"/>
              </a:defRPr>
            </a:lvl1pPr>
          </a:lstStyle>
          <a:p>
            <a:pPr/>
            <a:r>
              <a:t>You can log in</a:t>
            </a:r>
          </a:p>
        </p:txBody>
      </p:sp>
      <p:sp>
        <p:nvSpPr>
          <p:cNvPr id="363" name="Studying, then Contact form…"/>
          <p:cNvSpPr txBox="1"/>
          <p:nvPr/>
        </p:nvSpPr>
        <p:spPr>
          <a:xfrm>
            <a:off x="309563" y="2200275"/>
            <a:ext cx="4286251" cy="508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latin typeface="TheSans UHH"/>
                <a:ea typeface="TheSans UHH"/>
                <a:cs typeface="TheSans UHH"/>
                <a:sym typeface="TheSans UHH"/>
              </a:defRPr>
            </a:pPr>
            <a:r>
              <a:t>Studying, then Contact form</a:t>
            </a:r>
          </a:p>
          <a:p>
            <a:pPr>
              <a:defRPr sz="1700">
                <a:latin typeface="TheSans UHH"/>
                <a:ea typeface="TheSans UHH"/>
                <a:cs typeface="TheSans UHH"/>
                <a:sym typeface="TheSans UHH"/>
              </a:defRPr>
            </a:pPr>
            <a:r>
              <a:t>in your STiNE account.</a:t>
            </a:r>
          </a:p>
        </p:txBody>
      </p:sp>
      <p:sp>
        <p:nvSpPr>
          <p:cNvPr id="364" name="You cannot log in"/>
          <p:cNvSpPr txBox="1"/>
          <p:nvPr/>
        </p:nvSpPr>
        <p:spPr>
          <a:xfrm>
            <a:off x="309563" y="2924175"/>
            <a:ext cx="42862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a:latin typeface="TheSans UHH"/>
                <a:ea typeface="TheSans UHH"/>
                <a:cs typeface="TheSans UHH"/>
                <a:sym typeface="TheSans UHH"/>
              </a:defRPr>
            </a:lvl1pPr>
          </a:lstStyle>
          <a:p>
            <a:pPr/>
            <a:r>
              <a:t>You cannot log in</a:t>
            </a:r>
          </a:p>
        </p:txBody>
      </p:sp>
      <p:sp>
        <p:nvSpPr>
          <p:cNvPr id="365" name="Use the external STiNE support form."/>
          <p:cNvSpPr txBox="1"/>
          <p:nvPr/>
        </p:nvSpPr>
        <p:spPr>
          <a:xfrm>
            <a:off x="309563" y="3276600"/>
            <a:ext cx="4286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latin typeface="TheSans UHH"/>
                <a:ea typeface="TheSans UHH"/>
                <a:cs typeface="TheSans UHH"/>
                <a:sym typeface="TheSans UHH"/>
              </a:defRPr>
            </a:lvl1pPr>
          </a:lstStyle>
          <a:p>
            <a:pPr/>
            <a:r>
              <a:t>Use the external STiNE support form.</a:t>
            </a:r>
          </a:p>
        </p:txBody>
      </p:sp>
      <p:sp>
        <p:nvSpPr>
          <p:cNvPr id="366" name="Include the error and what you tried."/>
          <p:cNvSpPr txBox="1"/>
          <p:nvPr/>
        </p:nvSpPr>
        <p:spPr>
          <a:xfrm>
            <a:off x="309563" y="3886200"/>
            <a:ext cx="4143376"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latin typeface="TheSans UHH"/>
                <a:ea typeface="TheSans UHH"/>
                <a:cs typeface="TheSans UHH"/>
                <a:sym typeface="TheSans UHH"/>
              </a:defRPr>
            </a:lvl1pPr>
          </a:lstStyle>
          <a:p>
            <a:pPr/>
            <a:r>
              <a:t>Include the error and what you tried.</a:t>
            </a:r>
          </a:p>
        </p:txBody>
      </p:sp>
      <p:sp>
        <p:nvSpPr>
          <p:cNvPr id="367" name="STiNE support form"/>
          <p:cNvSpPr txBox="1"/>
          <p:nvPr/>
        </p:nvSpPr>
        <p:spPr>
          <a:xfrm>
            <a:off x="309563" y="4314825"/>
            <a:ext cx="419100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STiNE support form</a:t>
            </a:r>
          </a:p>
        </p:txBody>
      </p:sp>
      <p:sp>
        <p:nvSpPr>
          <p:cNvPr id="368" name="Exam rules or eligibility? Ask the Academic Office."/>
          <p:cNvSpPr txBox="1"/>
          <p:nvPr/>
        </p:nvSpPr>
        <p:spPr>
          <a:xfrm>
            <a:off x="309563" y="4572000"/>
            <a:ext cx="8362951" cy="177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200">
                <a:latin typeface="TheSans UHH"/>
                <a:ea typeface="TheSans UHH"/>
                <a:cs typeface="TheSans UHH"/>
                <a:sym typeface="TheSans UHH"/>
              </a:defRPr>
            </a:lvl1pPr>
          </a:lstStyle>
          <a:p>
            <a:pPr/>
            <a:r>
              <a:t>Exam rules or eligibility? Ask the Academic Office.</a:t>
            </a:r>
          </a:p>
        </p:txBody>
      </p:sp>
      <p:sp>
        <p:nvSpPr>
          <p:cNvPr id="369" name="Titel"/>
          <p:cNvSpPr txBox="1"/>
          <p:nvPr>
            <p:ph type="title"/>
          </p:nvPr>
        </p:nvSpPr>
        <p:spPr>
          <a:xfrm>
            <a:off x="214768" y="1203598"/>
            <a:ext cx="8533695" cy="503883"/>
          </a:xfrm>
          <a:prstGeom prst="rect">
            <a:avLst/>
          </a:prstGeom>
        </p:spPr>
        <p:txBody>
          <a:bodyPr/>
          <a:lstStyle/>
          <a:p>
            <a:pPr/>
            <a:r>
              <a:t>Technical problems with STiNE</a:t>
            </a:r>
          </a:p>
        </p:txBody>
      </p:sp>
      <p:sp>
        <p:nvSpPr>
          <p:cNvPr id="370"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71" name="image3.jpeg" descr="image3.jpeg"/>
          <p:cNvPicPr>
            <a:picLocks noChangeAspect="1"/>
          </p:cNvPicPr>
          <p:nvPr/>
        </p:nvPicPr>
        <p:blipFill>
          <a:blip r:embed="rId4">
            <a:extLst/>
          </a:blip>
          <a:stretch>
            <a:fillRect/>
          </a:stretch>
        </p:blipFill>
        <p:spPr>
          <a:xfrm>
            <a:off x="4810125" y="2343823"/>
            <a:ext cx="3895725" cy="1894129"/>
          </a:xfrm>
          <a:prstGeom prst="rect">
            <a:avLst/>
          </a:prstGeom>
          <a:ln w="12700">
            <a:miter lim="400000"/>
          </a:ln>
        </p:spPr>
      </p:pic>
      <p:grpSp>
        <p:nvGrpSpPr>
          <p:cNvPr id="374" name="Group"/>
          <p:cNvGrpSpPr/>
          <p:nvPr/>
        </p:nvGrpSpPr>
        <p:grpSpPr>
          <a:xfrm>
            <a:off x="4810125" y="1971674"/>
            <a:ext cx="3895725" cy="381001"/>
            <a:chOff x="0" y="0"/>
            <a:chExt cx="3895725" cy="381000"/>
          </a:xfrm>
        </p:grpSpPr>
        <p:sp>
          <p:nvSpPr>
            <p:cNvPr id="372" name="Rectangle"/>
            <p:cNvSpPr/>
            <p:nvPr/>
          </p:nvSpPr>
          <p:spPr>
            <a:xfrm>
              <a:off x="0" y="0"/>
              <a:ext cx="3895725" cy="381000"/>
            </a:xfrm>
            <a:prstGeom prst="rect">
              <a:avLst/>
            </a:prstGeom>
            <a:solidFill>
              <a:srgbClr val="111111"/>
            </a:solidFill>
            <a:ln w="12700" cap="flat">
              <a:noFill/>
              <a:miter lim="400000"/>
            </a:ln>
            <a:effectLst/>
          </p:spPr>
          <p:txBody>
            <a:bodyPr wrap="square" lIns="0" tIns="0" rIns="0" bIns="0" numCol="1" anchor="t">
              <a:noAutofit/>
            </a:bodyPr>
            <a:lstStyle/>
            <a:p>
              <a:pPr algn="ctr">
                <a:defRPr b="1">
                  <a:solidFill>
                    <a:srgbClr val="FFFFFF"/>
                  </a:solidFill>
                  <a:latin typeface="TheSans UHH"/>
                  <a:ea typeface="TheSans UHH"/>
                  <a:cs typeface="TheSans UHH"/>
                  <a:sym typeface="TheSans UHH"/>
                </a:defRPr>
              </a:pPr>
            </a:p>
          </p:txBody>
        </p:sp>
        <p:sp>
          <p:nvSpPr>
            <p:cNvPr id="373" name="DEADLINE: 23:59"/>
            <p:cNvSpPr txBox="1"/>
            <p:nvPr/>
          </p:nvSpPr>
          <p:spPr>
            <a:xfrm>
              <a:off x="45719" y="0"/>
              <a:ext cx="380428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a:solidFill>
                    <a:srgbClr val="FFFFFF"/>
                  </a:solidFill>
                  <a:latin typeface="TheSans UHH"/>
                  <a:ea typeface="TheSans UHH"/>
                  <a:cs typeface="TheSans UHH"/>
                  <a:sym typeface="TheSans UHH"/>
                </a:defRPr>
              </a:lvl1pPr>
            </a:lstStyle>
            <a:p>
              <a:pPr/>
              <a:r>
                <a:t>DEADLINE: 23:59</a:t>
              </a:r>
            </a:p>
          </p:txBody>
        </p:sp>
      </p:grpSp>
      <p:grpSp>
        <p:nvGrpSpPr>
          <p:cNvPr id="377" name="Group"/>
          <p:cNvGrpSpPr/>
          <p:nvPr/>
        </p:nvGrpSpPr>
        <p:grpSpPr>
          <a:xfrm>
            <a:off x="4810125" y="4229099"/>
            <a:ext cx="3895725" cy="381001"/>
            <a:chOff x="0" y="0"/>
            <a:chExt cx="3895725" cy="381000"/>
          </a:xfrm>
        </p:grpSpPr>
        <p:sp>
          <p:nvSpPr>
            <p:cNvPr id="375" name="Rectangle"/>
            <p:cNvSpPr/>
            <p:nvPr/>
          </p:nvSpPr>
          <p:spPr>
            <a:xfrm>
              <a:off x="0" y="0"/>
              <a:ext cx="3895725" cy="381000"/>
            </a:xfrm>
            <a:prstGeom prst="rect">
              <a:avLst/>
            </a:prstGeom>
            <a:solidFill>
              <a:srgbClr val="111111"/>
            </a:solidFill>
            <a:ln w="12700" cap="flat">
              <a:noFill/>
              <a:miter lim="400000"/>
            </a:ln>
            <a:effectLst/>
          </p:spPr>
          <p:txBody>
            <a:bodyPr wrap="square" lIns="0" tIns="0" rIns="0" bIns="0" numCol="1" anchor="t">
              <a:noAutofit/>
            </a:bodyPr>
            <a:lstStyle/>
            <a:p>
              <a:pPr algn="ctr">
                <a:defRPr b="1">
                  <a:solidFill>
                    <a:srgbClr val="FFFFFF"/>
                  </a:solidFill>
                  <a:latin typeface="TheSans UHH"/>
                  <a:ea typeface="TheSans UHH"/>
                  <a:cs typeface="TheSans UHH"/>
                  <a:sym typeface="TheSans UHH"/>
                </a:defRPr>
              </a:pPr>
            </a:p>
          </p:txBody>
        </p:sp>
        <p:sp>
          <p:nvSpPr>
            <p:cNvPr id="376" name="STiNE AT 23:58"/>
            <p:cNvSpPr txBox="1"/>
            <p:nvPr/>
          </p:nvSpPr>
          <p:spPr>
            <a:xfrm>
              <a:off x="45719" y="0"/>
              <a:ext cx="380428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a:solidFill>
                    <a:srgbClr val="FFFFFF"/>
                  </a:solidFill>
                  <a:latin typeface="TheSans UHH"/>
                  <a:ea typeface="TheSans UHH"/>
                  <a:cs typeface="TheSans UHH"/>
                  <a:sym typeface="TheSans UHH"/>
                </a:defRPr>
              </a:lvl1pPr>
            </a:lstStyle>
            <a:p>
              <a:pPr/>
              <a:r>
                <a:t>STiNE AT 23:58</a:t>
              </a:r>
            </a:p>
          </p:txBody>
        </p:sp>
      </p:gr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82" name="IRZ: Informatics Computing Centre"/>
          <p:cNvSpPr txBox="1"/>
          <p:nvPr/>
        </p:nvSpPr>
        <p:spPr>
          <a:xfrm>
            <a:off x="309563" y="184785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IRZ: Informatics Computing Centre</a:t>
            </a:r>
          </a:p>
        </p:txBody>
      </p:sp>
      <p:sp>
        <p:nvSpPr>
          <p:cNvPr id="383" name="Department computers, printers and Informatics IT services."/>
          <p:cNvSpPr txBox="1"/>
          <p:nvPr/>
        </p:nvSpPr>
        <p:spPr>
          <a:xfrm>
            <a:off x="309563" y="2133600"/>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Department computers, printers and Informatics IT services.</a:t>
            </a:r>
          </a:p>
        </p:txBody>
      </p:sp>
      <p:sp>
        <p:nvSpPr>
          <p:cNvPr id="384" name="RRZ: Regional Computing Center"/>
          <p:cNvSpPr txBox="1"/>
          <p:nvPr/>
        </p:nvSpPr>
        <p:spPr>
          <a:xfrm>
            <a:off x="309563" y="2600325"/>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RRZ: Regional Computing Center</a:t>
            </a:r>
          </a:p>
        </p:txBody>
      </p:sp>
      <p:sp>
        <p:nvSpPr>
          <p:cNvPr id="385" name="University-wide IT services and account support."/>
          <p:cNvSpPr txBox="1"/>
          <p:nvPr/>
        </p:nvSpPr>
        <p:spPr>
          <a:xfrm>
            <a:off x="309563" y="2886075"/>
            <a:ext cx="8362951" cy="279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latin typeface="TheSans UHH"/>
                <a:ea typeface="TheSans UHH"/>
                <a:cs typeface="TheSans UHH"/>
                <a:sym typeface="TheSans UHH"/>
              </a:defRPr>
            </a:lvl1pPr>
          </a:lstStyle>
          <a:p>
            <a:pPr/>
            <a:r>
              <a:t>University-wide IT services and account support.</a:t>
            </a:r>
          </a:p>
        </p:txBody>
      </p:sp>
      <p:sp>
        <p:nvSpPr>
          <p:cNvPr id="386" name="Server-AG: Mafiasi services"/>
          <p:cNvSpPr txBox="1"/>
          <p:nvPr/>
        </p:nvSpPr>
        <p:spPr>
          <a:xfrm>
            <a:off x="309563" y="3352800"/>
            <a:ext cx="8362951"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000">
                <a:latin typeface="TheSans UHH"/>
                <a:ea typeface="TheSans UHH"/>
                <a:cs typeface="TheSans UHH"/>
                <a:sym typeface="TheSans UHH"/>
              </a:defRPr>
            </a:lvl1pPr>
          </a:lstStyle>
          <a:p>
            <a:pPr/>
            <a:r>
              <a:t>Server-AG: Mafiasi services</a:t>
            </a:r>
          </a:p>
        </p:txBody>
      </p:sp>
      <p:sp>
        <p:nvSpPr>
          <p:cNvPr id="387" name="Student-run services. Report issues to:…"/>
          <p:cNvSpPr txBox="1"/>
          <p:nvPr/>
        </p:nvSpPr>
        <p:spPr>
          <a:xfrm>
            <a:off x="309563" y="3638550"/>
            <a:ext cx="8362951" cy="558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latin typeface="TheSans UHH"/>
                <a:ea typeface="TheSans UHH"/>
                <a:cs typeface="TheSans UHH"/>
                <a:sym typeface="TheSans UHH"/>
              </a:defRPr>
            </a:pPr>
            <a:r>
              <a:t>Student-run services. Report issues to:</a:t>
            </a:r>
          </a:p>
          <a:p>
            <a:pPr>
              <a:defRPr>
                <a:latin typeface="TheSans UHH"/>
                <a:ea typeface="TheSans UHH"/>
                <a:cs typeface="TheSans UHH"/>
                <a:sym typeface="TheSans UHH"/>
              </a:defRPr>
            </a:pPr>
            <a:r>
              <a:t>ag-server@informatik.uni-hamburg.de</a:t>
            </a:r>
          </a:p>
        </p:txBody>
      </p:sp>
      <p:sp>
        <p:nvSpPr>
          <p:cNvPr id="388" name="IRZ support and opening hours"/>
          <p:cNvSpPr txBox="1"/>
          <p:nvPr/>
        </p:nvSpPr>
        <p:spPr>
          <a:xfrm>
            <a:off x="309563" y="4238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IRZ support and opening hours</a:t>
            </a:r>
          </a:p>
        </p:txBody>
      </p:sp>
      <p:sp>
        <p:nvSpPr>
          <p:cNvPr id="389" name="RRZ support"/>
          <p:cNvSpPr txBox="1"/>
          <p:nvPr/>
        </p:nvSpPr>
        <p:spPr>
          <a:xfrm>
            <a:off x="309563" y="44291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RRZ support</a:t>
            </a:r>
          </a:p>
        </p:txBody>
      </p:sp>
      <p:sp>
        <p:nvSpPr>
          <p:cNvPr id="390" name="Server-AG information"/>
          <p:cNvSpPr txBox="1"/>
          <p:nvPr/>
        </p:nvSpPr>
        <p:spPr>
          <a:xfrm>
            <a:off x="309563" y="4619625"/>
            <a:ext cx="836295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u="sng">
                <a:solidFill>
                  <a:schemeClr val="accent2"/>
                </a:solidFill>
                <a:uFill>
                  <a:solidFill>
                    <a:schemeClr val="accent2"/>
                  </a:solidFill>
                </a:uFill>
                <a:latin typeface="TheSans UHH"/>
                <a:ea typeface="TheSans UHH"/>
                <a:cs typeface="TheSans UHH"/>
                <a:sym typeface="TheSans UHH"/>
                <a:hlinkClick r:id="rId5" invalidUrl="" action="" tgtFrame="" tooltip="" history="1" highlightClick="0" endSnd="0"/>
              </a:defRPr>
            </a:lvl1pPr>
          </a:lstStyle>
          <a:p>
            <a:pPr>
              <a:defRPr>
                <a:uFillTx/>
              </a:defRPr>
            </a:pPr>
            <a:r>
              <a:rPr>
                <a:uFill>
                  <a:solidFill>
                    <a:schemeClr val="accent2"/>
                  </a:solidFill>
                </a:uFill>
                <a:hlinkClick r:id="rId5" invalidUrl="" action="" tgtFrame="" tooltip="" history="1" highlightClick="0" endSnd="0"/>
              </a:rPr>
              <a:t>Server-AG information</a:t>
            </a:r>
          </a:p>
        </p:txBody>
      </p:sp>
      <p:sp>
        <p:nvSpPr>
          <p:cNvPr id="391" name="Titel"/>
          <p:cNvSpPr txBox="1"/>
          <p:nvPr>
            <p:ph type="title"/>
          </p:nvPr>
        </p:nvSpPr>
        <p:spPr>
          <a:xfrm>
            <a:off x="214768" y="1203598"/>
            <a:ext cx="8533695" cy="503883"/>
          </a:xfrm>
          <a:prstGeom prst="rect">
            <a:avLst/>
          </a:prstGeom>
        </p:spPr>
        <p:txBody>
          <a:bodyPr/>
          <a:lstStyle/>
          <a:p>
            <a:pPr/>
            <a:r>
              <a:t>Other technical support</a:t>
            </a:r>
          </a:p>
        </p:txBody>
      </p:sp>
      <p:sp>
        <p:nvSpPr>
          <p:cNvPr id="392"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397" name="FSR: general contact"/>
          <p:cNvSpPr txBox="1"/>
          <p:nvPr/>
        </p:nvSpPr>
        <p:spPr>
          <a:xfrm>
            <a:off x="309563" y="18573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FSR: general contact</a:t>
            </a:r>
          </a:p>
        </p:txBody>
      </p:sp>
      <p:sp>
        <p:nvSpPr>
          <p:cNvPr id="398" name="fsr@informatik.uni-hamburg.de"/>
          <p:cNvSpPr txBox="1"/>
          <p:nvPr/>
        </p:nvSpPr>
        <p:spPr>
          <a:xfrm>
            <a:off x="3600450" y="18573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fsr@informatik.uni-hamburg.de</a:t>
            </a:r>
          </a:p>
        </p:txBody>
      </p:sp>
      <p:sp>
        <p:nvSpPr>
          <p:cNvPr id="399" name="FSR: confidential contact"/>
          <p:cNvSpPr txBox="1"/>
          <p:nvPr/>
        </p:nvSpPr>
        <p:spPr>
          <a:xfrm>
            <a:off x="309563" y="21812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FSR: confidential contact</a:t>
            </a:r>
          </a:p>
        </p:txBody>
      </p:sp>
      <p:sp>
        <p:nvSpPr>
          <p:cNvPr id="400" name="fsr-vertraulich@informatik.uni-hamburg.de"/>
          <p:cNvSpPr txBox="1"/>
          <p:nvPr/>
        </p:nvSpPr>
        <p:spPr>
          <a:xfrm>
            <a:off x="3600450" y="21812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fsr-vertraulich@informatik.uni-hamburg.de</a:t>
            </a:r>
          </a:p>
        </p:txBody>
      </p:sp>
      <p:sp>
        <p:nvSpPr>
          <p:cNvPr id="401" name="AStA"/>
          <p:cNvSpPr txBox="1"/>
          <p:nvPr/>
        </p:nvSpPr>
        <p:spPr>
          <a:xfrm>
            <a:off x="309563" y="25050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AStA</a:t>
            </a:r>
          </a:p>
        </p:txBody>
      </p:sp>
      <p:sp>
        <p:nvSpPr>
          <p:cNvPr id="402" name="Student advice and representation"/>
          <p:cNvSpPr txBox="1"/>
          <p:nvPr/>
        </p:nvSpPr>
        <p:spPr>
          <a:xfrm>
            <a:off x="3600450" y="25050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5" invalidUrl="" action="" tgtFrame="" tooltip="" history="1" highlightClick="0" endSnd="0"/>
              </a:defRPr>
            </a:lvl1pPr>
          </a:lstStyle>
          <a:p>
            <a:pPr>
              <a:defRPr>
                <a:uFillTx/>
              </a:defRPr>
            </a:pPr>
            <a:r>
              <a:rPr>
                <a:uFill>
                  <a:solidFill>
                    <a:schemeClr val="accent2"/>
                  </a:solidFill>
                </a:uFill>
                <a:hlinkClick r:id="rId5" invalidUrl="" action="" tgtFrame="" tooltip="" history="1" highlightClick="0" endSnd="0"/>
              </a:rPr>
              <a:t>Student advice and representation</a:t>
            </a:r>
          </a:p>
        </p:txBody>
      </p:sp>
      <p:sp>
        <p:nvSpPr>
          <p:cNvPr id="403" name="Antidiscrimination Center"/>
          <p:cNvSpPr txBox="1"/>
          <p:nvPr/>
        </p:nvSpPr>
        <p:spPr>
          <a:xfrm>
            <a:off x="309563" y="28289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Antidiscrimination Center</a:t>
            </a:r>
          </a:p>
        </p:txBody>
      </p:sp>
      <p:sp>
        <p:nvSpPr>
          <p:cNvPr id="404" name="Advice and contact form"/>
          <p:cNvSpPr txBox="1"/>
          <p:nvPr/>
        </p:nvSpPr>
        <p:spPr>
          <a:xfrm>
            <a:off x="3600450" y="28289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6" invalidUrl="" action="" tgtFrame="" tooltip="" history="1" highlightClick="0" endSnd="0"/>
              </a:defRPr>
            </a:lvl1pPr>
          </a:lstStyle>
          <a:p>
            <a:pPr>
              <a:defRPr>
                <a:uFillTx/>
              </a:defRPr>
            </a:pPr>
            <a:r>
              <a:rPr>
                <a:uFill>
                  <a:solidFill>
                    <a:schemeClr val="accent2"/>
                  </a:solidFill>
                </a:uFill>
                <a:hlinkClick r:id="rId6" invalidUrl="" action="" tgtFrame="" tooltip="" history="1" highlightClick="0" endSnd="0"/>
              </a:rPr>
              <a:t>Advice and contact form</a:t>
            </a:r>
          </a:p>
        </p:txBody>
      </p:sp>
      <p:sp>
        <p:nvSpPr>
          <p:cNvPr id="405" name="Student Complaints Office"/>
          <p:cNvSpPr txBox="1"/>
          <p:nvPr/>
        </p:nvSpPr>
        <p:spPr>
          <a:xfrm>
            <a:off x="309563" y="31527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Student Complaints Office</a:t>
            </a:r>
          </a:p>
        </p:txBody>
      </p:sp>
      <p:sp>
        <p:nvSpPr>
          <p:cNvPr id="406" name="Discrimination complaints form"/>
          <p:cNvSpPr txBox="1"/>
          <p:nvPr/>
        </p:nvSpPr>
        <p:spPr>
          <a:xfrm>
            <a:off x="3600450" y="31527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7" invalidUrl="" action="" tgtFrame="" tooltip="" history="1" highlightClick="0" endSnd="0"/>
              </a:defRPr>
            </a:lvl1pPr>
          </a:lstStyle>
          <a:p>
            <a:pPr>
              <a:defRPr>
                <a:uFillTx/>
              </a:defRPr>
            </a:pPr>
            <a:r>
              <a:rPr>
                <a:uFill>
                  <a:solidFill>
                    <a:schemeClr val="accent2"/>
                  </a:solidFill>
                </a:uFill>
                <a:hlinkClick r:id="rId7" invalidUrl="" action="" tgtFrame="" tooltip="" history="1" highlightClick="0" endSnd="0"/>
              </a:rPr>
              <a:t>Discrimination complaints form</a:t>
            </a:r>
          </a:p>
        </p:txBody>
      </p:sp>
      <p:sp>
        <p:nvSpPr>
          <p:cNvPr id="407" name="Equal Opportunity Unit"/>
          <p:cNvSpPr txBox="1"/>
          <p:nvPr/>
        </p:nvSpPr>
        <p:spPr>
          <a:xfrm>
            <a:off x="309563" y="34766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Equal Opportunity Unit</a:t>
            </a:r>
          </a:p>
        </p:txBody>
      </p:sp>
      <p:sp>
        <p:nvSpPr>
          <p:cNvPr id="408" name="Gender equality and diversity"/>
          <p:cNvSpPr txBox="1"/>
          <p:nvPr/>
        </p:nvSpPr>
        <p:spPr>
          <a:xfrm>
            <a:off x="3600450" y="34766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8" invalidUrl="" action="" tgtFrame="" tooltip="" history="1" highlightClick="0" endSnd="0"/>
              </a:defRPr>
            </a:lvl1pPr>
          </a:lstStyle>
          <a:p>
            <a:pPr>
              <a:defRPr>
                <a:uFillTx/>
              </a:defRPr>
            </a:pPr>
            <a:r>
              <a:rPr>
                <a:uFill>
                  <a:solidFill>
                    <a:schemeClr val="accent2"/>
                  </a:solidFill>
                </a:uFill>
                <a:hlinkClick r:id="rId8" invalidUrl="" action="" tgtFrame="" tooltip="" history="1" highlightClick="0" endSnd="0"/>
              </a:rPr>
              <a:t>Gender equality and diversity</a:t>
            </a:r>
          </a:p>
        </p:txBody>
      </p:sp>
      <p:sp>
        <p:nvSpPr>
          <p:cNvPr id="409" name="Psychological Counseling"/>
          <p:cNvSpPr txBox="1"/>
          <p:nvPr/>
        </p:nvSpPr>
        <p:spPr>
          <a:xfrm>
            <a:off x="309563" y="38004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Psychological Counseling</a:t>
            </a:r>
          </a:p>
        </p:txBody>
      </p:sp>
      <p:sp>
        <p:nvSpPr>
          <p:cNvPr id="410" name="Information and appointments"/>
          <p:cNvSpPr txBox="1"/>
          <p:nvPr/>
        </p:nvSpPr>
        <p:spPr>
          <a:xfrm>
            <a:off x="3600450" y="38004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9" invalidUrl="" action="" tgtFrame="" tooltip="" history="1" highlightClick="0" endSnd="0"/>
              </a:defRPr>
            </a:lvl1pPr>
          </a:lstStyle>
          <a:p>
            <a:pPr>
              <a:defRPr>
                <a:uFillTx/>
              </a:defRPr>
            </a:pPr>
            <a:r>
              <a:rPr>
                <a:uFill>
                  <a:solidFill>
                    <a:schemeClr val="accent2"/>
                  </a:solidFill>
                </a:uFill>
                <a:hlinkClick r:id="rId9" invalidUrl="" action="" tgtFrame="" tooltip="" history="1" highlightClick="0" endSnd="0"/>
              </a:rPr>
              <a:t>Information and appointments</a:t>
            </a:r>
          </a:p>
        </p:txBody>
      </p:sp>
      <p:sp>
        <p:nvSpPr>
          <p:cNvPr id="411" name="Study adjustments"/>
          <p:cNvSpPr txBox="1"/>
          <p:nvPr/>
        </p:nvSpPr>
        <p:spPr>
          <a:xfrm>
            <a:off x="309563" y="41243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Study adjustments</a:t>
            </a:r>
          </a:p>
        </p:txBody>
      </p:sp>
      <p:sp>
        <p:nvSpPr>
          <p:cNvPr id="412" name="Advice and application information"/>
          <p:cNvSpPr txBox="1"/>
          <p:nvPr/>
        </p:nvSpPr>
        <p:spPr>
          <a:xfrm>
            <a:off x="3600450" y="41243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10" invalidUrl="" action="" tgtFrame="" tooltip="" history="1" highlightClick="0" endSnd="0"/>
              </a:defRPr>
            </a:lvl1pPr>
          </a:lstStyle>
          <a:p>
            <a:pPr>
              <a:defRPr>
                <a:uFillTx/>
              </a:defRPr>
            </a:pPr>
            <a:r>
              <a:rPr>
                <a:uFill>
                  <a:solidFill>
                    <a:schemeClr val="accent2"/>
                  </a:solidFill>
                </a:uFill>
                <a:hlinkClick r:id="rId10" invalidUrl="" action="" tgtFrame="" tooltip="" history="1" highlightClick="0" endSnd="0"/>
              </a:rPr>
              <a:t>Advice and application information</a:t>
            </a:r>
          </a:p>
        </p:txBody>
      </p:sp>
      <p:sp>
        <p:nvSpPr>
          <p:cNvPr id="413" name="Click the underlined text to open a contact or service."/>
          <p:cNvSpPr txBox="1"/>
          <p:nvPr/>
        </p:nvSpPr>
        <p:spPr>
          <a:xfrm>
            <a:off x="309563" y="4514850"/>
            <a:ext cx="819150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atin typeface="TheSans UHH"/>
                <a:ea typeface="TheSans UHH"/>
                <a:cs typeface="TheSans UHH"/>
                <a:sym typeface="TheSans UHH"/>
              </a:defRPr>
            </a:lvl1pPr>
          </a:lstStyle>
          <a:p>
            <a:pPr/>
            <a:r>
              <a:t>Click the underlined text to open a contact or service.</a:t>
            </a:r>
          </a:p>
        </p:txBody>
      </p:sp>
      <p:sp>
        <p:nvSpPr>
          <p:cNvPr id="414" name="Titel"/>
          <p:cNvSpPr txBox="1"/>
          <p:nvPr>
            <p:ph type="title"/>
          </p:nvPr>
        </p:nvSpPr>
        <p:spPr>
          <a:xfrm>
            <a:off x="214768" y="1203598"/>
            <a:ext cx="8533695" cy="503883"/>
          </a:xfrm>
          <a:prstGeom prst="rect">
            <a:avLst/>
          </a:prstGeom>
        </p:spPr>
        <p:txBody>
          <a:bodyPr/>
          <a:lstStyle/>
          <a:p>
            <a:pPr/>
            <a:r>
              <a:t>Contact directory: support and advice</a:t>
            </a:r>
          </a:p>
        </p:txBody>
      </p:sp>
      <p:sp>
        <p:nvSpPr>
          <p:cNvPr id="415"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9"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 Awareness and support</a:t>
            </a:r>
          </a:p>
        </p:txBody>
      </p:sp>
      <p:sp>
        <p:nvSpPr>
          <p:cNvPr id="420" name="IAS team"/>
          <p:cNvSpPr txBox="1"/>
          <p:nvPr/>
        </p:nvSpPr>
        <p:spPr>
          <a:xfrm>
            <a:off x="309563" y="18573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IAS team</a:t>
            </a:r>
          </a:p>
        </p:txBody>
      </p:sp>
      <p:sp>
        <p:nvSpPr>
          <p:cNvPr id="421" name="Programme contacts and advice"/>
          <p:cNvSpPr txBox="1"/>
          <p:nvPr/>
        </p:nvSpPr>
        <p:spPr>
          <a:xfrm>
            <a:off x="3600450" y="18573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3" invalidUrl="" action="" tgtFrame="" tooltip="" history="1" highlightClick="0" endSnd="0"/>
              </a:defRPr>
            </a:lvl1pPr>
          </a:lstStyle>
          <a:p>
            <a:pPr>
              <a:defRPr>
                <a:uFillTx/>
              </a:defRPr>
            </a:pPr>
            <a:r>
              <a:rPr>
                <a:uFill>
                  <a:solidFill>
                    <a:schemeClr val="accent2"/>
                  </a:solidFill>
                </a:uFill>
                <a:hlinkClick r:id="rId3" invalidUrl="" action="" tgtFrame="" tooltip="" history="1" highlightClick="0" endSnd="0"/>
              </a:rPr>
              <a:t>Programme contacts and advice</a:t>
            </a:r>
          </a:p>
        </p:txBody>
      </p:sp>
      <p:sp>
        <p:nvSpPr>
          <p:cNvPr id="422" name="Academic Office"/>
          <p:cNvSpPr txBox="1"/>
          <p:nvPr/>
        </p:nvSpPr>
        <p:spPr>
          <a:xfrm>
            <a:off x="309563" y="21812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Academic Office</a:t>
            </a:r>
          </a:p>
        </p:txBody>
      </p:sp>
      <p:sp>
        <p:nvSpPr>
          <p:cNvPr id="423" name="Student contact form"/>
          <p:cNvSpPr txBox="1"/>
          <p:nvPr/>
        </p:nvSpPr>
        <p:spPr>
          <a:xfrm>
            <a:off x="3600450" y="21812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4" invalidUrl="" action="" tgtFrame="" tooltip="" history="1" highlightClick="0" endSnd="0"/>
              </a:defRPr>
            </a:lvl1pPr>
          </a:lstStyle>
          <a:p>
            <a:pPr>
              <a:defRPr>
                <a:uFillTx/>
              </a:defRPr>
            </a:pPr>
            <a:r>
              <a:rPr>
                <a:uFill>
                  <a:solidFill>
                    <a:schemeClr val="accent2"/>
                  </a:solidFill>
                </a:uFill>
                <a:hlinkClick r:id="rId4" invalidUrl="" action="" tgtFrame="" tooltip="" history="1" highlightClick="0" endSnd="0"/>
              </a:rPr>
              <a:t>Student contact form</a:t>
            </a:r>
          </a:p>
        </p:txBody>
      </p:sp>
      <p:sp>
        <p:nvSpPr>
          <p:cNvPr id="424" name="Campus Center"/>
          <p:cNvSpPr txBox="1"/>
          <p:nvPr/>
        </p:nvSpPr>
        <p:spPr>
          <a:xfrm>
            <a:off x="309563" y="25050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Campus Center</a:t>
            </a:r>
          </a:p>
        </p:txBody>
      </p:sp>
      <p:sp>
        <p:nvSpPr>
          <p:cNvPr id="425" name="University administration"/>
          <p:cNvSpPr txBox="1"/>
          <p:nvPr/>
        </p:nvSpPr>
        <p:spPr>
          <a:xfrm>
            <a:off x="3600450" y="25050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5" invalidUrl="" action="" tgtFrame="" tooltip="" history="1" highlightClick="0" endSnd="0"/>
              </a:defRPr>
            </a:lvl1pPr>
          </a:lstStyle>
          <a:p>
            <a:pPr>
              <a:defRPr>
                <a:uFillTx/>
              </a:defRPr>
            </a:pPr>
            <a:r>
              <a:rPr>
                <a:uFill>
                  <a:solidFill>
                    <a:schemeClr val="accent2"/>
                  </a:solidFill>
                </a:uFill>
                <a:hlinkClick r:id="rId5" invalidUrl="" action="" tgtFrame="" tooltip="" history="1" highlightClick="0" endSnd="0"/>
              </a:rPr>
              <a:t>University administration</a:t>
            </a:r>
          </a:p>
        </p:txBody>
      </p:sp>
      <p:sp>
        <p:nvSpPr>
          <p:cNvPr id="426" name="International Student Support"/>
          <p:cNvSpPr txBox="1"/>
          <p:nvPr/>
        </p:nvSpPr>
        <p:spPr>
          <a:xfrm>
            <a:off x="309563" y="28289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International Student Support</a:t>
            </a:r>
          </a:p>
        </p:txBody>
      </p:sp>
      <p:sp>
        <p:nvSpPr>
          <p:cNvPr id="427" name="Residence permit advice"/>
          <p:cNvSpPr txBox="1"/>
          <p:nvPr/>
        </p:nvSpPr>
        <p:spPr>
          <a:xfrm>
            <a:off x="3600450" y="28289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6" invalidUrl="" action="" tgtFrame="" tooltip="" history="1" highlightClick="0" endSnd="0"/>
              </a:defRPr>
            </a:lvl1pPr>
          </a:lstStyle>
          <a:p>
            <a:pPr>
              <a:defRPr>
                <a:uFillTx/>
              </a:defRPr>
            </a:pPr>
            <a:r>
              <a:rPr>
                <a:uFill>
                  <a:solidFill>
                    <a:schemeClr val="accent2"/>
                  </a:solidFill>
                </a:uFill>
                <a:hlinkClick r:id="rId6" invalidUrl="" action="" tgtFrame="" tooltip="" history="1" highlightClick="0" endSnd="0"/>
              </a:rPr>
              <a:t>Residence permit advice</a:t>
            </a:r>
          </a:p>
        </p:txBody>
      </p:sp>
      <p:sp>
        <p:nvSpPr>
          <p:cNvPr id="428" name="STiNE support"/>
          <p:cNvSpPr txBox="1"/>
          <p:nvPr/>
        </p:nvSpPr>
        <p:spPr>
          <a:xfrm>
            <a:off x="309563" y="31527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STiNE support</a:t>
            </a:r>
          </a:p>
        </p:txBody>
      </p:sp>
      <p:sp>
        <p:nvSpPr>
          <p:cNvPr id="429" name="Student support form"/>
          <p:cNvSpPr txBox="1"/>
          <p:nvPr/>
        </p:nvSpPr>
        <p:spPr>
          <a:xfrm>
            <a:off x="3600450" y="31527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7" invalidUrl="" action="" tgtFrame="" tooltip="" history="1" highlightClick="0" endSnd="0"/>
              </a:defRPr>
            </a:lvl1pPr>
          </a:lstStyle>
          <a:p>
            <a:pPr>
              <a:defRPr>
                <a:uFillTx/>
              </a:defRPr>
            </a:pPr>
            <a:r>
              <a:rPr>
                <a:uFill>
                  <a:solidFill>
                    <a:schemeClr val="accent2"/>
                  </a:solidFill>
                </a:uFill>
                <a:hlinkClick r:id="rId7" invalidUrl="" action="" tgtFrame="" tooltip="" history="1" highlightClick="0" endSnd="0"/>
              </a:rPr>
              <a:t>Student support form</a:t>
            </a:r>
          </a:p>
        </p:txBody>
      </p:sp>
      <p:sp>
        <p:nvSpPr>
          <p:cNvPr id="430" name="IRZ"/>
          <p:cNvSpPr txBox="1"/>
          <p:nvPr/>
        </p:nvSpPr>
        <p:spPr>
          <a:xfrm>
            <a:off x="309563" y="34766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IRZ</a:t>
            </a:r>
          </a:p>
        </p:txBody>
      </p:sp>
      <p:sp>
        <p:nvSpPr>
          <p:cNvPr id="431" name="Department IT support"/>
          <p:cNvSpPr txBox="1"/>
          <p:nvPr/>
        </p:nvSpPr>
        <p:spPr>
          <a:xfrm>
            <a:off x="3600450" y="34766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8" invalidUrl="" action="" tgtFrame="" tooltip="" history="1" highlightClick="0" endSnd="0"/>
              </a:defRPr>
            </a:lvl1pPr>
          </a:lstStyle>
          <a:p>
            <a:pPr>
              <a:defRPr>
                <a:uFillTx/>
              </a:defRPr>
            </a:pPr>
            <a:r>
              <a:rPr>
                <a:uFill>
                  <a:solidFill>
                    <a:schemeClr val="accent2"/>
                  </a:solidFill>
                </a:uFill>
                <a:hlinkClick r:id="rId8" invalidUrl="" action="" tgtFrame="" tooltip="" history="1" highlightClick="0" endSnd="0"/>
              </a:rPr>
              <a:t>Department IT support</a:t>
            </a:r>
          </a:p>
        </p:txBody>
      </p:sp>
      <p:sp>
        <p:nvSpPr>
          <p:cNvPr id="432" name="RRZ"/>
          <p:cNvSpPr txBox="1"/>
          <p:nvPr/>
        </p:nvSpPr>
        <p:spPr>
          <a:xfrm>
            <a:off x="309563" y="380047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RRZ</a:t>
            </a:r>
          </a:p>
        </p:txBody>
      </p:sp>
      <p:sp>
        <p:nvSpPr>
          <p:cNvPr id="433" name="University IT support"/>
          <p:cNvSpPr txBox="1"/>
          <p:nvPr/>
        </p:nvSpPr>
        <p:spPr>
          <a:xfrm>
            <a:off x="3600450" y="380047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9" invalidUrl="" action="" tgtFrame="" tooltip="" history="1" highlightClick="0" endSnd="0"/>
              </a:defRPr>
            </a:lvl1pPr>
          </a:lstStyle>
          <a:p>
            <a:pPr>
              <a:defRPr>
                <a:uFillTx/>
              </a:defRPr>
            </a:pPr>
            <a:r>
              <a:rPr>
                <a:uFill>
                  <a:solidFill>
                    <a:schemeClr val="accent2"/>
                  </a:solidFill>
                </a:uFill>
                <a:hlinkClick r:id="rId9" invalidUrl="" action="" tgtFrame="" tooltip="" history="1" highlightClick="0" endSnd="0"/>
              </a:rPr>
              <a:t>University IT support</a:t>
            </a:r>
          </a:p>
        </p:txBody>
      </p:sp>
      <p:sp>
        <p:nvSpPr>
          <p:cNvPr id="434" name="Server-AG"/>
          <p:cNvSpPr txBox="1"/>
          <p:nvPr/>
        </p:nvSpPr>
        <p:spPr>
          <a:xfrm>
            <a:off x="309563" y="4124325"/>
            <a:ext cx="3143251"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700">
                <a:latin typeface="TheSans UHH"/>
                <a:ea typeface="TheSans UHH"/>
                <a:cs typeface="TheSans UHH"/>
                <a:sym typeface="TheSans UHH"/>
              </a:defRPr>
            </a:lvl1pPr>
          </a:lstStyle>
          <a:p>
            <a:pPr/>
            <a:r>
              <a:t>Server-AG</a:t>
            </a:r>
          </a:p>
        </p:txBody>
      </p:sp>
      <p:sp>
        <p:nvSpPr>
          <p:cNvPr id="435" name="ag-server@informatik.uni-hamburg.de"/>
          <p:cNvSpPr txBox="1"/>
          <p:nvPr/>
        </p:nvSpPr>
        <p:spPr>
          <a:xfrm>
            <a:off x="3600450" y="4124325"/>
            <a:ext cx="5048250" cy="254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u="sng">
                <a:solidFill>
                  <a:schemeClr val="accent2"/>
                </a:solidFill>
                <a:uFill>
                  <a:solidFill>
                    <a:schemeClr val="accent2"/>
                  </a:solidFill>
                </a:uFill>
                <a:latin typeface="TheSans UHH"/>
                <a:ea typeface="TheSans UHH"/>
                <a:cs typeface="TheSans UHH"/>
                <a:sym typeface="TheSans UHH"/>
                <a:hlinkClick r:id="rId10" invalidUrl="" action="" tgtFrame="" tooltip="" history="1" highlightClick="0" endSnd="0"/>
              </a:defRPr>
            </a:lvl1pPr>
          </a:lstStyle>
          <a:p>
            <a:pPr>
              <a:defRPr>
                <a:uFillTx/>
              </a:defRPr>
            </a:pPr>
            <a:r>
              <a:rPr>
                <a:uFill>
                  <a:solidFill>
                    <a:schemeClr val="accent2"/>
                  </a:solidFill>
                </a:uFill>
                <a:hlinkClick r:id="rId10" invalidUrl="" action="" tgtFrame="" tooltip="" history="1" highlightClick="0" endSnd="0"/>
              </a:rPr>
              <a:t>ag-server@informatik.uni-hamburg.de</a:t>
            </a:r>
          </a:p>
        </p:txBody>
      </p:sp>
      <p:sp>
        <p:nvSpPr>
          <p:cNvPr id="436" name="Click the underlined text to open a contact or service."/>
          <p:cNvSpPr txBox="1"/>
          <p:nvPr/>
        </p:nvSpPr>
        <p:spPr>
          <a:xfrm>
            <a:off x="309563" y="4514850"/>
            <a:ext cx="8191501" cy="203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latin typeface="TheSans UHH"/>
                <a:ea typeface="TheSans UHH"/>
                <a:cs typeface="TheSans UHH"/>
                <a:sym typeface="TheSans UHH"/>
              </a:defRPr>
            </a:lvl1pPr>
          </a:lstStyle>
          <a:p>
            <a:pPr/>
            <a:r>
              <a:t>Click the underlined text to open a contact or service.</a:t>
            </a:r>
          </a:p>
        </p:txBody>
      </p:sp>
      <p:sp>
        <p:nvSpPr>
          <p:cNvPr id="437" name="Titel"/>
          <p:cNvSpPr txBox="1"/>
          <p:nvPr>
            <p:ph type="title"/>
          </p:nvPr>
        </p:nvSpPr>
        <p:spPr>
          <a:xfrm>
            <a:off x="214768" y="1203598"/>
            <a:ext cx="8533695" cy="503883"/>
          </a:xfrm>
          <a:prstGeom prst="rect">
            <a:avLst/>
          </a:prstGeom>
        </p:spPr>
        <p:txBody>
          <a:bodyPr/>
          <a:lstStyle/>
          <a:p>
            <a:pPr/>
            <a:r>
              <a:t>Contact directory: studies and IT</a:t>
            </a:r>
          </a:p>
        </p:txBody>
      </p:sp>
      <p:sp>
        <p:nvSpPr>
          <p:cNvPr id="438" name="Foliennummer"/>
          <p:cNvSpPr txBox="1"/>
          <p:nvPr>
            <p:ph type="sldNum" sz="quarter" idx="2"/>
          </p:nvPr>
        </p:nvSpPr>
        <p:spPr>
          <a:xfrm>
            <a:off x="8564584" y="4814422"/>
            <a:ext cx="182217"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What would you like to clarify?…"/>
          <p:cNvSpPr txBox="1"/>
          <p:nvPr/>
        </p:nvSpPr>
        <p:spPr>
          <a:xfrm>
            <a:off x="323850" y="2428875"/>
            <a:ext cx="8096250" cy="9144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000">
                <a:solidFill>
                  <a:srgbClr val="FFFFFF"/>
                </a:solidFill>
                <a:latin typeface="TheSans UHH"/>
                <a:ea typeface="TheSans UHH"/>
                <a:cs typeface="TheSans UHH"/>
                <a:sym typeface="TheSans UHH"/>
              </a:defRPr>
            </a:pPr>
            <a:r>
              <a:t>What would you like to clarify?</a:t>
            </a:r>
          </a:p>
          <a:p>
            <a:pPr/>
            <a:endParaRPr sz="2000">
              <a:solidFill>
                <a:srgbClr val="FFFFFF"/>
              </a:solidFill>
              <a:latin typeface="TheSans UHH"/>
              <a:ea typeface="TheSans UHH"/>
              <a:cs typeface="TheSans UHH"/>
              <a:sym typeface="TheSans UHH"/>
            </a:endParaRPr>
          </a:p>
          <a:p>
            <a:pPr>
              <a:defRPr sz="2000">
                <a:solidFill>
                  <a:srgbClr val="FFFFFF"/>
                </a:solidFill>
                <a:latin typeface="TheSans UHH"/>
                <a:ea typeface="TheSans UHH"/>
                <a:cs typeface="TheSans UHH"/>
                <a:sym typeface="TheSans UHH"/>
              </a:defRPr>
            </a:pPr>
            <a:r>
              <a:t>For a personal concern, speak to a tutor afterwards.</a:t>
            </a:r>
          </a:p>
        </p:txBody>
      </p:sp>
      <p:sp>
        <p:nvSpPr>
          <p:cNvPr id="443" name="Titel 2"/>
          <p:cNvSpPr txBox="1"/>
          <p:nvPr>
            <p:ph type="title"/>
          </p:nvPr>
        </p:nvSpPr>
        <p:spPr>
          <a:xfrm>
            <a:off x="251519" y="3994927"/>
            <a:ext cx="8096402" cy="1015200"/>
          </a:xfrm>
          <a:prstGeom prst="rect">
            <a:avLst/>
          </a:prstGeom>
        </p:spPr>
        <p:txBody>
          <a:bodyPr/>
          <a:lstStyle/>
          <a:p>
            <a:pPr/>
            <a:r>
              <a:t>Questions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&amp; DSAI · Awareness and support</a:t>
            </a:r>
          </a:p>
        </p:txBody>
      </p:sp>
      <p:sp>
        <p:nvSpPr>
          <p:cNvPr id="3" name="Foliennummer"/>
          <p:cNvSpPr txBox="1"/>
          <p:nvPr>
            <p:ph type="sldNum" sz="quarter" idx="2"/>
          </p:nvPr>
        </p:nvSpPr>
        <p:spPr>
          <a:xfrm>
            <a:off x="8575821" y="4814422"/>
            <a:ext cx="170980"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 name="">
            <a:extLst>
              <a:ext uri="{FF2B5EF4-FFF2-40B4-BE49-F238E27FC236}">
                <a16:creationId xmlns:a16="http://schemas.microsoft.com/office/drawing/2014/main" id="{3E8E6F5A-76A4-4707-B83A-C08E52F71942}"/>
              </a:ext>
            </a:extLst>
          </p:cNvPr>
          <p:cNvSpPr>
            <a:spLocks noGrp="1"/>
          </p:cNvSpPr>
          <p:nvPr/>
        </p:nvSpPr>
        <p:spPr>
          <a:xfrm>
            <a:off x="309563" y="1847850"/>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112: Ambulance and fire brigade</a:t>
            </a:r>
          </a:p>
        </p:txBody>
      </p:sp>
      <p:sp>
        <p:nvSpPr>
          <p:cNvPr id="5" name="">
            <a:extLst>
              <a:ext uri="{FF2B5EF4-FFF2-40B4-BE49-F238E27FC236}">
                <a16:creationId xmlns:a16="http://schemas.microsoft.com/office/drawing/2014/main" id="{CE1E287C-7231-4049-9047-B1ACB087EC6F}"/>
              </a:ext>
            </a:extLst>
          </p:cNvPr>
          <p:cNvSpPr>
            <a:spLocks noGrp="1"/>
          </p:cNvSpPr>
          <p:nvPr/>
        </p:nvSpPr>
        <p:spPr>
          <a:xfrm>
            <a:off x="309563" y="2133600"/>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Life-threatening emergencies, serious accidents or fire.</a:t>
            </a:r>
          </a:p>
        </p:txBody>
      </p:sp>
      <p:sp>
        <p:nvSpPr>
          <p:cNvPr id="6" name="">
            <a:extLst>
              <a:ext uri="{FF2B5EF4-FFF2-40B4-BE49-F238E27FC236}">
                <a16:creationId xmlns:a16="http://schemas.microsoft.com/office/drawing/2014/main" id="{A85B025E-22E2-4BFC-BAE9-BD74472BC07C}"/>
              </a:ext>
            </a:extLst>
          </p:cNvPr>
          <p:cNvSpPr>
            <a:spLocks noGrp="1"/>
          </p:cNvSpPr>
          <p:nvPr/>
        </p:nvSpPr>
        <p:spPr>
          <a:xfrm>
            <a:off x="309563" y="2600325"/>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110: Police</a:t>
            </a:r>
          </a:p>
        </p:txBody>
      </p:sp>
      <p:sp>
        <p:nvSpPr>
          <p:cNvPr id="7" name="">
            <a:extLst>
              <a:ext uri="{FF2B5EF4-FFF2-40B4-BE49-F238E27FC236}">
                <a16:creationId xmlns:a16="http://schemas.microsoft.com/office/drawing/2014/main" id="{B101BCF5-BE8A-4CF7-94D2-7CA8604A9BE7}"/>
              </a:ext>
            </a:extLst>
          </p:cNvPr>
          <p:cNvSpPr>
            <a:spLocks noGrp="1"/>
          </p:cNvSpPr>
          <p:nvPr/>
        </p:nvSpPr>
        <p:spPr>
          <a:xfrm>
            <a:off x="309563" y="2886075"/>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Immediate danger or a police emergency.</a:t>
            </a:r>
          </a:p>
        </p:txBody>
      </p:sp>
      <p:sp>
        <p:nvSpPr>
          <p:cNvPr id="8" name="">
            <a:extLst>
              <a:ext uri="{FF2B5EF4-FFF2-40B4-BE49-F238E27FC236}">
                <a16:creationId xmlns:a16="http://schemas.microsoft.com/office/drawing/2014/main" id="{57FF5387-6581-4006-8538-A77FE16D42AF}"/>
              </a:ext>
            </a:extLst>
          </p:cNvPr>
          <p:cNvSpPr>
            <a:spLocks noGrp="1"/>
          </p:cNvSpPr>
          <p:nvPr/>
        </p:nvSpPr>
        <p:spPr>
          <a:xfrm>
            <a:off x="309563" y="3352800"/>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116 117: Medical on-call service</a:t>
            </a:r>
          </a:p>
        </p:txBody>
      </p:sp>
      <p:sp>
        <p:nvSpPr>
          <p:cNvPr id="9" name="">
            <a:extLst>
              <a:ext uri="{FF2B5EF4-FFF2-40B4-BE49-F238E27FC236}">
                <a16:creationId xmlns:a16="http://schemas.microsoft.com/office/drawing/2014/main" id="{FAB99E36-0A9B-4217-AE60-72C9136DB35D}"/>
              </a:ext>
            </a:extLst>
          </p:cNvPr>
          <p:cNvSpPr>
            <a:spLocks noGrp="1"/>
          </p:cNvSpPr>
          <p:nvPr/>
        </p:nvSpPr>
        <p:spPr>
          <a:xfrm>
            <a:off x="309563" y="3638550"/>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Urgent medical care when practices are closed,</a:t>
            </a:r>
          </a:p>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and the situation is not life-threatening.</a:t>
            </a:r>
          </a:p>
        </p:txBody>
      </p:sp>
      <p:sp>
        <p:nvSpPr>
          <p:cNvPr id="10" name="">
            <a:extLst>
              <a:ext uri="{FF2B5EF4-FFF2-40B4-BE49-F238E27FC236}">
                <a16:creationId xmlns:a16="http://schemas.microsoft.com/office/drawing/2014/main" id="{509F3A61-9D37-4B90-9F2F-217EF686E6C6}"/>
              </a:ext>
            </a:extLst>
          </p:cNvPr>
          <p:cNvSpPr>
            <a:spLocks noGrp="1"/>
          </p:cNvSpPr>
          <p:nvPr/>
        </p:nvSpPr>
        <p:spPr>
          <a:xfrm>
            <a:off x="309563" y="4238625"/>
            <a:ext cx="8362950" cy="190500"/>
          </a:xfrm>
          <a:prstGeom prst="rect">
            <a:avLst/>
          </a:prstGeom>
          <a:noFill/>
          <a:ln w="0">
            <a:noFill/>
          </a:ln>
        </p:spPr>
        <p:txBody>
          <a:bodyPr lIns="0" tIns="0" rIns="0" bIns="0">
            <a:noAutofit/>
          </a:bodyPr>
          <a:lstStyle/>
          <a:p>
            <a:pPr>
              <a:defRPr sz="1300" b="0">
                <a:solidFill>
                  <a:srgbClr val="0271BB"/>
                </a:solidFill>
                <a:latin typeface="TheSans UHH"/>
                <a:ea typeface="TheSans UHH"/>
                <a:cs typeface="TheSans UHH"/>
              </a:defRPr>
            </a:pPr>
            <a:r>
              <a:rPr sz="1300" b="0" u="sng">
                <a:solidFill>
                  <a:srgbClr val="0271BB"/>
                </a:solidFill>
                <a:latin typeface="TheSans UHH"/>
                <a:ea typeface="TheSans UHH"/>
                <a:cs typeface="TheSans UHH"/>
                <a:hlinkClick r:id="Rcf628b9d306b480e"/>
              </a:rPr>
              <a:t>116117: English information and doctor search</a:t>
            </a:r>
          </a:p>
        </p:txBody>
      </p:sp>
      <p:sp>
        <p:nvSpPr>
          <p:cNvPr id="11" name="">
            <a:extLst>
              <a:ext uri="{FF2B5EF4-FFF2-40B4-BE49-F238E27FC236}">
                <a16:creationId xmlns:a16="http://schemas.microsoft.com/office/drawing/2014/main" id="{5F24F5C7-E13E-4992-A032-584EDC2BF491}"/>
              </a:ext>
            </a:extLst>
          </p:cNvPr>
          <p:cNvSpPr>
            <a:spLocks noGrp="1"/>
          </p:cNvSpPr>
          <p:nvPr/>
        </p:nvSpPr>
        <p:spPr>
          <a:xfrm>
            <a:off x="309563" y="4524375"/>
            <a:ext cx="8362950" cy="209550"/>
          </a:xfrm>
          <a:prstGeom prst="rect">
            <a:avLst/>
          </a:prstGeom>
          <a:noFill/>
          <a:ln w="0">
            <a:noFill/>
          </a:ln>
        </p:spPr>
        <p:txBody>
          <a:bodyPr lIns="0" tIns="0" rIns="0" bIns="0">
            <a:noAutofit/>
          </a:bodyPr>
          <a:lstStyle/>
          <a:p>
            <a:pPr>
              <a:defRPr sz="1300" b="0">
                <a:solidFill>
                  <a:srgbClr val="3B515B"/>
                </a:solidFill>
                <a:latin typeface="TheSans UHH"/>
                <a:ea typeface="TheSans UHH"/>
                <a:cs typeface="TheSans UHH"/>
              </a:defRPr>
            </a:pPr>
            <a:r>
              <a:rPr sz="1300" b="0">
                <a:solidFill>
                  <a:srgbClr val="3B515B"/>
                </a:solidFill>
                <a:latin typeface="TheSans UHH"/>
                <a:ea typeface="TheSans UHH"/>
                <a:cs typeface="TheSans UHH"/>
              </a:rPr>
              <a:t>When calling: give your location, answer questions and wait for instructions.</a:t>
            </a:r>
          </a:p>
        </p:txBody>
      </p:sp>
      <p:sp>
        <p:nvSpPr>
          <p:cNvPr id="12" name="Titel"/>
          <p:cNvSpPr txBox="1"/>
          <p:nvPr>
            <p:ph type="title"/>
          </p:nvPr>
        </p:nvSpPr>
        <p:spPr>
          <a:xfrm>
            <a:off x="214768" y="1203598"/>
            <a:ext cx="8533695" cy="503883"/>
          </a:xfrm>
          <a:prstGeom prst="rect">
            <a:avLst/>
          </a:prstGeom>
        </p:spPr>
        <p:txBody>
          <a:bodyPr/>
          <a:lstStyle/>
          <a:p>
            <a:pPr/>
            <a:r>
              <a:t>Emergency and urgent help in Germany</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 name="Fußzeile"/>
          <p:cNvSpPr txBox="1"/>
          <p:nvPr/>
        </p:nvSpPr>
        <p:spPr>
          <a:xfrm>
            <a:off x="2813699" y="4769564"/>
            <a:ext cx="351660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TheSans UHH"/>
                <a:ea typeface="TheSans UHH"/>
                <a:cs typeface="TheSans UHH"/>
                <a:sym typeface="TheSans UHH"/>
              </a:defRPr>
            </a:lvl1pPr>
          </a:lstStyle>
          <a:p>
            <a:pPr/>
            <a:r>
              <a:t>IAS &amp; DSAI · Awareness and support</a:t>
            </a:r>
          </a:p>
        </p:txBody>
      </p:sp>
      <p:sp>
        <p:nvSpPr>
          <p:cNvPr id="3" name="Foliennummer"/>
          <p:cNvSpPr txBox="1"/>
          <p:nvPr>
            <p:ph type="sldNum" sz="quarter" idx="2"/>
          </p:nvPr>
        </p:nvSpPr>
        <p:spPr>
          <a:xfrm>
            <a:off x="8575821" y="4814422"/>
            <a:ext cx="170980" cy="17780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 name="">
            <a:extLst>
              <a:ext uri="{FF2B5EF4-FFF2-40B4-BE49-F238E27FC236}">
                <a16:creationId xmlns:a16="http://schemas.microsoft.com/office/drawing/2014/main" id="{075DE694-1D8C-4992-8876-84B8B59CF410}"/>
              </a:ext>
            </a:extLst>
          </p:cNvPr>
          <p:cNvSpPr>
            <a:spLocks noGrp="1"/>
          </p:cNvSpPr>
          <p:nvPr/>
        </p:nvSpPr>
        <p:spPr>
          <a:xfrm>
            <a:off x="309563" y="1847850"/>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DSAI programme team</a:t>
            </a:r>
          </a:p>
        </p:txBody>
      </p:sp>
      <p:sp>
        <p:nvSpPr>
          <p:cNvPr id="5" name="">
            <a:extLst>
              <a:ext uri="{FF2B5EF4-FFF2-40B4-BE49-F238E27FC236}">
                <a16:creationId xmlns:a16="http://schemas.microsoft.com/office/drawing/2014/main" id="{F73B74B4-31A2-43D0-BBE0-211913E2D111}"/>
              </a:ext>
            </a:extLst>
          </p:cNvPr>
          <p:cNvSpPr>
            <a:spLocks noGrp="1"/>
          </p:cNvSpPr>
          <p:nvPr/>
        </p:nvSpPr>
        <p:spPr>
          <a:xfrm>
            <a:off x="309563" y="2133600"/>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dsai-info.inf@uni-hamburg.de</a:t>
            </a:r>
          </a:p>
        </p:txBody>
      </p:sp>
      <p:sp>
        <p:nvSpPr>
          <p:cNvPr id="6" name="">
            <a:extLst>
              <a:ext uri="{FF2B5EF4-FFF2-40B4-BE49-F238E27FC236}">
                <a16:creationId xmlns:a16="http://schemas.microsoft.com/office/drawing/2014/main" id="{CB092798-4024-4493-9F9D-49C047449A29}"/>
              </a:ext>
            </a:extLst>
          </p:cNvPr>
          <p:cNvSpPr>
            <a:spLocks noGrp="1"/>
          </p:cNvSpPr>
          <p:nvPr/>
        </p:nvSpPr>
        <p:spPr>
          <a:xfrm>
            <a:off x="309563" y="2600325"/>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Curriculum and first-semester schedule</a:t>
            </a:r>
          </a:p>
        </p:txBody>
      </p:sp>
      <p:sp>
        <p:nvSpPr>
          <p:cNvPr id="7" name="">
            <a:extLst>
              <a:ext uri="{FF2B5EF4-FFF2-40B4-BE49-F238E27FC236}">
                <a16:creationId xmlns:a16="http://schemas.microsoft.com/office/drawing/2014/main" id="{61B7D148-73B4-4801-874C-A5C19E0664B4}"/>
              </a:ext>
            </a:extLst>
          </p:cNvPr>
          <p:cNvSpPr>
            <a:spLocks noGrp="1"/>
          </p:cNvSpPr>
          <p:nvPr/>
        </p:nvSpPr>
        <p:spPr>
          <a:xfrm>
            <a:off x="309563" y="2886075"/>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Official module overview and current course timetable.</a:t>
            </a:r>
          </a:p>
        </p:txBody>
      </p:sp>
      <p:sp>
        <p:nvSpPr>
          <p:cNvPr id="8" name="">
            <a:extLst>
              <a:ext uri="{FF2B5EF4-FFF2-40B4-BE49-F238E27FC236}">
                <a16:creationId xmlns:a16="http://schemas.microsoft.com/office/drawing/2014/main" id="{74166F98-08F1-4E7F-931C-97D37594B90A}"/>
              </a:ext>
            </a:extLst>
          </p:cNvPr>
          <p:cNvSpPr>
            <a:spLocks noGrp="1"/>
          </p:cNvSpPr>
          <p:nvPr/>
        </p:nvSpPr>
        <p:spPr>
          <a:xfrm>
            <a:off x="309563" y="3352800"/>
            <a:ext cx="8362950" cy="285750"/>
          </a:xfrm>
          <a:prstGeom prst="rect">
            <a:avLst/>
          </a:prstGeom>
          <a:noFill/>
          <a:ln w="0">
            <a:noFill/>
          </a:ln>
        </p:spPr>
        <p:txBody>
          <a:bodyPr lIns="0" tIns="0" rIns="0" bIns="0">
            <a:noAutofit/>
          </a:bodyPr>
          <a:lstStyle/>
          <a:p>
            <a:pPr>
              <a:defRPr sz="2000" b="1">
                <a:solidFill>
                  <a:srgbClr val="3B515B"/>
                </a:solidFill>
                <a:latin typeface="TheSans UHH"/>
                <a:ea typeface="TheSans UHH"/>
                <a:cs typeface="TheSans UHH"/>
              </a:defRPr>
            </a:pPr>
            <a:r>
              <a:rPr sz="2000" b="1">
                <a:solidFill>
                  <a:srgbClr val="3B515B"/>
                </a:solidFill>
                <a:latin typeface="TheSans UHH"/>
                <a:ea typeface="TheSans UHH"/>
                <a:cs typeface="TheSans UHH"/>
              </a:rPr>
              <a:t>Academic Office (Studienbüro)</a:t>
            </a:r>
          </a:p>
        </p:txBody>
      </p:sp>
      <p:sp>
        <p:nvSpPr>
          <p:cNvPr id="9" name="">
            <a:extLst>
              <a:ext uri="{FF2B5EF4-FFF2-40B4-BE49-F238E27FC236}">
                <a16:creationId xmlns:a16="http://schemas.microsoft.com/office/drawing/2014/main" id="{C3018C74-4166-4F83-AEA3-4691753A6652}"/>
              </a:ext>
            </a:extLst>
          </p:cNvPr>
          <p:cNvSpPr>
            <a:spLocks noGrp="1"/>
          </p:cNvSpPr>
          <p:nvPr/>
        </p:nvSpPr>
        <p:spPr>
          <a:xfrm>
            <a:off x="309563" y="3638550"/>
            <a:ext cx="8362950" cy="523875"/>
          </a:xfrm>
          <a:prstGeom prst="rect">
            <a:avLst/>
          </a:prstGeom>
          <a:noFill/>
          <a:ln w="0">
            <a:noFill/>
          </a:ln>
        </p:spPr>
        <p:txBody>
          <a:bodyPr lIns="0" tIns="0" rIns="0" bIns="0">
            <a:noAutofit/>
          </a:bodyPr>
          <a:lstStyle/>
          <a:p>
            <a:pPr>
              <a:defRPr sz="1800" b="0">
                <a:solidFill>
                  <a:srgbClr val="3B515B"/>
                </a:solidFill>
                <a:latin typeface="TheSans UHH"/>
                <a:ea typeface="TheSans UHH"/>
                <a:cs typeface="TheSans UHH"/>
              </a:defRPr>
            </a:pPr>
            <a:r>
              <a:rPr sz="1800" b="0">
                <a:solidFill>
                  <a:srgbClr val="3B515B"/>
                </a:solidFill>
                <a:latin typeface="TheSans UHH"/>
                <a:ea typeface="TheSans UHH"/>
                <a:cs typeface="TheSans UHH"/>
              </a:rPr>
              <a:t>Course and exam administration for IAS and DSAI.</a:t>
            </a:r>
          </a:p>
        </p:txBody>
      </p:sp>
      <p:sp>
        <p:nvSpPr>
          <p:cNvPr id="10" name="">
            <a:extLst>
              <a:ext uri="{FF2B5EF4-FFF2-40B4-BE49-F238E27FC236}">
                <a16:creationId xmlns:a16="http://schemas.microsoft.com/office/drawing/2014/main" id="{F108C0D3-64DC-4FC9-938C-CF69B6764A6D}"/>
              </a:ext>
            </a:extLst>
          </p:cNvPr>
          <p:cNvSpPr>
            <a:spLocks noGrp="1"/>
          </p:cNvSpPr>
          <p:nvPr/>
        </p:nvSpPr>
        <p:spPr>
          <a:xfrm>
            <a:off x="309563" y="4238625"/>
            <a:ext cx="8362950" cy="190500"/>
          </a:xfrm>
          <a:prstGeom prst="rect">
            <a:avLst/>
          </a:prstGeom>
          <a:noFill/>
          <a:ln w="0">
            <a:noFill/>
          </a:ln>
        </p:spPr>
        <p:txBody>
          <a:bodyPr lIns="0" tIns="0" rIns="0" bIns="0">
            <a:noAutofit/>
          </a:bodyPr>
          <a:lstStyle/>
          <a:p>
            <a:pPr>
              <a:defRPr sz="1300" b="0">
                <a:solidFill>
                  <a:srgbClr val="0271BB"/>
                </a:solidFill>
                <a:latin typeface="TheSans UHH"/>
                <a:ea typeface="TheSans UHH"/>
                <a:cs typeface="TheSans UHH"/>
              </a:defRPr>
            </a:pPr>
            <a:r>
              <a:rPr sz="1300" b="0" u="sng">
                <a:solidFill>
                  <a:srgbClr val="0271BB"/>
                </a:solidFill>
                <a:latin typeface="TheSans UHH"/>
                <a:ea typeface="TheSans UHH"/>
                <a:cs typeface="TheSans UHH"/>
                <a:hlinkClick r:id="Rf77cfceffea2430b"/>
              </a:rPr>
              <a:t>DSAI programme page and contacts</a:t>
            </a:r>
          </a:p>
        </p:txBody>
      </p:sp>
      <p:sp>
        <p:nvSpPr>
          <p:cNvPr id="11" name="">
            <a:extLst>
              <a:ext uri="{FF2B5EF4-FFF2-40B4-BE49-F238E27FC236}">
                <a16:creationId xmlns:a16="http://schemas.microsoft.com/office/drawing/2014/main" id="{6572FCF3-C347-4CB5-8A6D-B9D49939BA20}"/>
              </a:ext>
            </a:extLst>
          </p:cNvPr>
          <p:cNvSpPr>
            <a:spLocks noGrp="1"/>
          </p:cNvSpPr>
          <p:nvPr/>
        </p:nvSpPr>
        <p:spPr>
          <a:xfrm>
            <a:off x="309563" y="4429125"/>
            <a:ext cx="8362950" cy="190500"/>
          </a:xfrm>
          <a:prstGeom prst="rect">
            <a:avLst/>
          </a:prstGeom>
          <a:noFill/>
          <a:ln w="0">
            <a:noFill/>
          </a:ln>
        </p:spPr>
        <p:txBody>
          <a:bodyPr lIns="0" tIns="0" rIns="0" bIns="0">
            <a:noAutofit/>
          </a:bodyPr>
          <a:lstStyle/>
          <a:p>
            <a:pPr>
              <a:defRPr sz="1300" b="0">
                <a:solidFill>
                  <a:srgbClr val="0271BB"/>
                </a:solidFill>
                <a:latin typeface="TheSans UHH"/>
                <a:ea typeface="TheSans UHH"/>
                <a:cs typeface="TheSans UHH"/>
              </a:defRPr>
            </a:pPr>
            <a:r>
              <a:rPr sz="1300" b="0" u="sng">
                <a:solidFill>
                  <a:srgbClr val="0271BB"/>
                </a:solidFill>
                <a:latin typeface="TheSans UHH"/>
                <a:ea typeface="TheSans UHH"/>
                <a:cs typeface="TheSans UHH"/>
                <a:hlinkClick r:id="R242585f2d3f74e59"/>
              </a:rPr>
              <a:t>DSAI curriculum and module overview</a:t>
            </a:r>
          </a:p>
        </p:txBody>
      </p:sp>
      <p:sp>
        <p:nvSpPr>
          <p:cNvPr id="12" name="">
            <a:extLst>
              <a:ext uri="{FF2B5EF4-FFF2-40B4-BE49-F238E27FC236}">
                <a16:creationId xmlns:a16="http://schemas.microsoft.com/office/drawing/2014/main" id="{1AECC6B9-79CF-4C17-BAA2-98B19BAFE57B}"/>
              </a:ext>
            </a:extLst>
          </p:cNvPr>
          <p:cNvSpPr>
            <a:spLocks noGrp="1"/>
          </p:cNvSpPr>
          <p:nvPr/>
        </p:nvSpPr>
        <p:spPr>
          <a:xfrm>
            <a:off x="309563" y="4619625"/>
            <a:ext cx="8362950" cy="190500"/>
          </a:xfrm>
          <a:prstGeom prst="rect">
            <a:avLst/>
          </a:prstGeom>
          <a:noFill/>
          <a:ln w="0">
            <a:noFill/>
          </a:ln>
        </p:spPr>
        <p:txBody>
          <a:bodyPr lIns="0" tIns="0" rIns="0" bIns="0">
            <a:noAutofit/>
          </a:bodyPr>
          <a:lstStyle/>
          <a:p>
            <a:pPr>
              <a:defRPr sz="1300" b="0">
                <a:solidFill>
                  <a:srgbClr val="0271BB"/>
                </a:solidFill>
                <a:latin typeface="TheSans UHH"/>
                <a:ea typeface="TheSans UHH"/>
                <a:cs typeface="TheSans UHH"/>
              </a:defRPr>
            </a:pPr>
            <a:r>
              <a:rPr sz="1300" b="0" u="sng">
                <a:solidFill>
                  <a:srgbClr val="0271BB"/>
                </a:solidFill>
                <a:latin typeface="TheSans UHH"/>
                <a:ea typeface="TheSans UHH"/>
                <a:cs typeface="TheSans UHH"/>
                <a:hlinkClick r:id="Re52a91fcbb964700"/>
              </a:rPr>
              <a:t>First-semester schedule (winter 2026/27)</a:t>
            </a:r>
          </a:p>
        </p:txBody>
      </p:sp>
      <p:sp>
        <p:nvSpPr>
          <p:cNvPr id="13" name="Titel"/>
          <p:cNvSpPr txBox="1"/>
          <p:nvPr>
            <p:ph type="title"/>
          </p:nvPr>
        </p:nvSpPr>
        <p:spPr>
          <a:xfrm>
            <a:off x="214768" y="1203598"/>
            <a:ext cx="8533695" cy="503883"/>
          </a:xfrm>
          <a:prstGeom prst="rect">
            <a:avLst/>
          </a:prstGeom>
        </p:spPr>
        <p:txBody>
          <a:bodyPr/>
          <a:lstStyle/>
          <a:p>
            <a:pPr/>
            <a:r>
              <a:t>DSAI: programme advice and resources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Folienmaster">
  <a:themeElements>
    <a:clrScheme name="Folienmaster">
      <a:dk1>
        <a:srgbClr val="3B515B"/>
      </a:dk1>
      <a:lt1>
        <a:srgbClr val="FFFFFF"/>
      </a:lt1>
      <a:dk2>
        <a:srgbClr val="A7A7A7"/>
      </a:dk2>
      <a:lt2>
        <a:srgbClr val="535353"/>
      </a:lt2>
      <a:accent1>
        <a:srgbClr val="E2001A"/>
      </a:accent1>
      <a:accent2>
        <a:srgbClr val="0271BB"/>
      </a:accent2>
      <a:accent3>
        <a:srgbClr val="3B515B"/>
      </a:accent3>
      <a:accent4>
        <a:srgbClr val="F07F8C"/>
      </a:accent4>
      <a:accent5>
        <a:srgbClr val="80B8DD"/>
      </a:accent5>
      <a:accent6>
        <a:srgbClr val="9DA8AD"/>
      </a:accent6>
      <a:hlink>
        <a:srgbClr val="0000FF"/>
      </a:hlink>
      <a:folHlink>
        <a:srgbClr val="FF00FF"/>
      </a:folHlink>
    </a:clrScheme>
    <a:fontScheme name="Folienmaster">
      <a:majorFont>
        <a:latin typeface="Helvetica Neue"/>
        <a:ea typeface="Helvetica Neue"/>
        <a:cs typeface="Helvetica Neue"/>
      </a:majorFont>
      <a:minorFont>
        <a:latin typeface="Helvetica"/>
        <a:ea typeface="Helvetica"/>
        <a:cs typeface="Helvetica"/>
      </a:minorFont>
    </a:fontScheme>
    <a:fmtScheme name="Folien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olienmaster">
  <a:themeElements>
    <a:clrScheme name="Folienmaster">
      <a:dk1>
        <a:srgbClr val="000000"/>
      </a:dk1>
      <a:lt1>
        <a:srgbClr val="FFFFFF"/>
      </a:lt1>
      <a:dk2>
        <a:srgbClr val="A7A7A7"/>
      </a:dk2>
      <a:lt2>
        <a:srgbClr val="535353"/>
      </a:lt2>
      <a:accent1>
        <a:srgbClr val="E2001A"/>
      </a:accent1>
      <a:accent2>
        <a:srgbClr val="0271BB"/>
      </a:accent2>
      <a:accent3>
        <a:srgbClr val="3B515B"/>
      </a:accent3>
      <a:accent4>
        <a:srgbClr val="F07F8C"/>
      </a:accent4>
      <a:accent5>
        <a:srgbClr val="80B8DD"/>
      </a:accent5>
      <a:accent6>
        <a:srgbClr val="9DA8AD"/>
      </a:accent6>
      <a:hlink>
        <a:srgbClr val="0000FF"/>
      </a:hlink>
      <a:folHlink>
        <a:srgbClr val="FF00FF"/>
      </a:folHlink>
    </a:clrScheme>
    <a:fontScheme name="Folienmaster">
      <a:majorFont>
        <a:latin typeface="Helvetica Neue"/>
        <a:ea typeface="Helvetica Neue"/>
        <a:cs typeface="Helvetica Neue"/>
      </a:majorFont>
      <a:minorFont>
        <a:latin typeface="Helvetica"/>
        <a:ea typeface="Helvetica"/>
        <a:cs typeface="Helvetica"/>
      </a:minorFont>
    </a:fontScheme>
    <a:fmtScheme name="Folienmas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3"/>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